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modernComment_38D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4" r:id="rId2"/>
    <p:sldMasterId id="2147483699" r:id="rId3"/>
    <p:sldMasterId id="2147483713" r:id="rId4"/>
  </p:sldMasterIdLst>
  <p:notesMasterIdLst>
    <p:notesMasterId r:id="rId19"/>
  </p:notesMasterIdLst>
  <p:sldIdLst>
    <p:sldId id="900" r:id="rId5"/>
    <p:sldId id="901" r:id="rId6"/>
    <p:sldId id="902" r:id="rId7"/>
    <p:sldId id="903" r:id="rId8"/>
    <p:sldId id="904" r:id="rId9"/>
    <p:sldId id="905" r:id="rId10"/>
    <p:sldId id="906" r:id="rId11"/>
    <p:sldId id="907" r:id="rId12"/>
    <p:sldId id="908" r:id="rId13"/>
    <p:sldId id="909" r:id="rId14"/>
    <p:sldId id="910" r:id="rId15"/>
    <p:sldId id="911" r:id="rId16"/>
    <p:sldId id="912" r:id="rId17"/>
    <p:sldId id="91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2265A76-A954-86E4-C7D4-FE29C35C25EE}" name="Guest User" initials="GU" userId="S::urn:spo:tenantanon#9ebcd82b-3a71-49bf-891e-86d819a0911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1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53" dt="2026-08-30T18:12:56.697"/>
    <p1510:client id="{4BB2470F-4FD0-93DC-D81A-FFC00CFF4593}" v="130" dt="2026-08-30T16:42:26.259"/>
    <p1510:client id="{934C8D27-9750-CE9A-5063-B36A8708F8DA}" v="180" dt="2026-08-30T18:02:46.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omments/modernComment_38D_0.xml><?xml version="1.0" encoding="utf-8"?>
<p188:cmLst xmlns:a="http://schemas.openxmlformats.org/drawingml/2006/main" xmlns:r="http://schemas.openxmlformats.org/officeDocument/2006/relationships" xmlns:p188="http://schemas.microsoft.com/office/powerpoint/2018/8/main">
  <p188:cm id="{975882FA-27DF-46EB-8F54-7262912CCE42}" authorId="{22265A76-A954-86E4-C7D4-FE29C35C25EE}" created="2026-08-30T18:01:09.027">
    <ac:txMkLst xmlns:ac="http://schemas.microsoft.com/office/drawing/2013/main/command">
      <pc:docMk xmlns:pc="http://schemas.microsoft.com/office/powerpoint/2013/main/command"/>
      <pc:sldMk xmlns:pc="http://schemas.microsoft.com/office/powerpoint/2013/main/command" cId="0" sldId="909"/>
      <ac:spMk id="113" creationId="{00000000-0000-0000-0000-000000000000}"/>
      <ac:txMk cp="14" len="38">
        <ac:context len="316" hash="312984894"/>
      </ac:txMk>
    </ac:txMkLst>
    <p188:pos x="5795210" y="270710"/>
    <p188:txBody>
      <a:bodyPr/>
      <a:lstStyle/>
      <a:p>
        <a:r>
          <a:rPr lang="en-US"/>
          <a:t>ye kya chheej hai change the number you disagree with?</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F681651-9904-804F-8355-78350773C1A7}"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endParaRPr>
          </a:p>
        </p:txBody>
      </p:sp>
    </p:spTree>
    <p:extLst>
      <p:ext uri="{BB962C8B-B14F-4D97-AF65-F5344CB8AC3E}">
        <p14:creationId xmlns:p14="http://schemas.microsoft.com/office/powerpoint/2010/main" val="9112634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a:solidFill>
                  <a:schemeClr val="bg1">
                    <a:lumMod val="85000"/>
                    <a:alpha val="75000"/>
                  </a:schemeClr>
                </a:solidFill>
                <a:latin typeface="Graphik" panose="020B0503030202060203" pitchFamily="34" charset="77"/>
              </a:rPr>
              <a:t>Copyright © 2026 Accenture. All rights reserved.</a:t>
            </a:r>
            <a:endParaRPr lang="en-US" sz="108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a:solidFill>
                  <a:schemeClr val="tx1">
                    <a:lumMod val="85000"/>
                    <a:alpha val="75000"/>
                  </a:schemeClr>
                </a:solidFill>
                <a:latin typeface="Graphik" panose="020B0503030202060203" pitchFamily="34" charset="77"/>
              </a:rPr>
              <a:t>Copyright © 2026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8/30/2026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F314A7-305B-4E0B-96B7-5B0949118DB0}"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F314A7-305B-4E0B-96B7-5B0949118DB0}" type="datetimeFigureOut">
              <a:rPr lang="en-IN" smtClean="0"/>
              <a:t>30-08-2026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F314A7-305B-4E0B-96B7-5B0949118DB0}" type="datetimeFigureOut">
              <a:rPr lang="en-IN" smtClean="0"/>
              <a:t>30-08-2026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30-08-2026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Tree>
    <p:extLst>
      <p:ext uri="{BB962C8B-B14F-4D97-AF65-F5344CB8AC3E}">
        <p14:creationId xmlns:p14="http://schemas.microsoft.com/office/powerpoint/2010/main" val="36262011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690017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34886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340097476"/>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4259757296"/>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1445680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5818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3238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20805212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mj-lt"/>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04894731"/>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939088038"/>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Tree>
    <p:extLst>
      <p:ext uri="{BB962C8B-B14F-4D97-AF65-F5344CB8AC3E}">
        <p14:creationId xmlns:p14="http://schemas.microsoft.com/office/powerpoint/2010/main" val="37650105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607564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413554047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84454496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3304422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0225196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409956054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2976067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46719337"/>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4471621"/>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365271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976679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544592518"/>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04127054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3626589434"/>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604467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28959760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895925855"/>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25582854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89245088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23222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912050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2728420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8418131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21455262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25001449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Graphik" panose="020B0503030202060203" pitchFamily="34" charset="77"/>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1143801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52469513"/>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333241912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5569114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2083825050"/>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035112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4781824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45632511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51485583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23825404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751328374"/>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4208589992"/>
      </p:ext>
    </p:extLst>
  </p:cSld>
  <p:clrMapOvr>
    <a:overrideClrMapping bg1="dk1" tx1="lt1" bg2="dk2" tx2="lt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6821285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35714107"/>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21080877"/>
      </p:ext>
    </p:extLst>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9475855"/>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62832447"/>
      </p:ext>
    </p:extLst>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872060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656919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953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2.xml"/><Relationship Id="rId4"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9" Type="http://schemas.openxmlformats.org/officeDocument/2006/relationships/slideLayout" Target="../slideLayouts/slideLayout65.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42" Type="http://schemas.openxmlformats.org/officeDocument/2006/relationships/slideLayout" Target="../slideLayouts/slideLayout68.xml"/><Relationship Id="rId47" Type="http://schemas.openxmlformats.org/officeDocument/2006/relationships/slideLayout" Target="../slideLayouts/slideLayout73.xml"/><Relationship Id="rId50" Type="http://schemas.openxmlformats.org/officeDocument/2006/relationships/slideLayout" Target="../slideLayouts/slideLayout76.xml"/><Relationship Id="rId55" Type="http://schemas.openxmlformats.org/officeDocument/2006/relationships/slideLayout" Target="../slideLayouts/slideLayout81.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9" Type="http://schemas.openxmlformats.org/officeDocument/2006/relationships/slideLayout" Target="../slideLayouts/slideLayout55.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slideLayout" Target="../slideLayouts/slideLayout66.xml"/><Relationship Id="rId45" Type="http://schemas.openxmlformats.org/officeDocument/2006/relationships/slideLayout" Target="../slideLayouts/slideLayout71.xml"/><Relationship Id="rId53" Type="http://schemas.openxmlformats.org/officeDocument/2006/relationships/slideLayout" Target="../slideLayouts/slideLayout79.xml"/><Relationship Id="rId58" Type="http://schemas.openxmlformats.org/officeDocument/2006/relationships/theme" Target="../theme/theme4.xml"/><Relationship Id="rId5" Type="http://schemas.openxmlformats.org/officeDocument/2006/relationships/slideLayout" Target="../slideLayouts/slideLayout31.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slideLayout" Target="../slideLayouts/slideLayout69.xml"/><Relationship Id="rId48" Type="http://schemas.openxmlformats.org/officeDocument/2006/relationships/slideLayout" Target="../slideLayouts/slideLayout74.xml"/><Relationship Id="rId56" Type="http://schemas.openxmlformats.org/officeDocument/2006/relationships/slideLayout" Target="../slideLayouts/slideLayout82.xml"/><Relationship Id="rId8" Type="http://schemas.openxmlformats.org/officeDocument/2006/relationships/slideLayout" Target="../slideLayouts/slideLayout34.xml"/><Relationship Id="rId51" Type="http://schemas.openxmlformats.org/officeDocument/2006/relationships/slideLayout" Target="../slideLayouts/slideLayout77.xml"/><Relationship Id="rId3" Type="http://schemas.openxmlformats.org/officeDocument/2006/relationships/slideLayout" Target="../slideLayouts/slideLayout29.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46" Type="http://schemas.openxmlformats.org/officeDocument/2006/relationships/slideLayout" Target="../slideLayouts/slideLayout72.xml"/><Relationship Id="rId20" Type="http://schemas.openxmlformats.org/officeDocument/2006/relationships/slideLayout" Target="../slideLayouts/slideLayout46.xml"/><Relationship Id="rId41" Type="http://schemas.openxmlformats.org/officeDocument/2006/relationships/slideLayout" Target="../slideLayouts/slideLayout67.xml"/><Relationship Id="rId54" Type="http://schemas.openxmlformats.org/officeDocument/2006/relationships/slideLayout" Target="../slideLayouts/slideLayout80.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49" Type="http://schemas.openxmlformats.org/officeDocument/2006/relationships/slideLayout" Target="../slideLayouts/slideLayout75.xml"/><Relationship Id="rId57" Type="http://schemas.openxmlformats.org/officeDocument/2006/relationships/slideLayout" Target="../slideLayouts/slideLayout83.xml"/><Relationship Id="rId10" Type="http://schemas.openxmlformats.org/officeDocument/2006/relationships/slideLayout" Target="../slideLayouts/slideLayout36.xml"/><Relationship Id="rId31" Type="http://schemas.openxmlformats.org/officeDocument/2006/relationships/slideLayout" Target="../slideLayouts/slideLayout57.xml"/><Relationship Id="rId44" Type="http://schemas.openxmlformats.org/officeDocument/2006/relationships/slideLayout" Target="../slideLayouts/slideLayout70.xml"/><Relationship Id="rId52"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30-08-2026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38D_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F81C1D7-25E7-2AEA-5B9C-B4934B416F14}"/>
              </a:ext>
            </a:extLst>
          </p:cNvPr>
          <p:cNvPicPr>
            <a:picLocks noChangeAspect="1"/>
          </p:cNvPicPr>
          <p:nvPr/>
        </p:nvPicPr>
        <p:blipFill>
          <a:blip r:embed="rId3"/>
          <a:srcRect b="3035"/>
          <a:stretch>
            <a:fillRect/>
          </a:stretch>
        </p:blipFill>
        <p:spPr>
          <a:xfrm>
            <a:off x="0" y="0"/>
            <a:ext cx="12191970" cy="6858000"/>
          </a:xfrm>
          <a:prstGeom prst="rect">
            <a:avLst/>
          </a:prstGeom>
        </p:spPr>
      </p:pic>
      <p:sp>
        <p:nvSpPr>
          <p:cNvPr id="901" name="scrim"/>
          <p:cNvSpPr/>
          <p:nvPr/>
        </p:nvSpPr>
        <p:spPr>
          <a:xfrm>
            <a:off x="0" y="0"/>
            <a:ext cx="12191970" cy="6858000"/>
          </a:xfrm>
          <a:prstGeom prst="rect">
            <a:avLst/>
          </a:prstGeom>
          <a:gradFill flip="none" rotWithShape="1">
            <a:gsLst>
              <a:gs pos="0">
                <a:srgbClr val="450073">
                  <a:alpha val="92000"/>
                </a:srgbClr>
              </a:gs>
              <a:gs pos="30000">
                <a:srgbClr val="450073">
                  <a:alpha val="56000"/>
                </a:srgbClr>
              </a:gs>
              <a:gs pos="72000">
                <a:srgbClr val="450073">
                  <a:alpha val="0"/>
                </a:srgbClr>
              </a:gs>
            </a:gsLst>
            <a:lin ang="0" scaled="0"/>
          </a:gradFill>
          <a:ln>
            <a:noFill/>
          </a:ln>
        </p:spPr>
        <p:txBody>
          <a:bodyPr/>
          <a:lstStyle/>
          <a:p>
            <a:endParaRPr lang="en-IN"/>
          </a:p>
        </p:txBody>
      </p:sp>
      <p:sp>
        <p:nvSpPr>
          <p:cNvPr id="17" name="TextBox 16">
            <a:extLst>
              <a:ext uri="{FF2B5EF4-FFF2-40B4-BE49-F238E27FC236}">
                <a16:creationId xmlns:a16="http://schemas.microsoft.com/office/drawing/2014/main" id="{7935BF95-9260-FF3E-8BA1-F61D8AD0F5C6}"/>
              </a:ext>
            </a:extLst>
          </p:cNvPr>
          <p:cNvSpPr txBox="1"/>
          <p:nvPr/>
        </p:nvSpPr>
        <p:spPr>
          <a:xfrm>
            <a:off x="1161288" y="3008376"/>
            <a:ext cx="7498080" cy="868680"/>
          </a:xfrm>
          <a:prstGeom prst="rect">
            <a:avLst/>
          </a:prstGeom>
          <a:noFill/>
        </p:spPr>
        <p:txBody>
          <a:bodyPr wrap="square" lIns="0" tIns="0" rIns="0" bIns="0" rtlCol="0" anchor="b">
            <a:spAutoFit/>
          </a:bodyPr>
          <a:lstStyle/>
          <a:p>
            <a:pPr marL="0" marR="0" lvl="0" indent="0" algn="l" defTabSz="914377" rtl="0" eaLnBrk="1" fontAlgn="auto" latinLnBrk="0" hangingPunct="1">
              <a:lnSpc>
                <a:spcPts val="3720"/>
              </a:lnSpc>
              <a:spcBef>
                <a:spcPts val="0"/>
              </a:spcBef>
              <a:spcAft>
                <a:spcPts val="0"/>
              </a:spcAft>
              <a:buClrTx/>
              <a:buSzTx/>
              <a:buFontTx/>
              <a:buNone/>
              <a:tabLst/>
              <a:defRPr/>
            </a:pPr>
            <a:r>
              <a:rPr kumimoji="0" lang="en-US" sz="4800" b="1" i="0" u="none" strike="noStrike" kern="1200" cap="none" spc="-150" normalizeH="0" baseline="0" noProof="0">
                <a:ln>
                  <a:noFill/>
                </a:ln>
                <a:solidFill>
                  <a:srgbClr val="FFFFFF"/>
                </a:solidFill>
                <a:effectLst/>
                <a:uLnTx/>
                <a:uFillTx/>
                <a:latin typeface="Graphik Semibold" panose="020B0503030202060203" pitchFamily="34" charset="77"/>
                <a:ea typeface="+mn-ea"/>
                <a:cs typeface="+mn-cs"/>
              </a:rPr>
              <a:t>AEGIS</a:t>
            </a:r>
          </a:p>
        </p:txBody>
      </p:sp>
      <p:sp>
        <p:nvSpPr>
          <p:cNvPr id="18" name="Rectangle 17">
            <a:extLst>
              <a:ext uri="{FF2B5EF4-FFF2-40B4-BE49-F238E27FC236}">
                <a16:creationId xmlns:a16="http://schemas.microsoft.com/office/drawing/2014/main" id="{9ED2B6F5-4632-A6A7-D235-C4D1E256BD27}"/>
              </a:ext>
            </a:extLst>
          </p:cNvPr>
          <p:cNvSpPr/>
          <p:nvPr/>
        </p:nvSpPr>
        <p:spPr>
          <a:xfrm>
            <a:off x="1161288" y="4480560"/>
            <a:ext cx="4471416" cy="384048"/>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1161288" y="4480560"/>
            <a:ext cx="4471416" cy="384048"/>
          </a:xfrm>
          <a:prstGeom prst="rect">
            <a:avLst/>
          </a:prstGeom>
          <a:noFill/>
        </p:spPr>
        <p:txBody>
          <a:bodyPr wrap="square" lIns="91440" tIns="0" rIns="91440" bIns="0" rtlCol="0" anchor="ctr">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Graphik" panose="020B0503030202060203" pitchFamily="34" charset="77"/>
                <a:ea typeface="+mn-ea"/>
                <a:cs typeface="+mn-cs"/>
              </a:rPr>
              <a:t>Accenture Innovation Challenge 2026  ·  Round 2</a:t>
            </a:r>
          </a:p>
        </p:txBody>
      </p:sp>
      <p:pic>
        <p:nvPicPr>
          <p:cNvPr id="20" name="Picture 19">
            <a:extLst>
              <a:ext uri="{FF2B5EF4-FFF2-40B4-BE49-F238E27FC236}">
                <a16:creationId xmlns:a16="http://schemas.microsoft.com/office/drawing/2014/main" id="{40F1EFF8-B673-136C-4910-73D1BC9075D6}"/>
              </a:ext>
            </a:extLst>
          </p:cNvPr>
          <p:cNvPicPr>
            <a:picLocks noChangeAspect="1"/>
          </p:cNvPicPr>
          <p:nvPr/>
        </p:nvPicPr>
        <p:blipFill>
          <a:blip r:embed="rId4"/>
          <a:stretch>
            <a:fillRect/>
          </a:stretch>
        </p:blipFill>
        <p:spPr>
          <a:xfrm>
            <a:off x="1161288" y="557784"/>
            <a:ext cx="1252728" cy="329184"/>
          </a:xfrm>
          <a:prstGeom prst="rect">
            <a:avLst/>
          </a:prstGeom>
        </p:spPr>
      </p:pic>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3E37827-E5D7-46FD-9143-ABFBF88A628E}"/>
              </a:ext>
            </a:extLst>
          </p:cNvPr>
          <p:cNvSpPr/>
          <p:nvPr/>
        </p:nvSpPr>
        <p:spPr>
          <a:xfrm>
            <a:off x="8877069" y="2045393"/>
            <a:ext cx="2011680" cy="2011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171E876B-A706-450C-8C34-951E6FA6C00F}"/>
              </a:ext>
            </a:extLst>
          </p:cNvPr>
          <p:cNvSpPr/>
          <p:nvPr/>
        </p:nvSpPr>
        <p:spPr>
          <a:xfrm>
            <a:off x="1104669" y="2045393"/>
            <a:ext cx="2011680" cy="2011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365760" y="384048"/>
            <a:ext cx="11457432" cy="475488"/>
          </a:xfrm>
          <a:prstGeom prst="rect">
            <a:avLst/>
          </a:prstGeom>
          <a:solidFill>
            <a:srgbClr val="A100FF"/>
          </a:solidFill>
          <a:ln>
            <a:noFill/>
          </a:ln>
        </p:spPr>
        <p:txBody>
          <a:bodyPr lIns="91440" tIns="45720" rIns="91440" bIns="45720" anchor="ctr"/>
          <a:lstStyle/>
          <a:p>
            <a:r>
              <a:rPr lang="en-US" sz="2000" b="1">
                <a:solidFill>
                  <a:schemeClr val="bg1"/>
                </a:solidFill>
                <a:latin typeface="Graphik"/>
                <a:cs typeface="Arial"/>
              </a:rPr>
              <a:t>Team details</a:t>
            </a:r>
            <a:endParaRPr lang="en-GB"/>
          </a:p>
        </p:txBody>
      </p:sp>
      <p:sp>
        <p:nvSpPr>
          <p:cNvPr id="10" name="Slide Number Placeholder 9">
            <a:extLst>
              <a:ext uri="{FF2B5EF4-FFF2-40B4-BE49-F238E27FC236}">
                <a16:creationId xmlns:a16="http://schemas.microsoft.com/office/drawing/2014/main" id="{4258B87F-AD17-4B30-9FAA-C5C07FCFFE87}"/>
              </a:ext>
            </a:extLst>
          </p:cNvPr>
          <p:cNvSpPr>
            <a:spLocks noGrp="1"/>
          </p:cNvSpPr>
          <p:nvPr>
            <p:ph type="sldNum" sz="quarter" idx="4294967295"/>
          </p:nvPr>
        </p:nvSpPr>
        <p:spPr>
          <a:xfrm>
            <a:off x="9079992" y="6355080"/>
            <a:ext cx="2743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50" b="0" i="0" u="none" strike="noStrike" kern="1200" cap="none" spc="0" normalizeH="0" baseline="0" noProof="0" smtClean="0">
                <a:ln>
                  <a:noFill/>
                </a:ln>
                <a:solidFill>
                  <a:srgbClr val="000000">
                    <a:alpha val="40000"/>
                  </a:srgbClr>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50" b="0" i="0" u="none" strike="noStrike" kern="1200" cap="none" spc="0" normalizeH="0" baseline="0" noProof="0">
              <a:ln>
                <a:noFill/>
              </a:ln>
              <a:solidFill>
                <a:srgbClr val="000000">
                  <a:alpha val="40000"/>
                </a:srgbClr>
              </a:solidFill>
              <a:effectLst/>
              <a:uLnTx/>
              <a:uFillTx/>
              <a:latin typeface="Graphik"/>
              <a:ea typeface="+mn-ea"/>
              <a:cs typeface="+mn-cs"/>
            </a:endParaRPr>
          </a:p>
        </p:txBody>
      </p:sp>
      <p:cxnSp>
        <p:nvCxnSpPr>
          <p:cNvPr id="6" name="Straight Connector 5">
            <a:extLst>
              <a:ext uri="{FF2B5EF4-FFF2-40B4-BE49-F238E27FC236}">
                <a16:creationId xmlns:a16="http://schemas.microsoft.com/office/drawing/2014/main" id="{503A2336-9DAB-4FE3-86E5-A5694B473965}"/>
              </a:ext>
            </a:extLst>
          </p:cNvPr>
          <p:cNvCxnSpPr>
            <a:cxnSpLocks/>
          </p:cNvCxnSpPr>
          <p:nvPr/>
        </p:nvCxnSpPr>
        <p:spPr>
          <a:xfrm>
            <a:off x="365760" y="1627632"/>
            <a:ext cx="11457432"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D2BAEA9-C010-474F-8C80-BD3D504C25C1}"/>
              </a:ext>
            </a:extLst>
          </p:cNvPr>
          <p:cNvCxnSpPr/>
          <p:nvPr/>
        </p:nvCxnSpPr>
        <p:spPr>
          <a:xfrm>
            <a:off x="1104669" y="4916609"/>
            <a:ext cx="1719072"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1" name="Text Placeholder 27">
            <a:extLst>
              <a:ext uri="{FF2B5EF4-FFF2-40B4-BE49-F238E27FC236}">
                <a16:creationId xmlns:a16="http://schemas.microsoft.com/office/drawing/2014/main" id="{83134DD2-B1F2-44EA-BCAB-CB7F6D0B5057}"/>
              </a:ext>
            </a:extLst>
          </p:cNvPr>
          <p:cNvSpPr txBox="1">
            <a:spLocks/>
          </p:cNvSpPr>
          <p:nvPr/>
        </p:nvSpPr>
        <p:spPr>
          <a:xfrm>
            <a:off x="4990869" y="3879712"/>
            <a:ext cx="3685032" cy="731520"/>
          </a:xfrm>
          <a:prstGeom prst="rect">
            <a:avLst/>
          </a:prstGeom>
        </p:spPr>
        <p:txBody>
          <a:bodyPr vert="horz" lIns="0" tIns="0" rIns="0" bIns="0" rtlCol="0" anchor="b">
            <a:no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algn="l">
              <a:defRPr/>
            </a:pPr>
            <a:r>
              <a:rPr lang="en-GB" sz="2400" b="1">
                <a:solidFill>
                  <a:srgbClr val="A100FF"/>
                </a:solidFill>
                <a:latin typeface="Arial"/>
                <a:cs typeface="Arial"/>
              </a:rPr>
              <a:t>Aditya Deshmukh</a:t>
            </a:r>
            <a:endParaRPr lang="en-GB" sz="2500" b="1" i="0" u="none" strike="noStrike" kern="1200" cap="none" spc="0" normalizeH="0" baseline="0" noProof="0">
              <a:ln>
                <a:noFill/>
              </a:ln>
              <a:solidFill>
                <a:srgbClr val="A100FF"/>
              </a:solidFill>
              <a:effectLst/>
              <a:uLnTx/>
              <a:uFillTx/>
              <a:latin typeface="Arial"/>
              <a:cs typeface="Arial"/>
            </a:endParaRPr>
          </a:p>
        </p:txBody>
      </p:sp>
      <p:cxnSp>
        <p:nvCxnSpPr>
          <p:cNvPr id="64" name="Straight Connector 63">
            <a:extLst>
              <a:ext uri="{FF2B5EF4-FFF2-40B4-BE49-F238E27FC236}">
                <a16:creationId xmlns:a16="http://schemas.microsoft.com/office/drawing/2014/main" id="{857CC230-E21C-4184-9D11-81950CC08A89}"/>
              </a:ext>
            </a:extLst>
          </p:cNvPr>
          <p:cNvCxnSpPr/>
          <p:nvPr/>
        </p:nvCxnSpPr>
        <p:spPr>
          <a:xfrm>
            <a:off x="4991615" y="4711409"/>
            <a:ext cx="2514202"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7" name="Text Placeholder 27">
            <a:extLst>
              <a:ext uri="{FF2B5EF4-FFF2-40B4-BE49-F238E27FC236}">
                <a16:creationId xmlns:a16="http://schemas.microsoft.com/office/drawing/2014/main" id="{AB89B70E-DDF2-41D3-9411-6AA78204B1DA}"/>
              </a:ext>
            </a:extLst>
          </p:cNvPr>
          <p:cNvSpPr txBox="1">
            <a:spLocks/>
          </p:cNvSpPr>
          <p:nvPr/>
        </p:nvSpPr>
        <p:spPr>
          <a:xfrm>
            <a:off x="8877069" y="3879712"/>
            <a:ext cx="3685032" cy="731520"/>
          </a:xfrm>
          <a:prstGeom prst="rect">
            <a:avLst/>
          </a:prstGeom>
        </p:spPr>
        <p:txBody>
          <a:bodyPr vert="horz" lIns="0" tIns="0" rIns="0" bIns="0" rtlCol="0" anchor="b">
            <a:norm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algn="l">
              <a:defRPr/>
            </a:pPr>
            <a:r>
              <a:rPr lang="en-GB" sz="2400" b="1">
                <a:solidFill>
                  <a:srgbClr val="A100FF"/>
                </a:solidFill>
                <a:latin typeface="Arial"/>
                <a:cs typeface="Arial"/>
              </a:rPr>
              <a:t>Ankit Kumar</a:t>
            </a:r>
            <a:endParaRPr lang="en-GB" sz="2800" b="1" i="0" u="none" strike="noStrike" kern="1200" cap="none" spc="0" normalizeH="0" baseline="0" noProof="0">
              <a:ln>
                <a:noFill/>
              </a:ln>
              <a:solidFill>
                <a:srgbClr val="A100FF"/>
              </a:solidFill>
              <a:effectLst/>
              <a:uLnTx/>
              <a:uFillTx/>
              <a:latin typeface="Arial"/>
              <a:cs typeface="Arial"/>
            </a:endParaRPr>
          </a:p>
        </p:txBody>
      </p:sp>
      <p:cxnSp>
        <p:nvCxnSpPr>
          <p:cNvPr id="29" name="Straight Connector 28">
            <a:extLst>
              <a:ext uri="{FF2B5EF4-FFF2-40B4-BE49-F238E27FC236}">
                <a16:creationId xmlns:a16="http://schemas.microsoft.com/office/drawing/2014/main" id="{B388F804-0525-4F8E-A5CE-A9E521C1E260}"/>
              </a:ext>
            </a:extLst>
          </p:cNvPr>
          <p:cNvCxnSpPr/>
          <p:nvPr/>
        </p:nvCxnSpPr>
        <p:spPr>
          <a:xfrm>
            <a:off x="8877069" y="4700366"/>
            <a:ext cx="1719072"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1" name="Table 2">
            <a:extLst>
              <a:ext uri="{FF2B5EF4-FFF2-40B4-BE49-F238E27FC236}">
                <a16:creationId xmlns:a16="http://schemas.microsoft.com/office/drawing/2014/main" id="{A29DB088-2EF4-4C53-A6E2-75C9C7F34CAC}"/>
              </a:ext>
            </a:extLst>
          </p:cNvPr>
          <p:cNvGraphicFramePr>
            <a:graphicFrameLocks noGrp="1"/>
          </p:cNvGraphicFramePr>
          <p:nvPr>
            <p:extLst>
              <p:ext uri="{D42A27DB-BD31-4B8C-83A1-F6EECF244321}">
                <p14:modId xmlns:p14="http://schemas.microsoft.com/office/powerpoint/2010/main" val="3210610557"/>
              </p:ext>
            </p:extLst>
          </p:nvPr>
        </p:nvGraphicFramePr>
        <p:xfrm>
          <a:off x="365760" y="941832"/>
          <a:ext cx="11457432" cy="457200"/>
        </p:xfrm>
        <a:graphic>
          <a:graphicData uri="http://schemas.openxmlformats.org/drawingml/2006/table">
            <a:tbl>
              <a:tblPr firstRow="1" bandRow="1">
                <a:tableStyleId>{D7AC3CCA-C797-4891-BE02-D94E43425B78}</a:tableStyleId>
              </a:tblPr>
              <a:tblGrid>
                <a:gridCol w="4315968">
                  <a:extLst>
                    <a:ext uri="{9D8B030D-6E8A-4147-A177-3AD203B41FA5}">
                      <a16:colId xmlns:a16="http://schemas.microsoft.com/office/drawing/2014/main" val="129918070"/>
                    </a:ext>
                  </a:extLst>
                </a:gridCol>
                <a:gridCol w="7141464">
                  <a:extLst>
                    <a:ext uri="{9D8B030D-6E8A-4147-A177-3AD203B41FA5}">
                      <a16:colId xmlns:a16="http://schemas.microsoft.com/office/drawing/2014/main" val="1188269312"/>
                    </a:ext>
                  </a:extLst>
                </a:gridCol>
              </a:tblGrid>
              <a:tr h="445762">
                <a:tc>
                  <a:txBody>
                    <a:bodyPr/>
                    <a:lstStyle/>
                    <a:p>
                      <a:r>
                        <a:rPr lang="en-US" sz="2400">
                          <a:solidFill>
                            <a:schemeClr val="accent2">
                              <a:lumMod val="60000"/>
                              <a:lumOff val="40000"/>
                            </a:schemeClr>
                          </a:solidFill>
                        </a:rPr>
                        <a:t>TEAM NAME</a:t>
                      </a:r>
                      <a:r>
                        <a:rPr lang="en-US" sz="2400">
                          <a:solidFill>
                            <a:srgbClr val="A100FF"/>
                          </a:solidFill>
                        </a:rPr>
                        <a:t>:  </a:t>
                      </a:r>
                      <a:r>
                        <a:rPr lang="en-US" sz="2400">
                          <a:solidFill>
                            <a:schemeClr val="accent3">
                              <a:lumMod val="40000"/>
                              <a:lumOff val="60000"/>
                            </a:schemeClr>
                          </a:solidFill>
                        </a:rPr>
                        <a:t>Team D Top</a:t>
                      </a:r>
                    </a:p>
                  </a:txBody>
                  <a:tcPr>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a:solidFill>
                          <a:srgbClr val="A100FF"/>
                        </a:solidFill>
                      </a:endParaRPr>
                    </a:p>
                  </a:txBody>
                  <a:tcPr>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34512452"/>
                  </a:ext>
                </a:extLst>
              </a:tr>
            </a:tbl>
          </a:graphicData>
        </a:graphic>
      </p:graphicFrame>
      <p:sp>
        <p:nvSpPr>
          <p:cNvPr id="26" name="TextBox 25">
            <a:extLst>
              <a:ext uri="{FF2B5EF4-FFF2-40B4-BE49-F238E27FC236}">
                <a16:creationId xmlns:a16="http://schemas.microsoft.com/office/drawing/2014/main" id="{F2218D32-4F17-4A5E-9BE4-29837BF54E70}"/>
              </a:ext>
            </a:extLst>
          </p:cNvPr>
          <p:cNvSpPr txBox="1"/>
          <p:nvPr/>
        </p:nvSpPr>
        <p:spPr>
          <a:xfrm>
            <a:off x="1104669" y="4971120"/>
            <a:ext cx="3685032" cy="868680"/>
          </a:xfrm>
          <a:prstGeom prst="rect">
            <a:avLst/>
          </a:prstGeom>
          <a:noFill/>
        </p:spPr>
        <p:txBody>
          <a:bodyPr wrap="square" lIns="0" tIns="0" rIns="0" bIns="0" anchor="t">
            <a:spAutoFit/>
          </a:bodyPr>
          <a:lstStyle/>
          <a:p>
            <a:pPr>
              <a:defRPr/>
            </a:pPr>
            <a:r>
              <a:rPr kumimoji="0" lang="en-US" sz="1200" b="1" i="0" u="none" strike="noStrike" kern="1200" cap="none" spc="0" normalizeH="0" baseline="0" noProof="0">
                <a:ln>
                  <a:noFill/>
                </a:ln>
                <a:solidFill>
                  <a:srgbClr val="000000"/>
                </a:solidFill>
                <a:effectLst/>
                <a:uLnTx/>
                <a:uFillTx/>
                <a:latin typeface="Arial"/>
                <a:cs typeface="Arial"/>
              </a:rPr>
              <a:t>College:</a:t>
            </a:r>
            <a:r>
              <a:rPr lang="en-US" sz="1200">
                <a:solidFill>
                  <a:srgbClr val="000000"/>
                </a:solidFill>
                <a:latin typeface="Arial"/>
                <a:cs typeface="Arial"/>
              </a:rPr>
              <a:t> IIT Kanpur</a:t>
            </a:r>
            <a:endParaRPr lang="en-US" sz="1200" i="0" u="none" strike="noStrike" kern="1200" cap="none" spc="0" normalizeH="0" baseline="0" noProof="0">
              <a:ln>
                <a:noFill/>
              </a:ln>
              <a:solidFill>
                <a:srgbClr val="000000"/>
              </a:solidFill>
              <a:effectLst/>
              <a:uLnTx/>
              <a:uFillTx/>
              <a:latin typeface="Arial"/>
              <a:cs typeface="Arial"/>
            </a:endParaRPr>
          </a:p>
          <a:p>
            <a:pPr>
              <a:defRPr/>
            </a:pPr>
            <a:r>
              <a:rPr kumimoji="0" lang="en-US" sz="1200" b="1" i="0" u="none" strike="noStrike" kern="1200" cap="none" spc="0" normalizeH="0" baseline="0" noProof="0">
                <a:ln>
                  <a:noFill/>
                </a:ln>
                <a:solidFill>
                  <a:srgbClr val="000000"/>
                </a:solidFill>
                <a:effectLst/>
                <a:uLnTx/>
                <a:uFillTx/>
                <a:latin typeface="Arial"/>
                <a:cs typeface="Arial"/>
              </a:rPr>
              <a:t>Stream:</a:t>
            </a:r>
            <a:r>
              <a:rPr lang="en-US" sz="1200">
                <a:solidFill>
                  <a:srgbClr val="000000"/>
                </a:solidFill>
                <a:latin typeface="Arial"/>
                <a:cs typeface="Arial"/>
              </a:rPr>
              <a:t> Double major ECO</a:t>
            </a:r>
            <a:endParaRPr lang="en-US" sz="1200" i="0" u="none" strike="noStrike" kern="1200" cap="none" spc="0" normalizeH="0" baseline="0" noProof="0">
              <a:ln>
                <a:noFill/>
              </a:ln>
              <a:solidFill>
                <a:srgbClr val="000000"/>
              </a:solidFill>
              <a:effectLst/>
              <a:uLnTx/>
              <a:uFillTx/>
              <a:latin typeface="Arial"/>
              <a:cs typeface="Arial"/>
            </a:endParaRPr>
          </a:p>
          <a:p>
            <a:pPr>
              <a:defRPr/>
            </a:pPr>
            <a:r>
              <a:rPr kumimoji="0" lang="en-US" sz="1200" b="1" i="0" u="none" strike="noStrike" kern="1200" cap="none" spc="0" normalizeH="0" baseline="0" noProof="0">
                <a:ln>
                  <a:noFill/>
                </a:ln>
                <a:solidFill>
                  <a:srgbClr val="000000"/>
                </a:solidFill>
                <a:effectLst/>
                <a:uLnTx/>
                <a:uFillTx/>
                <a:latin typeface="Arial"/>
                <a:cs typeface="Arial"/>
              </a:rPr>
              <a:t>Year of graduation:</a:t>
            </a:r>
            <a:r>
              <a:rPr lang="en-US" sz="1200" b="1">
                <a:solidFill>
                  <a:srgbClr val="000000"/>
                </a:solidFill>
                <a:latin typeface="Arial"/>
                <a:cs typeface="Arial"/>
              </a:rPr>
              <a:t> </a:t>
            </a:r>
            <a:r>
              <a:rPr lang="en-US" sz="1200">
                <a:solidFill>
                  <a:srgbClr val="000000"/>
                </a:solidFill>
                <a:latin typeface="Arial"/>
                <a:cs typeface="Arial"/>
              </a:rPr>
              <a:t>2028</a:t>
            </a:r>
            <a:endParaRPr lang="en-US" sz="1200" i="0" u="none" strike="noStrike" kern="1200" cap="none" spc="0" normalizeH="0" baseline="0" noProof="0">
              <a:ln>
                <a:noFill/>
              </a:ln>
              <a:solidFill>
                <a:srgbClr val="000000"/>
              </a:solidFill>
              <a:effectLst/>
              <a:uLnTx/>
              <a:uFillTx/>
              <a:latin typeface="Arial"/>
              <a:cs typeface="Arial"/>
            </a:endParaRPr>
          </a:p>
        </p:txBody>
      </p:sp>
      <p:sp>
        <p:nvSpPr>
          <p:cNvPr id="19" name="TextBox 18">
            <a:extLst>
              <a:ext uri="{FF2B5EF4-FFF2-40B4-BE49-F238E27FC236}">
                <a16:creationId xmlns:a16="http://schemas.microsoft.com/office/drawing/2014/main" id="{BB9131AF-0078-459E-83A3-73A8BC9A11B8}"/>
              </a:ext>
            </a:extLst>
          </p:cNvPr>
          <p:cNvSpPr txBox="1"/>
          <p:nvPr/>
        </p:nvSpPr>
        <p:spPr>
          <a:xfrm>
            <a:off x="4980572" y="4810094"/>
            <a:ext cx="3685032" cy="868680"/>
          </a:xfrm>
          <a:prstGeom prst="rect">
            <a:avLst/>
          </a:prstGeom>
          <a:noFill/>
        </p:spPr>
        <p:txBody>
          <a:bodyPr wrap="square" lIns="0" tIns="0" rIns="0" bIns="0" anchor="t">
            <a:spAutoFit/>
          </a:bodyPr>
          <a:lstStyle/>
          <a:p>
            <a:pPr>
              <a:defRPr/>
            </a:pPr>
            <a:r>
              <a:rPr kumimoji="0" lang="en-US" sz="1200" b="1" i="0" u="none" strike="noStrike" kern="1200" cap="none" spc="0" normalizeH="0" baseline="0" noProof="0">
                <a:ln>
                  <a:noFill/>
                </a:ln>
                <a:solidFill>
                  <a:srgbClr val="000000"/>
                </a:solidFill>
                <a:effectLst/>
                <a:uLnTx/>
                <a:uFillTx/>
                <a:latin typeface="Arial"/>
                <a:cs typeface="Arial"/>
              </a:rPr>
              <a:t>College:</a:t>
            </a:r>
            <a:r>
              <a:rPr lang="en-US" sz="1200">
                <a:solidFill>
                  <a:srgbClr val="000000"/>
                </a:solidFill>
                <a:latin typeface="Arial"/>
                <a:cs typeface="Arial"/>
              </a:rPr>
              <a:t> IIT Kanpur</a:t>
            </a:r>
            <a:endParaRPr lang="en-US" sz="1200" b="0" i="0" u="none" strike="noStrike" kern="1200" cap="none" spc="0" normalizeH="0" baseline="0" noProof="0">
              <a:ln>
                <a:noFill/>
              </a:ln>
              <a:solidFill>
                <a:srgbClr val="000000"/>
              </a:solidFill>
              <a:effectLst/>
              <a:uLnTx/>
              <a:uFillTx/>
              <a:latin typeface="Arial"/>
              <a:cs typeface="Arial"/>
            </a:endParaRPr>
          </a:p>
          <a:p>
            <a:pPr>
              <a:defRPr/>
            </a:pPr>
            <a:r>
              <a:rPr kumimoji="0" lang="en-US" sz="1200" b="1" i="0" u="none" strike="noStrike" kern="1200" cap="none" spc="0" normalizeH="0" baseline="0" noProof="0">
                <a:ln>
                  <a:noFill/>
                </a:ln>
                <a:solidFill>
                  <a:srgbClr val="000000"/>
                </a:solidFill>
                <a:effectLst/>
                <a:uLnTx/>
                <a:uFillTx/>
                <a:latin typeface="Arial"/>
                <a:cs typeface="Arial"/>
              </a:rPr>
              <a:t>Stream:</a:t>
            </a:r>
            <a:r>
              <a:rPr lang="en-US" sz="1200">
                <a:solidFill>
                  <a:srgbClr val="000000"/>
                </a:solidFill>
                <a:latin typeface="Arial"/>
                <a:cs typeface="Arial"/>
              </a:rPr>
              <a:t> BTech MSE</a:t>
            </a:r>
            <a:endParaRPr lang="en-US" sz="1200" b="0" i="0" u="none" strike="noStrike" kern="1200" cap="none" spc="0" normalizeH="0" baseline="0" noProof="0">
              <a:ln>
                <a:noFill/>
              </a:ln>
              <a:solidFill>
                <a:srgbClr val="000000"/>
              </a:solidFill>
              <a:effectLst/>
              <a:uLnTx/>
              <a:uFillTx/>
              <a:latin typeface="Arial"/>
              <a:cs typeface="Arial"/>
            </a:endParaRPr>
          </a:p>
          <a:p>
            <a:pPr>
              <a:defRPr/>
            </a:pPr>
            <a:r>
              <a:rPr kumimoji="0" lang="en-US" sz="1200" b="1" i="0" u="none" strike="noStrike" kern="1200" cap="none" spc="0" normalizeH="0" baseline="0" noProof="0">
                <a:ln>
                  <a:noFill/>
                </a:ln>
                <a:solidFill>
                  <a:srgbClr val="000000"/>
                </a:solidFill>
                <a:effectLst/>
                <a:uLnTx/>
                <a:uFillTx/>
                <a:latin typeface="Arial"/>
                <a:cs typeface="Arial"/>
              </a:rPr>
              <a:t>Year of graduation:</a:t>
            </a:r>
            <a:r>
              <a:rPr lang="en-US" sz="1200">
                <a:solidFill>
                  <a:srgbClr val="000000"/>
                </a:solidFill>
                <a:latin typeface="Arial"/>
                <a:cs typeface="Arial"/>
              </a:rPr>
              <a:t> 2027</a:t>
            </a:r>
            <a:endParaRPr lang="en-US" sz="1200" b="0" i="0" u="none" strike="noStrike" kern="1200" cap="none" spc="0" normalizeH="0" baseline="0" noProof="0">
              <a:ln>
                <a:noFill/>
              </a:ln>
              <a:solidFill>
                <a:srgbClr val="000000"/>
              </a:solidFill>
              <a:effectLst/>
              <a:uLnTx/>
              <a:uFillTx/>
              <a:latin typeface="Arial"/>
              <a:cs typeface="Arial"/>
            </a:endParaRPr>
          </a:p>
        </p:txBody>
      </p:sp>
      <p:sp>
        <p:nvSpPr>
          <p:cNvPr id="20" name="TextBox 19">
            <a:extLst>
              <a:ext uri="{FF2B5EF4-FFF2-40B4-BE49-F238E27FC236}">
                <a16:creationId xmlns:a16="http://schemas.microsoft.com/office/drawing/2014/main" id="{10AF310E-EC91-4906-9FCC-95C833C3D011}"/>
              </a:ext>
            </a:extLst>
          </p:cNvPr>
          <p:cNvSpPr txBox="1"/>
          <p:nvPr/>
        </p:nvSpPr>
        <p:spPr>
          <a:xfrm>
            <a:off x="8877069" y="4810094"/>
            <a:ext cx="3685032" cy="868680"/>
          </a:xfrm>
          <a:prstGeom prst="rect">
            <a:avLst/>
          </a:prstGeom>
          <a:noFill/>
        </p:spPr>
        <p:txBody>
          <a:bodyPr wrap="square" lIns="0" tIns="0" rIns="0" bIns="0" anchor="t">
            <a:spAutoFit/>
          </a:bodyPr>
          <a:lstStyle/>
          <a:p>
            <a:pPr>
              <a:defRPr/>
            </a:pPr>
            <a:r>
              <a:rPr lang="en-US" sz="1200" b="1">
                <a:solidFill>
                  <a:srgbClr val="000000"/>
                </a:solidFill>
                <a:latin typeface="Arial"/>
                <a:cs typeface="Arial"/>
              </a:rPr>
              <a:t>College: </a:t>
            </a:r>
            <a:r>
              <a:rPr lang="en-US" sz="1200">
                <a:solidFill>
                  <a:srgbClr val="000000"/>
                </a:solidFill>
                <a:latin typeface="Arial"/>
                <a:cs typeface="Arial"/>
              </a:rPr>
              <a:t>IIT Kanpur</a:t>
            </a:r>
          </a:p>
          <a:p>
            <a:pPr>
              <a:defRPr/>
            </a:pPr>
            <a:r>
              <a:rPr lang="en-US" sz="1200" b="1">
                <a:solidFill>
                  <a:srgbClr val="000000"/>
                </a:solidFill>
                <a:latin typeface="Arial"/>
                <a:cs typeface="Arial"/>
              </a:rPr>
              <a:t>Stream: </a:t>
            </a:r>
            <a:r>
              <a:rPr lang="en-US" sz="1200">
                <a:solidFill>
                  <a:srgbClr val="000000"/>
                </a:solidFill>
                <a:latin typeface="Arial"/>
                <a:cs typeface="Arial"/>
              </a:rPr>
              <a:t>BTech ME</a:t>
            </a:r>
            <a:endParaRPr lang="en-US"/>
          </a:p>
          <a:p>
            <a:pPr>
              <a:defRPr/>
            </a:pPr>
            <a:r>
              <a:rPr lang="en-US" sz="1200" b="1">
                <a:solidFill>
                  <a:srgbClr val="000000"/>
                </a:solidFill>
                <a:latin typeface="Arial"/>
                <a:cs typeface="Arial"/>
              </a:rPr>
              <a:t>Year of graduation: </a:t>
            </a:r>
            <a:r>
              <a:rPr lang="en-US" sz="1200">
                <a:solidFill>
                  <a:srgbClr val="000000"/>
                </a:solidFill>
                <a:latin typeface="Arial"/>
                <a:cs typeface="Arial"/>
              </a:rPr>
              <a:t>2027</a:t>
            </a:r>
            <a:endParaRPr lang="en-US"/>
          </a:p>
        </p:txBody>
      </p:sp>
      <p:pic>
        <p:nvPicPr>
          <p:cNvPr id="7" name="Picture 6">
            <a:extLst>
              <a:ext uri="{FF2B5EF4-FFF2-40B4-BE49-F238E27FC236}">
                <a16:creationId xmlns:a16="http://schemas.microsoft.com/office/drawing/2014/main" id="{DB3D8FF9-4271-194B-3A1C-D8569590DF2F}"/>
              </a:ext>
            </a:extLst>
          </p:cNvPr>
          <p:cNvPicPr>
            <a:picLocks noChangeAspect="1"/>
          </p:cNvPicPr>
          <p:nvPr/>
        </p:nvPicPr>
        <p:blipFill>
          <a:blip r:embed="rId2"/>
          <a:stretch>
            <a:fillRect/>
          </a:stretch>
        </p:blipFill>
        <p:spPr>
          <a:xfrm>
            <a:off x="8877069" y="2045393"/>
            <a:ext cx="2011680" cy="2011680"/>
          </a:xfrm>
          <a:prstGeom prst="rect">
            <a:avLst/>
          </a:prstGeom>
        </p:spPr>
      </p:pic>
      <p:pic>
        <p:nvPicPr>
          <p:cNvPr id="9" name="Picture 8">
            <a:extLst>
              <a:ext uri="{FF2B5EF4-FFF2-40B4-BE49-F238E27FC236}">
                <a16:creationId xmlns:a16="http://schemas.microsoft.com/office/drawing/2014/main" id="{63540FD7-2700-5AD4-AB72-C0CFAF77703B}"/>
              </a:ext>
            </a:extLst>
          </p:cNvPr>
          <p:cNvPicPr>
            <a:picLocks noChangeAspect="1"/>
          </p:cNvPicPr>
          <p:nvPr/>
        </p:nvPicPr>
        <p:blipFill>
          <a:blip r:embed="rId3"/>
          <a:srcRect l="1355" r="1939" b="23334"/>
          <a:stretch>
            <a:fillRect/>
          </a:stretch>
        </p:blipFill>
        <p:spPr>
          <a:xfrm>
            <a:off x="4990869" y="2045393"/>
            <a:ext cx="2011680" cy="2011680"/>
          </a:xfrm>
          <a:prstGeom prst="rect">
            <a:avLst/>
          </a:prstGeom>
        </p:spPr>
      </p:pic>
      <p:sp>
        <p:nvSpPr>
          <p:cNvPr id="12" name="TextBox 11">
            <a:extLst>
              <a:ext uri="{FF2B5EF4-FFF2-40B4-BE49-F238E27FC236}">
                <a16:creationId xmlns:a16="http://schemas.microsoft.com/office/drawing/2014/main" id="{11F07454-F748-4745-AF0E-0438B90C162E}"/>
              </a:ext>
            </a:extLst>
          </p:cNvPr>
          <p:cNvSpPr txBox="1"/>
          <p:nvPr/>
        </p:nvSpPr>
        <p:spPr>
          <a:xfrm>
            <a:off x="1104669" y="4245446"/>
            <a:ext cx="2713206" cy="830997"/>
          </a:xfrm>
          <a:prstGeom prst="rect">
            <a:avLst/>
          </a:prstGeom>
          <a:noFill/>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algn="l"/>
            <a:r>
              <a:rPr lang="en-GB" sz="2400" b="1">
                <a:solidFill>
                  <a:srgbClr val="A100FF"/>
                </a:solidFill>
                <a:latin typeface="Arial"/>
                <a:ea typeface="Arial"/>
                <a:cs typeface="Segoe UI"/>
              </a:rPr>
              <a:t>Hemesh Saini </a:t>
            </a:r>
            <a:endParaRPr lang="en-US" sz="2400" b="1">
              <a:solidFill>
                <a:srgbClr val="000000"/>
              </a:solidFill>
              <a:latin typeface="Graphik"/>
              <a:ea typeface="Arial"/>
              <a:cs typeface="Arial"/>
            </a:endParaRPr>
          </a:p>
          <a:p>
            <a:pPr algn="l"/>
            <a:endParaRPr lang="en-US" sz="1400" b="1" dirty="0">
              <a:solidFill>
                <a:srgbClr val="A100FF"/>
              </a:solidFill>
              <a:latin typeface="Arial"/>
              <a:cs typeface="Arial"/>
            </a:endParaRPr>
          </a:p>
          <a:p>
            <a:pPr algn="l"/>
            <a:endParaRPr lang="en-US" sz="1600" err="1"/>
          </a:p>
        </p:txBody>
      </p:sp>
      <p:pic>
        <p:nvPicPr>
          <p:cNvPr id="14" name="Picture 13">
            <a:extLst>
              <a:ext uri="{FF2B5EF4-FFF2-40B4-BE49-F238E27FC236}">
                <a16:creationId xmlns:a16="http://schemas.microsoft.com/office/drawing/2014/main" id="{8BE485B3-7EDE-F6E6-8A38-A6BCBFFB5B8A}"/>
              </a:ext>
            </a:extLst>
          </p:cNvPr>
          <p:cNvPicPr>
            <a:picLocks noChangeAspect="1"/>
          </p:cNvPicPr>
          <p:nvPr/>
        </p:nvPicPr>
        <p:blipFill>
          <a:blip r:embed="rId4"/>
          <a:srcRect l="11330" t="7661" r="14093" b="31294"/>
          <a:stretch>
            <a:fillRect/>
          </a:stretch>
        </p:blipFill>
        <p:spPr>
          <a:xfrm>
            <a:off x="1104669" y="2045393"/>
            <a:ext cx="2011680" cy="2011680"/>
          </a:xfrm>
          <a:prstGeom prst="rect">
            <a:avLst/>
          </a:prstGeom>
        </p:spPr>
      </p:pic>
      <p:sp>
        <p:nvSpPr>
          <p:cNvPr id="2" name="TextBox 1">
            <a:extLst>
              <a:ext uri="{FF2B5EF4-FFF2-40B4-BE49-F238E27FC236}">
                <a16:creationId xmlns:a16="http://schemas.microsoft.com/office/drawing/2014/main" id="{8D38BB75-CFA7-D1E8-2E6B-D967541B1F94}"/>
              </a:ext>
            </a:extLst>
          </p:cNvPr>
          <p:cNvSpPr txBox="1"/>
          <p:nvPr/>
        </p:nvSpPr>
        <p:spPr>
          <a:xfrm>
            <a:off x="1104669" y="4567339"/>
            <a:ext cx="2713206" cy="707886"/>
          </a:xfrm>
          <a:prstGeom prst="rect">
            <a:avLst/>
          </a:prstGeom>
          <a:noFill/>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r>
              <a:rPr lang="en-GB" sz="1600" b="1">
                <a:solidFill>
                  <a:srgbClr val="A100FF"/>
                </a:solidFill>
                <a:latin typeface="Arial"/>
                <a:ea typeface="Arial"/>
                <a:cs typeface="Segoe UI"/>
              </a:rPr>
              <a:t>(Team Leader)</a:t>
            </a:r>
          </a:p>
          <a:p>
            <a:pPr algn="l"/>
            <a:endParaRPr lang="en-US" sz="1400" b="1" dirty="0">
              <a:solidFill>
                <a:srgbClr val="A100FF"/>
              </a:solidFill>
              <a:latin typeface="Arial"/>
              <a:cs typeface="Arial"/>
            </a:endParaRPr>
          </a:p>
          <a:p>
            <a:pPr algn="l"/>
            <a:endParaRPr lang="en-US" sz="1600" err="1"/>
          </a:p>
        </p:txBody>
      </p:sp>
    </p:spTree>
    <p:extLst>
      <p:ext uri="{BB962C8B-B14F-4D97-AF65-F5344CB8AC3E}">
        <p14:creationId xmlns:p14="http://schemas.microsoft.com/office/powerpoint/2010/main" val="295947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Problem: AI failures are found out, not caught first</a:t>
            </a:r>
            <a:endParaRPr lang="en-IN" sz="2000">
              <a:solidFill>
                <a:schemeClr val="bg1"/>
              </a:solidFill>
              <a:latin typeface="Graphik"/>
              <a:cs typeface="Arial"/>
            </a:endParaRPr>
          </a:p>
        </p:txBody>
      </p:sp>
      <p:sp>
        <p:nvSpPr>
          <p:cNvPr id="201" name="tb201"/>
          <p:cNvSpPr>
            <a:spLocks noGrp="1"/>
          </p:cNvSpPr>
          <p:nvPr/>
        </p:nvSpPr>
        <p:spPr>
          <a:xfrm>
            <a:off x="365760" y="941832"/>
            <a:ext cx="11457432" cy="557784"/>
          </a:xfrm>
          <a:prstGeom prst="rect">
            <a:avLst/>
          </a:prstGeom>
          <a:noFill/>
          <a:ln>
            <a:noFill/>
          </a:ln>
        </p:spPr>
        <p:txBody>
          <a:bodyPr wrap="square" lIns="0" tIns="0" rIns="0" bIns="0" anchor="t">
            <a:normAutofit/>
          </a:bodyPr>
          <a:lstStyle/>
          <a:p>
            <a:pPr>
              <a:lnSpc>
                <a:spcPct val="112000"/>
              </a:lnSpc>
            </a:pPr>
            <a:r>
              <a:rPr lang="en-IN" sz="1200">
                <a:latin typeface="Arial"/>
                <a:cs typeface="Arial"/>
              </a:rPr>
              <a:t>Enterprise AI now writes answers customers act on, code that ships, and decisions that move money - with </a:t>
            </a:r>
            <a:r>
              <a:rPr lang="en-IN" sz="1200" b="1">
                <a:solidFill>
                  <a:srgbClr val="A100FF"/>
                </a:solidFill>
                <a:latin typeface="Arial"/>
                <a:cs typeface="Arial"/>
              </a:rPr>
              <a:t>three silent risks</a:t>
            </a:r>
            <a:r>
              <a:rPr lang="en-IN" sz="1200">
                <a:latin typeface="Arial"/>
                <a:cs typeface="Arial"/>
              </a:rPr>
              <a:t> that surface only after someone has acted on the response.</a:t>
            </a:r>
          </a:p>
        </p:txBody>
      </p:sp>
      <p:sp>
        <p:nvSpPr>
          <p:cNvPr id="202" name="card202"/>
          <p:cNvSpPr/>
          <p:nvPr/>
        </p:nvSpPr>
        <p:spPr>
          <a:xfrm>
            <a:off x="365760" y="1572768"/>
            <a:ext cx="3685032" cy="940918"/>
          </a:xfrm>
          <a:prstGeom prst="roundRect">
            <a:avLst>
              <a:gd name="adj" fmla="val 8746"/>
            </a:avLst>
          </a:prstGeom>
          <a:solidFill>
            <a:srgbClr val="F5EBFF"/>
          </a:solidFill>
          <a:ln>
            <a:noFill/>
          </a:ln>
        </p:spPr>
        <p:txBody>
          <a:bodyPr wrap="square" lIns="118872" tIns="91440" rIns="118872" bIns="73152" anchor="t">
            <a:normAutofit fontScale="92500" lnSpcReduction="10000"/>
          </a:bodyPr>
          <a:lstStyle/>
          <a:p>
            <a:pPr>
              <a:spcAft>
                <a:spcPts val="500"/>
              </a:spcAft>
            </a:pPr>
            <a:r>
              <a:rPr lang="en-IN" sz="1200" b="1">
                <a:solidFill>
                  <a:srgbClr val="A100FF"/>
                </a:solidFill>
                <a:latin typeface="Arial"/>
                <a:cs typeface="Arial"/>
              </a:rPr>
              <a:t>PERFORMANCE</a:t>
            </a:r>
          </a:p>
          <a:p>
            <a:pPr>
              <a:lnSpc>
                <a:spcPct val="113000"/>
              </a:lnSpc>
            </a:pPr>
            <a:r>
              <a:rPr lang="en-IN" sz="1400" dirty="0">
                <a:solidFill>
                  <a:srgbClr val="2B2B2B"/>
                </a:solidFill>
                <a:latin typeface="Arial"/>
                <a:cs typeface="Arial"/>
              </a:rPr>
              <a:t>Models are confidently wrong - discovered when a customer complains or an auditor asks, never at response time.</a:t>
            </a:r>
          </a:p>
        </p:txBody>
      </p:sp>
      <p:sp>
        <p:nvSpPr>
          <p:cNvPr id="203" name="card203"/>
          <p:cNvSpPr/>
          <p:nvPr/>
        </p:nvSpPr>
        <p:spPr>
          <a:xfrm>
            <a:off x="4251960" y="1572768"/>
            <a:ext cx="3685032" cy="940918"/>
          </a:xfrm>
          <a:prstGeom prst="roundRect">
            <a:avLst>
              <a:gd name="adj" fmla="val 8746"/>
            </a:avLst>
          </a:prstGeom>
          <a:solidFill>
            <a:srgbClr val="F5EBFF"/>
          </a:solidFill>
          <a:ln>
            <a:noFill/>
          </a:ln>
        </p:spPr>
        <p:txBody>
          <a:bodyPr wrap="square" lIns="118872" tIns="91440" rIns="118872" bIns="73152" anchor="t">
            <a:normAutofit fontScale="92500" lnSpcReduction="10000"/>
          </a:bodyPr>
          <a:lstStyle/>
          <a:p>
            <a:pPr>
              <a:spcAft>
                <a:spcPts val="500"/>
              </a:spcAft>
            </a:pPr>
            <a:r>
              <a:rPr lang="en-IN" sz="1200" b="1">
                <a:solidFill>
                  <a:srgbClr val="A100FF"/>
                </a:solidFill>
                <a:latin typeface="Arial"/>
                <a:cs typeface="Arial"/>
              </a:rPr>
              <a:t>COST</a:t>
            </a:r>
          </a:p>
          <a:p>
            <a:pPr>
              <a:lnSpc>
                <a:spcPct val="113000"/>
              </a:lnSpc>
              <a:spcAft>
                <a:spcPts val="0"/>
              </a:spcAft>
            </a:pPr>
            <a:r>
              <a:rPr lang="en-IN" sz="1400">
                <a:solidFill>
                  <a:srgbClr val="2B2B2B"/>
                </a:solidFill>
                <a:latin typeface="Arial"/>
                <a:cs typeface="Arial"/>
              </a:rPr>
              <a:t>Retry loops, bloated prompts and silent rework burn budgets. Teams see the monthly bill, not the responses causing it.</a:t>
            </a:r>
          </a:p>
        </p:txBody>
      </p:sp>
      <p:sp>
        <p:nvSpPr>
          <p:cNvPr id="204" name="card204"/>
          <p:cNvSpPr/>
          <p:nvPr/>
        </p:nvSpPr>
        <p:spPr>
          <a:xfrm>
            <a:off x="8138160" y="1572768"/>
            <a:ext cx="3685032" cy="940918"/>
          </a:xfrm>
          <a:prstGeom prst="roundRect">
            <a:avLst>
              <a:gd name="adj" fmla="val 8746"/>
            </a:avLst>
          </a:prstGeom>
          <a:solidFill>
            <a:srgbClr val="F5EBFF"/>
          </a:solidFill>
          <a:ln>
            <a:noFill/>
          </a:ln>
        </p:spPr>
        <p:txBody>
          <a:bodyPr wrap="square" lIns="118872" tIns="91440" rIns="118872" bIns="73152" anchor="t">
            <a:normAutofit/>
          </a:bodyPr>
          <a:lstStyle/>
          <a:p>
            <a:pPr>
              <a:spcAft>
                <a:spcPts val="500"/>
              </a:spcAft>
            </a:pPr>
            <a:r>
              <a:rPr lang="en-IN" sz="1200" b="1">
                <a:solidFill>
                  <a:srgbClr val="A100FF"/>
                </a:solidFill>
                <a:latin typeface="Arial"/>
                <a:cs typeface="Arial"/>
              </a:rPr>
              <a:t>RESPONSIBILITY</a:t>
            </a:r>
          </a:p>
          <a:p>
            <a:pPr>
              <a:lnSpc>
                <a:spcPct val="113000"/>
              </a:lnSpc>
              <a:spcAft>
                <a:spcPts val="0"/>
              </a:spcAft>
            </a:pPr>
            <a:r>
              <a:rPr lang="en-IN" sz="1200">
                <a:solidFill>
                  <a:srgbClr val="2B2B2B"/>
                </a:solidFill>
                <a:latin typeface="Arial"/>
                <a:cs typeface="Arial"/>
              </a:rPr>
              <a:t>Bias, unsafe content and data leakage slip into live outputs - regulatory, legal and reputational exposure.</a:t>
            </a:r>
          </a:p>
        </p:txBody>
      </p:sp>
      <p:sp>
        <p:nvSpPr>
          <p:cNvPr id="205" name="card205"/>
          <p:cNvSpPr/>
          <p:nvPr/>
        </p:nvSpPr>
        <p:spPr>
          <a:xfrm>
            <a:off x="365760" y="2980639"/>
            <a:ext cx="11457432" cy="1105510"/>
          </a:xfrm>
          <a:prstGeom prst="roundRect">
            <a:avLst>
              <a:gd name="adj" fmla="val 7444"/>
            </a:avLst>
          </a:prstGeom>
          <a:solidFill>
            <a:srgbClr val="FFFFFF"/>
          </a:solidFill>
          <a:ln w="9525">
            <a:solidFill>
              <a:srgbClr val="A100FF"/>
            </a:solidFill>
          </a:ln>
        </p:spPr>
        <p:txBody>
          <a:bodyPr wrap="square" lIns="118872" tIns="91440" rIns="118872" bIns="73152" anchor="ctr">
            <a:normAutofit/>
          </a:bodyPr>
          <a:lstStyle/>
          <a:p>
            <a:pPr>
              <a:spcAft>
                <a:spcPts val="500"/>
              </a:spcAft>
            </a:pPr>
            <a:r>
              <a:rPr lang="en-IN" sz="1400" b="1">
                <a:solidFill>
                  <a:srgbClr val="A100FF"/>
                </a:solidFill>
                <a:latin typeface="Arial"/>
                <a:cs typeface="Arial"/>
              </a:rPr>
              <a:t>THE COST OF FINDING OUT LATE</a:t>
            </a:r>
          </a:p>
          <a:p>
            <a:pPr>
              <a:lnSpc>
                <a:spcPct val="113000"/>
              </a:lnSpc>
              <a:spcAft>
                <a:spcPts val="0"/>
              </a:spcAft>
            </a:pPr>
            <a:r>
              <a:rPr lang="en-IN" sz="1200">
                <a:solidFill>
                  <a:srgbClr val="2B2B2B"/>
                </a:solidFill>
                <a:latin typeface="Arial"/>
                <a:cs typeface="Arial"/>
              </a:rPr>
              <a:t>In February 2024, a Canadian tribunal held Air Canada liable for a refund policy its own chatbot invented, rejecting the claim that the bot was a separate legal entity. In McKinsey’s 2025 survey, 51% of AI-using organizations report at least one negative AI consequence - inaccuracy most common. And the EU AI Act’s Article 72 makes continuous post-market monitoring a legal obligation for high-risk systems.</a:t>
            </a:r>
          </a:p>
        </p:txBody>
      </p:sp>
      <p:sp>
        <p:nvSpPr>
          <p:cNvPr id="206" name="tb206"/>
          <p:cNvSpPr>
            <a:spLocks noGrp="1"/>
          </p:cNvSpPr>
          <p:nvPr/>
        </p:nvSpPr>
        <p:spPr>
          <a:xfrm>
            <a:off x="365760" y="4553102"/>
            <a:ext cx="11457432" cy="557784"/>
          </a:xfrm>
          <a:prstGeom prst="rect">
            <a:avLst/>
          </a:prstGeom>
          <a:noFill/>
          <a:ln>
            <a:noFill/>
          </a:ln>
        </p:spPr>
        <p:txBody>
          <a:bodyPr wrap="square" lIns="0" tIns="0" rIns="0" bIns="0" anchor="t">
            <a:normAutofit/>
          </a:bodyPr>
          <a:lstStyle/>
          <a:p>
            <a:pPr>
              <a:lnSpc>
                <a:spcPct val="112000"/>
              </a:lnSpc>
              <a:spcAft>
                <a:spcPts val="0"/>
              </a:spcAft>
            </a:pPr>
            <a:r>
              <a:rPr lang="en-IN" sz="1200" b="1">
                <a:solidFill>
                  <a:srgbClr val="A100FF"/>
                </a:solidFill>
                <a:latin typeface="Arial"/>
                <a:cs typeface="Arial"/>
              </a:rPr>
              <a:t>Why today’s tools miss it: </a:t>
            </a:r>
            <a:r>
              <a:rPr lang="en-IN" sz="1200">
                <a:latin typeface="Arial"/>
                <a:cs typeface="Arial"/>
              </a:rPr>
              <a:t>evals run before launch; dashboards are read after incidents - nothing in the live path watches every response across all three risks.</a:t>
            </a:r>
          </a:p>
        </p:txBody>
      </p:sp>
      <p:sp>
        <p:nvSpPr>
          <p:cNvPr id="207" name="ln207"/>
          <p:cNvSpPr/>
          <p:nvPr/>
        </p:nvSpPr>
        <p:spPr>
          <a:xfrm>
            <a:off x="2208276" y="5349240"/>
            <a:ext cx="7772400" cy="0"/>
          </a:xfrm>
          <a:prstGeom prst="line">
            <a:avLst/>
          </a:prstGeom>
          <a:ln w="12700">
            <a:solidFill>
              <a:srgbClr val="A100FF"/>
            </a:solidFill>
          </a:ln>
        </p:spPr>
        <p:txBody>
          <a:bodyPr/>
          <a:lstStyle/>
          <a:p>
            <a:endParaRPr lang="en-IN"/>
          </a:p>
        </p:txBody>
      </p:sp>
      <p:sp>
        <p:nvSpPr>
          <p:cNvPr id="208" name="dot208"/>
          <p:cNvSpPr/>
          <p:nvPr/>
        </p:nvSpPr>
        <p:spPr>
          <a:xfrm>
            <a:off x="2130552" y="5271516"/>
            <a:ext cx="155448" cy="155448"/>
          </a:xfrm>
          <a:prstGeom prst="ellipse">
            <a:avLst/>
          </a:prstGeom>
          <a:solidFill>
            <a:srgbClr val="A100FF"/>
          </a:solidFill>
          <a:ln>
            <a:noFill/>
          </a:ln>
        </p:spPr>
        <p:txBody>
          <a:bodyPr/>
          <a:lstStyle/>
          <a:p>
            <a:endParaRPr lang="en-IN"/>
          </a:p>
        </p:txBody>
      </p:sp>
      <p:sp>
        <p:nvSpPr>
          <p:cNvPr id="209" name="tb209"/>
          <p:cNvSpPr>
            <a:spLocks noGrp="1"/>
          </p:cNvSpPr>
          <p:nvPr/>
        </p:nvSpPr>
        <p:spPr>
          <a:xfrm>
            <a:off x="365760" y="5577840"/>
            <a:ext cx="3685032" cy="640080"/>
          </a:xfrm>
          <a:prstGeom prst="rect">
            <a:avLst/>
          </a:prstGeom>
          <a:noFill/>
          <a:ln>
            <a:noFill/>
          </a:ln>
        </p:spPr>
        <p:txBody>
          <a:bodyPr wrap="square" lIns="0" tIns="0" rIns="0" bIns="0" anchor="t">
            <a:normAutofit/>
          </a:bodyPr>
          <a:lstStyle/>
          <a:p>
            <a:pPr algn="ctr">
              <a:spcAft>
                <a:spcPts val="200"/>
              </a:spcAft>
            </a:pPr>
            <a:r>
              <a:rPr lang="en-IN" sz="1000" b="1">
                <a:solidFill>
                  <a:srgbClr val="A100FF"/>
                </a:solidFill>
                <a:latin typeface="Arial" panose="020B0604020202020204" pitchFamily="34" charset="0"/>
                <a:cs typeface="Arial" panose="020B0604020202020204" pitchFamily="34" charset="0"/>
              </a:rPr>
              <a:t>DAY 0</a:t>
            </a:r>
          </a:p>
          <a:p>
            <a:pPr algn="ctr">
              <a:lnSpc>
                <a:spcPct val="108000"/>
              </a:lnSpc>
              <a:spcAft>
                <a:spcPts val="0"/>
              </a:spcAft>
            </a:pPr>
            <a:r>
              <a:rPr lang="en-IN" sz="950">
                <a:solidFill>
                  <a:srgbClr val="666666"/>
                </a:solidFill>
                <a:latin typeface="Arial" panose="020B0604020202020204" pitchFamily="34" charset="0"/>
                <a:cs typeface="Arial" panose="020B0604020202020204" pitchFamily="34" charset="0"/>
              </a:rPr>
              <a:t>Model ships</a:t>
            </a:r>
          </a:p>
        </p:txBody>
      </p:sp>
      <p:sp>
        <p:nvSpPr>
          <p:cNvPr id="210" name="dot210"/>
          <p:cNvSpPr/>
          <p:nvPr/>
        </p:nvSpPr>
        <p:spPr>
          <a:xfrm>
            <a:off x="6016752" y="5271516"/>
            <a:ext cx="155448" cy="155448"/>
          </a:xfrm>
          <a:prstGeom prst="ellipse">
            <a:avLst/>
          </a:prstGeom>
          <a:solidFill>
            <a:srgbClr val="A100FF"/>
          </a:solidFill>
          <a:ln>
            <a:noFill/>
          </a:ln>
        </p:spPr>
        <p:txBody>
          <a:bodyPr/>
          <a:lstStyle/>
          <a:p>
            <a:endParaRPr lang="en-IN"/>
          </a:p>
        </p:txBody>
      </p:sp>
      <p:sp>
        <p:nvSpPr>
          <p:cNvPr id="211" name="tb211"/>
          <p:cNvSpPr>
            <a:spLocks noGrp="1"/>
          </p:cNvSpPr>
          <p:nvPr/>
        </p:nvSpPr>
        <p:spPr>
          <a:xfrm>
            <a:off x="4251960" y="5577840"/>
            <a:ext cx="3685032" cy="640080"/>
          </a:xfrm>
          <a:prstGeom prst="rect">
            <a:avLst/>
          </a:prstGeom>
          <a:noFill/>
          <a:ln>
            <a:noFill/>
          </a:ln>
        </p:spPr>
        <p:txBody>
          <a:bodyPr wrap="square" lIns="0" tIns="0" rIns="0" bIns="0" anchor="t">
            <a:normAutofit/>
          </a:bodyPr>
          <a:lstStyle/>
          <a:p>
            <a:pPr algn="ctr">
              <a:spcAft>
                <a:spcPts val="200"/>
              </a:spcAft>
            </a:pPr>
            <a:r>
              <a:rPr lang="en-IN" sz="1000" b="1">
                <a:solidFill>
                  <a:srgbClr val="A100FF"/>
                </a:solidFill>
                <a:latin typeface="Arial" panose="020B0604020202020204" pitchFamily="34" charset="0"/>
                <a:cs typeface="Arial" panose="020B0604020202020204" pitchFamily="34" charset="0"/>
              </a:rPr>
              <a:t>WEEKS 1–N</a:t>
            </a:r>
          </a:p>
          <a:p>
            <a:pPr algn="ctr">
              <a:lnSpc>
                <a:spcPct val="108000"/>
              </a:lnSpc>
              <a:spcAft>
                <a:spcPts val="0"/>
              </a:spcAft>
            </a:pPr>
            <a:r>
              <a:rPr lang="en-IN" sz="950">
                <a:solidFill>
                  <a:srgbClr val="666666"/>
                </a:solidFill>
                <a:latin typeface="Arial" panose="020B0604020202020204" pitchFamily="34" charset="0"/>
                <a:cs typeface="Arial" panose="020B0604020202020204" pitchFamily="34" charset="0"/>
              </a:rPr>
              <a:t>Thousands of responses, zero alerts</a:t>
            </a:r>
          </a:p>
        </p:txBody>
      </p:sp>
      <p:sp>
        <p:nvSpPr>
          <p:cNvPr id="212" name="dot212"/>
          <p:cNvSpPr/>
          <p:nvPr/>
        </p:nvSpPr>
        <p:spPr>
          <a:xfrm>
            <a:off x="9902952" y="5271516"/>
            <a:ext cx="155448" cy="155448"/>
          </a:xfrm>
          <a:prstGeom prst="ellipse">
            <a:avLst/>
          </a:prstGeom>
          <a:solidFill>
            <a:srgbClr val="A100FF"/>
          </a:solidFill>
          <a:ln>
            <a:noFill/>
          </a:ln>
        </p:spPr>
        <p:txBody>
          <a:bodyPr/>
          <a:lstStyle/>
          <a:p>
            <a:endParaRPr lang="en-IN"/>
          </a:p>
        </p:txBody>
      </p:sp>
      <p:sp>
        <p:nvSpPr>
          <p:cNvPr id="213" name="tb213"/>
          <p:cNvSpPr>
            <a:spLocks noGrp="1"/>
          </p:cNvSpPr>
          <p:nvPr/>
        </p:nvSpPr>
        <p:spPr>
          <a:xfrm>
            <a:off x="8138160" y="5577840"/>
            <a:ext cx="3685032" cy="640080"/>
          </a:xfrm>
          <a:prstGeom prst="rect">
            <a:avLst/>
          </a:prstGeom>
          <a:noFill/>
          <a:ln>
            <a:noFill/>
          </a:ln>
        </p:spPr>
        <p:txBody>
          <a:bodyPr wrap="square" lIns="0" tIns="0" rIns="0" bIns="0" anchor="t">
            <a:normAutofit/>
          </a:bodyPr>
          <a:lstStyle/>
          <a:p>
            <a:pPr algn="ctr">
              <a:spcAft>
                <a:spcPts val="200"/>
              </a:spcAft>
            </a:pPr>
            <a:r>
              <a:rPr lang="en-IN" sz="1000" b="1">
                <a:solidFill>
                  <a:srgbClr val="A100FF"/>
                </a:solidFill>
                <a:latin typeface="Arial" panose="020B0604020202020204" pitchFamily="34" charset="0"/>
                <a:cs typeface="Arial" panose="020B0604020202020204" pitchFamily="34" charset="0"/>
              </a:rPr>
              <a:t>DAY X</a:t>
            </a:r>
          </a:p>
          <a:p>
            <a:pPr algn="ctr">
              <a:lnSpc>
                <a:spcPct val="108000"/>
              </a:lnSpc>
              <a:spcAft>
                <a:spcPts val="0"/>
              </a:spcAft>
            </a:pPr>
            <a:r>
              <a:rPr lang="en-IN" sz="950">
                <a:solidFill>
                  <a:srgbClr val="666666"/>
                </a:solidFill>
                <a:latin typeface="Arial" panose="020B0604020202020204" pitchFamily="34" charset="0"/>
                <a:cs typeface="Arial" panose="020B0604020202020204" pitchFamily="34" charset="0"/>
              </a:rPr>
              <a:t>A customer or auditor finds it first</a:t>
            </a:r>
          </a:p>
        </p:txBody>
      </p:sp>
      <p:sp>
        <p:nvSpPr>
          <p:cNvPr id="901"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3</a:t>
            </a:fld>
            <a:endParaRPr lang="en-IN" sz="1000"/>
          </a:p>
        </p:txBody>
      </p:sp>
    </p:spTree>
    <p:extLst>
      <p:ext uri="{BB962C8B-B14F-4D97-AF65-F5344CB8AC3E}">
        <p14:creationId xmlns:p14="http://schemas.microsoft.com/office/powerpoint/2010/main" val="96971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5760" y="384048"/>
            <a:ext cx="11457432" cy="475488"/>
          </a:xfrm>
          <a:prstGeom prst="rect">
            <a:avLst/>
          </a:prstGeom>
          <a:solidFill>
            <a:srgbClr val="A100FF"/>
          </a:solidFill>
        </p:spPr>
        <p:txBody>
          <a:bodyPr vert="horz" lIns="91440" tIns="45720" rIns="91440" bIns="45720" rtlCol="0" anchor="ctr">
            <a:normAutofit/>
          </a:bodyPr>
          <a:lstStyle/>
          <a:p>
            <a:r>
              <a:rPr lang="en-IN" sz="2000" b="1">
                <a:solidFill>
                  <a:schemeClr val="bg1"/>
                </a:solidFill>
                <a:latin typeface="Graphik"/>
                <a:cs typeface="Arial"/>
              </a:rPr>
              <a:t>Solution design: three stages, and why their order is the design</a:t>
            </a:r>
          </a:p>
        </p:txBody>
      </p:sp>
      <p:sp>
        <p:nvSpPr>
          <p:cNvPr id="214" name="tb214"/>
          <p:cNvSpPr>
            <a:spLocks noGrp="1"/>
          </p:cNvSpPr>
          <p:nvPr/>
        </p:nvSpPr>
        <p:spPr>
          <a:xfrm>
            <a:off x="365760" y="941832"/>
            <a:ext cx="11457432" cy="557784"/>
          </a:xfrm>
          <a:prstGeom prst="rect">
            <a:avLst/>
          </a:prstGeom>
          <a:noFill/>
          <a:ln>
            <a:noFill/>
          </a:ln>
        </p:spPr>
        <p:txBody>
          <a:bodyPr wrap="square" lIns="0" tIns="0" rIns="0" bIns="0" anchor="t">
            <a:normAutofit/>
          </a:bodyPr>
          <a:lstStyle/>
          <a:p>
            <a:pPr>
              <a:lnSpc>
                <a:spcPct val="112000"/>
              </a:lnSpc>
              <a:spcAft>
                <a:spcPts val="0"/>
              </a:spcAft>
            </a:pPr>
            <a:r>
              <a:rPr lang="en-IN" sz="1200">
                <a:latin typeface="Arial"/>
                <a:cs typeface="Arial"/>
              </a:rPr>
              <a:t>A </a:t>
            </a:r>
            <a:r>
              <a:rPr lang="en-IN" sz="1200" b="1">
                <a:solidFill>
                  <a:srgbClr val="A100FF"/>
                </a:solidFill>
                <a:latin typeface="Arial"/>
                <a:cs typeface="Arial"/>
              </a:rPr>
              <a:t>model-agnostic gateway</a:t>
            </a:r>
            <a:r>
              <a:rPr lang="en-IN" sz="1200">
                <a:latin typeface="Arial"/>
                <a:cs typeface="Arial"/>
              </a:rPr>
              <a:t> that decides, per response, how much scrutiny it deserves and what happens next: not uniform checks, not uniform sampling.</a:t>
            </a:r>
          </a:p>
        </p:txBody>
      </p:sp>
      <p:sp>
        <p:nvSpPr>
          <p:cNvPr id="215" name="card215"/>
          <p:cNvSpPr/>
          <p:nvPr/>
        </p:nvSpPr>
        <p:spPr>
          <a:xfrm>
            <a:off x="365760" y="1351899"/>
            <a:ext cx="3685032" cy="1714084"/>
          </a:xfrm>
          <a:prstGeom prst="roundRect">
            <a:avLst>
              <a:gd name="adj" fmla="val 5511"/>
            </a:avLst>
          </a:prstGeom>
          <a:solidFill>
            <a:srgbClr val="F5EBFF"/>
          </a:solidFill>
          <a:ln>
            <a:noFill/>
          </a:ln>
        </p:spPr>
        <p:txBody>
          <a:bodyPr wrap="square" lIns="118872" tIns="91440" rIns="118872" bIns="73152" anchor="t">
            <a:normAutofit fontScale="92500"/>
          </a:bodyPr>
          <a:lstStyle/>
          <a:p>
            <a:pPr>
              <a:spcAft>
                <a:spcPts val="500"/>
              </a:spcAft>
            </a:pPr>
            <a:r>
              <a:rPr lang="en-IN" sz="1400" b="1">
                <a:solidFill>
                  <a:srgbClr val="A100FF"/>
                </a:solidFill>
                <a:latin typeface="Arial"/>
                <a:cs typeface="Arial"/>
              </a:rPr>
              <a:t>1 · RISK PRIOR · BEFORE GENERATION</a:t>
            </a:r>
          </a:p>
          <a:p>
            <a:pPr>
              <a:lnSpc>
                <a:spcPct val="112000"/>
              </a:lnSpc>
              <a:spcAft>
                <a:spcPts val="0"/>
              </a:spcAft>
            </a:pPr>
            <a:r>
              <a:rPr lang="en-IN" sz="1300" dirty="0">
                <a:solidFill>
                  <a:srgbClr val="2B2B2B"/>
                </a:solidFill>
                <a:latin typeface="Arial"/>
                <a:cs typeface="Arial"/>
              </a:rPr>
              <a:t>Request-time signals - endpoint, transaction value, user tier, data sensitivity - set stakes before a token is generated. High-stakes flows hold-and-release within a ~300 </a:t>
            </a:r>
            <a:r>
              <a:rPr lang="en-IN" sz="1300" dirty="0" err="1">
                <a:solidFill>
                  <a:srgbClr val="2B2B2B"/>
                </a:solidFill>
                <a:latin typeface="Arial"/>
                <a:cs typeface="Arial"/>
              </a:rPr>
              <a:t>ms</a:t>
            </a:r>
            <a:r>
              <a:rPr lang="en-IN" sz="1300" dirty="0">
                <a:solidFill>
                  <a:srgbClr val="2B2B2B"/>
                </a:solidFill>
                <a:latin typeface="Arial"/>
                <a:cs typeface="Arial"/>
              </a:rPr>
              <a:t> latency budget; the rest stream, audited async with one-click retraction.</a:t>
            </a:r>
          </a:p>
        </p:txBody>
      </p:sp>
      <p:sp>
        <p:nvSpPr>
          <p:cNvPr id="216" name="card216"/>
          <p:cNvSpPr/>
          <p:nvPr/>
        </p:nvSpPr>
        <p:spPr>
          <a:xfrm>
            <a:off x="4251960" y="1351899"/>
            <a:ext cx="3685032" cy="1714084"/>
          </a:xfrm>
          <a:prstGeom prst="roundRect">
            <a:avLst>
              <a:gd name="adj" fmla="val 5511"/>
            </a:avLst>
          </a:prstGeom>
          <a:solidFill>
            <a:srgbClr val="F5EBFF"/>
          </a:solidFill>
          <a:ln>
            <a:noFill/>
          </a:ln>
        </p:spPr>
        <p:txBody>
          <a:bodyPr wrap="square" lIns="118872" tIns="91440" rIns="118872" bIns="73152" anchor="t">
            <a:normAutofit/>
          </a:bodyPr>
          <a:lstStyle/>
          <a:p>
            <a:pPr>
              <a:spcAft>
                <a:spcPts val="500"/>
              </a:spcAft>
            </a:pPr>
            <a:r>
              <a:rPr lang="en-IN" sz="1400" b="1">
                <a:solidFill>
                  <a:srgbClr val="A100FF"/>
                </a:solidFill>
                <a:latin typeface="Arial"/>
                <a:cs typeface="Arial"/>
              </a:rPr>
              <a:t>2 · EVIDENCE · AFTER GENERATION</a:t>
            </a:r>
          </a:p>
          <a:p>
            <a:pPr>
              <a:lnSpc>
                <a:spcPct val="112000"/>
              </a:lnSpc>
            </a:pPr>
            <a:r>
              <a:rPr lang="en-IN" sz="1200" b="1">
                <a:solidFill>
                  <a:srgbClr val="2B2B2B"/>
                </a:solidFill>
                <a:latin typeface="Arial"/>
                <a:cs typeface="Arial"/>
              </a:rPr>
              <a:t>Performance - </a:t>
            </a:r>
            <a:r>
              <a:rPr lang="en-IN" sz="1200">
                <a:solidFill>
                  <a:srgbClr val="2B2B2B"/>
                </a:solidFill>
                <a:latin typeface="Arial"/>
                <a:cs typeface="Arial"/>
              </a:rPr>
              <a:t>a small verifier re-answers from the same context; disagreement flags. </a:t>
            </a:r>
            <a:r>
              <a:rPr lang="en-IN" sz="1200" b="1">
                <a:solidFill>
                  <a:srgbClr val="2B2B2B"/>
                </a:solidFill>
                <a:latin typeface="Arial"/>
                <a:cs typeface="Arial"/>
              </a:rPr>
              <a:t>Cost -</a:t>
            </a:r>
            <a:r>
              <a:rPr lang="en-IN" sz="1200" b="1" dirty="0">
                <a:solidFill>
                  <a:srgbClr val="2B2B2B"/>
                </a:solidFill>
                <a:latin typeface="Arial"/>
                <a:cs typeface="Arial"/>
              </a:rPr>
              <a:t> </a:t>
            </a:r>
            <a:r>
              <a:rPr lang="en-IN" sz="1200">
                <a:solidFill>
                  <a:srgbClr val="2B2B2B"/>
                </a:solidFill>
                <a:latin typeface="Arial"/>
                <a:cs typeface="Arial"/>
              </a:rPr>
              <a:t>token, retry and latency telemetry. </a:t>
            </a:r>
            <a:r>
              <a:rPr lang="en-IN" sz="1200" b="1">
                <a:solidFill>
                  <a:srgbClr val="2B2B2B"/>
                </a:solidFill>
                <a:latin typeface="Arial"/>
                <a:cs typeface="Arial"/>
              </a:rPr>
              <a:t>Responsibility - </a:t>
            </a:r>
            <a:r>
              <a:rPr lang="en-IN" sz="1200">
                <a:solidFill>
                  <a:srgbClr val="2B2B2B"/>
                </a:solidFill>
                <a:latin typeface="Arial"/>
                <a:cs typeface="Arial"/>
              </a:rPr>
              <a:t>PII and policy inline; deeper bias async.</a:t>
            </a:r>
          </a:p>
        </p:txBody>
      </p:sp>
      <p:sp>
        <p:nvSpPr>
          <p:cNvPr id="217" name="card217"/>
          <p:cNvSpPr/>
          <p:nvPr/>
        </p:nvSpPr>
        <p:spPr>
          <a:xfrm>
            <a:off x="8138160" y="1351899"/>
            <a:ext cx="3685032" cy="1714084"/>
          </a:xfrm>
          <a:prstGeom prst="roundRect">
            <a:avLst>
              <a:gd name="adj" fmla="val 5511"/>
            </a:avLst>
          </a:prstGeom>
          <a:solidFill>
            <a:srgbClr val="F5EBFF"/>
          </a:solidFill>
          <a:ln>
            <a:noFill/>
          </a:ln>
        </p:spPr>
        <p:txBody>
          <a:bodyPr wrap="square" lIns="118872" tIns="91440" rIns="118872" bIns="73152" anchor="t">
            <a:normAutofit/>
          </a:bodyPr>
          <a:lstStyle/>
          <a:p>
            <a:pPr>
              <a:spcAft>
                <a:spcPts val="500"/>
              </a:spcAft>
            </a:pPr>
            <a:r>
              <a:rPr lang="en-IN" sz="1400" b="1">
                <a:solidFill>
                  <a:srgbClr val="A100FF"/>
                </a:solidFill>
                <a:latin typeface="Arial"/>
                <a:cs typeface="Arial"/>
              </a:rPr>
              <a:t>3 · ADAPTIVE SCRUTINY · THE EDGE</a:t>
            </a:r>
          </a:p>
          <a:p>
            <a:pPr>
              <a:lnSpc>
                <a:spcPct val="112000"/>
              </a:lnSpc>
            </a:pPr>
            <a:r>
              <a:rPr lang="en-IN" sz="1200">
                <a:solidFill>
                  <a:srgbClr val="2B2B2B"/>
                </a:solidFill>
                <a:latin typeface="Arial"/>
                <a:cs typeface="Arial"/>
              </a:rPr>
              <a:t>Cheap telemetry anomalies - retry storms, token spikes - are leading indicators of quality failure, so the expensive verifier fires where free signals say risk is rising. Single-lane tools can’t - they don’t see the other lanes. Every flag retrains the checker on your traffic.</a:t>
            </a:r>
          </a:p>
        </p:txBody>
      </p:sp>
      <p:sp>
        <p:nvSpPr>
          <p:cNvPr id="902" name="dgm"/>
          <p:cNvSpPr/>
          <p:nvPr/>
        </p:nvSpPr>
        <p:spPr>
          <a:xfrm>
            <a:off x="365760" y="3267151"/>
            <a:ext cx="11457432" cy="1554480"/>
          </a:xfrm>
          <a:prstGeom prst="roundRect">
            <a:avLst>
              <a:gd name="adj" fmla="val 5294"/>
            </a:avLst>
          </a:prstGeom>
          <a:solidFill>
            <a:srgbClr val="FFFFFF"/>
          </a:solidFill>
          <a:ln w="9525">
            <a:solidFill>
              <a:srgbClr val="E6DCFF"/>
            </a:solidFill>
          </a:ln>
        </p:spPr>
        <p:txBody>
          <a:bodyPr lIns="0" tIns="0" rIns="0" bIns="0"/>
          <a:lstStyle/>
          <a:p>
            <a:endParaRPr lang="en-IN"/>
          </a:p>
        </p:txBody>
      </p:sp>
      <p:sp>
        <p:nvSpPr>
          <p:cNvPr id="218" name="cb218"/>
          <p:cNvSpPr/>
          <p:nvPr/>
        </p:nvSpPr>
        <p:spPr>
          <a:xfrm>
            <a:off x="777240" y="3651199"/>
            <a:ext cx="868680" cy="530352"/>
          </a:xfrm>
          <a:prstGeom prst="roundRect">
            <a:avLst>
              <a:gd name="adj" fmla="val 15517"/>
            </a:avLst>
          </a:prstGeom>
          <a:solidFill>
            <a:srgbClr val="FFFFFF"/>
          </a:solidFill>
          <a:ln w="9525">
            <a:solidFill>
              <a:srgbClr val="A100FF"/>
            </a:solidFill>
          </a:ln>
        </p:spPr>
        <p:txBody>
          <a:bodyPr wrap="square" lIns="60000" tIns="20000" rIns="60000" bIns="20000" anchor="ctr">
            <a:normAutofit/>
          </a:bodyPr>
          <a:lstStyle/>
          <a:p>
            <a:pPr algn="ctr">
              <a:spcAft>
                <a:spcPts val="0"/>
              </a:spcAft>
            </a:pPr>
            <a:r>
              <a:rPr lang="en-IN" sz="1000" b="1">
                <a:solidFill>
                  <a:srgbClr val="2B2B2B"/>
                </a:solidFill>
                <a:latin typeface="Arial" panose="020B0604020202020204" pitchFamily="34" charset="0"/>
                <a:cs typeface="Arial" panose="020B0604020202020204" pitchFamily="34" charset="0"/>
              </a:rPr>
              <a:t>App</a:t>
            </a:r>
          </a:p>
        </p:txBody>
      </p:sp>
      <p:sp>
        <p:nvSpPr>
          <p:cNvPr id="219" name="ln219"/>
          <p:cNvSpPr/>
          <p:nvPr/>
        </p:nvSpPr>
        <p:spPr>
          <a:xfrm>
            <a:off x="1645920" y="3916375"/>
            <a:ext cx="566928" cy="0"/>
          </a:xfrm>
          <a:prstGeom prst="line">
            <a:avLst/>
          </a:prstGeom>
          <a:ln w="12700">
            <a:solidFill>
              <a:srgbClr val="A100FF"/>
            </a:solidFill>
          </a:ln>
        </p:spPr>
        <p:txBody>
          <a:bodyPr/>
          <a:lstStyle/>
          <a:p>
            <a:endParaRPr lang="en-IN"/>
          </a:p>
        </p:txBody>
      </p:sp>
      <p:sp>
        <p:nvSpPr>
          <p:cNvPr id="220" name="cb220"/>
          <p:cNvSpPr/>
          <p:nvPr/>
        </p:nvSpPr>
        <p:spPr>
          <a:xfrm>
            <a:off x="2212848" y="3651199"/>
            <a:ext cx="1463040" cy="530352"/>
          </a:xfrm>
          <a:prstGeom prst="roundRect">
            <a:avLst>
              <a:gd name="adj" fmla="val 15517"/>
            </a:avLst>
          </a:prstGeom>
          <a:solidFill>
            <a:srgbClr val="FFFFFF"/>
          </a:solidFill>
          <a:ln w="9525">
            <a:solidFill>
              <a:srgbClr val="A100FF"/>
            </a:solidFill>
          </a:ln>
        </p:spPr>
        <p:txBody>
          <a:bodyPr wrap="square" lIns="60000" tIns="20000" rIns="60000" bIns="20000" anchor="ctr">
            <a:normAutofit/>
          </a:bodyPr>
          <a:lstStyle/>
          <a:p>
            <a:pPr algn="ctr">
              <a:spcAft>
                <a:spcPts val="150"/>
              </a:spcAft>
            </a:pPr>
            <a:r>
              <a:rPr lang="en-IN" sz="900" b="1">
                <a:solidFill>
                  <a:srgbClr val="A100FF"/>
                </a:solidFill>
                <a:latin typeface="Arial" panose="020B0604020202020204" pitchFamily="34" charset="0"/>
                <a:cs typeface="Arial" panose="020B0604020202020204" pitchFamily="34" charset="0"/>
              </a:rPr>
              <a:t>RISK PRIOR</a:t>
            </a:r>
          </a:p>
          <a:p>
            <a:pPr algn="ctr">
              <a:spcAft>
                <a:spcPts val="0"/>
              </a:spcAft>
            </a:pPr>
            <a:r>
              <a:rPr lang="en-IN" sz="850">
                <a:solidFill>
                  <a:srgbClr val="666666"/>
                </a:solidFill>
                <a:latin typeface="Arial" panose="020B0604020202020204" pitchFamily="34" charset="0"/>
                <a:cs typeface="Arial" panose="020B0604020202020204" pitchFamily="34" charset="0"/>
              </a:rPr>
              <a:t>request-time signals</a:t>
            </a:r>
          </a:p>
        </p:txBody>
      </p:sp>
      <p:sp>
        <p:nvSpPr>
          <p:cNvPr id="221" name="ln221"/>
          <p:cNvSpPr/>
          <p:nvPr/>
        </p:nvSpPr>
        <p:spPr>
          <a:xfrm>
            <a:off x="3675888" y="3916375"/>
            <a:ext cx="566928" cy="0"/>
          </a:xfrm>
          <a:prstGeom prst="line">
            <a:avLst/>
          </a:prstGeom>
          <a:ln w="12700">
            <a:solidFill>
              <a:srgbClr val="A100FF"/>
            </a:solidFill>
          </a:ln>
        </p:spPr>
        <p:txBody>
          <a:bodyPr/>
          <a:lstStyle/>
          <a:p>
            <a:endParaRPr lang="en-IN"/>
          </a:p>
        </p:txBody>
      </p:sp>
      <p:sp>
        <p:nvSpPr>
          <p:cNvPr id="222" name="card222"/>
          <p:cNvSpPr/>
          <p:nvPr/>
        </p:nvSpPr>
        <p:spPr>
          <a:xfrm>
            <a:off x="4242816" y="3404311"/>
            <a:ext cx="3337560" cy="1024128"/>
          </a:xfrm>
          <a:prstGeom prst="roundRect">
            <a:avLst>
              <a:gd name="adj" fmla="val 8036"/>
            </a:avLst>
          </a:prstGeom>
          <a:solidFill>
            <a:srgbClr val="F5EBFF"/>
          </a:solidFill>
          <a:ln w="9525">
            <a:solidFill>
              <a:srgbClr val="A100FF"/>
            </a:solidFill>
          </a:ln>
        </p:spPr>
        <p:txBody>
          <a:bodyPr wrap="square" lIns="60000" tIns="73152" rIns="60000" bIns="36576" anchor="t">
            <a:normAutofit/>
          </a:bodyPr>
          <a:lstStyle/>
          <a:p>
            <a:pPr algn="ctr">
              <a:spcAft>
                <a:spcPts val="0"/>
              </a:spcAft>
            </a:pPr>
            <a:r>
              <a:rPr lang="en-IN" sz="950" b="1">
                <a:solidFill>
                  <a:srgbClr val="A100FF"/>
                </a:solidFill>
                <a:latin typeface="Arial" panose="020B0604020202020204" pitchFamily="34" charset="0"/>
                <a:cs typeface="Arial" panose="020B0604020202020204" pitchFamily="34" charset="0"/>
              </a:rPr>
              <a:t>AEGIS GATEWAY</a:t>
            </a:r>
          </a:p>
          <a:p>
            <a:pPr algn="ctr"/>
            <a:endParaRPr lang="en-IN" sz="950" b="1">
              <a:solidFill>
                <a:srgbClr val="A100FF"/>
              </a:solidFill>
              <a:latin typeface="Arial" panose="020B0604020202020204" pitchFamily="34" charset="0"/>
              <a:cs typeface="Arial" panose="020B0604020202020204" pitchFamily="34" charset="0"/>
            </a:endParaRPr>
          </a:p>
        </p:txBody>
      </p:sp>
      <p:sp>
        <p:nvSpPr>
          <p:cNvPr id="223" name="cb223"/>
          <p:cNvSpPr/>
          <p:nvPr/>
        </p:nvSpPr>
        <p:spPr>
          <a:xfrm>
            <a:off x="4407408" y="3696919"/>
            <a:ext cx="3008376" cy="210312"/>
          </a:xfrm>
          <a:prstGeom prst="roundRect">
            <a:avLst>
              <a:gd name="adj" fmla="val 50000"/>
            </a:avLst>
          </a:prstGeom>
          <a:solidFill>
            <a:srgbClr val="FFFFFF"/>
          </a:solidFill>
          <a:ln w="9525">
            <a:solidFill>
              <a:srgbClr val="A100FF"/>
            </a:solidFill>
          </a:ln>
        </p:spPr>
        <p:txBody>
          <a:bodyPr wrap="square" lIns="60000" tIns="20000" rIns="60000" bIns="20000" anchor="ctr">
            <a:normAutofit/>
          </a:bodyPr>
          <a:lstStyle/>
          <a:p>
            <a:pPr algn="ctr">
              <a:spcAft>
                <a:spcPts val="0"/>
              </a:spcAft>
            </a:pPr>
            <a:r>
              <a:rPr lang="en-IN" sz="850" b="1">
                <a:solidFill>
                  <a:srgbClr val="A100FF"/>
                </a:solidFill>
                <a:latin typeface="Arial" panose="020B0604020202020204" pitchFamily="34" charset="0"/>
                <a:cs typeface="Arial" panose="020B0604020202020204" pitchFamily="34" charset="0"/>
              </a:rPr>
              <a:t>PERFORMANCE</a:t>
            </a:r>
          </a:p>
        </p:txBody>
      </p:sp>
      <p:sp>
        <p:nvSpPr>
          <p:cNvPr id="224" name="cb224"/>
          <p:cNvSpPr/>
          <p:nvPr/>
        </p:nvSpPr>
        <p:spPr>
          <a:xfrm>
            <a:off x="4407408" y="3925519"/>
            <a:ext cx="3008376" cy="210312"/>
          </a:xfrm>
          <a:prstGeom prst="roundRect">
            <a:avLst>
              <a:gd name="adj" fmla="val 50000"/>
            </a:avLst>
          </a:prstGeom>
          <a:solidFill>
            <a:srgbClr val="FFFFFF"/>
          </a:solidFill>
          <a:ln w="9525">
            <a:solidFill>
              <a:srgbClr val="A100FF"/>
            </a:solidFill>
          </a:ln>
        </p:spPr>
        <p:txBody>
          <a:bodyPr wrap="square" lIns="60000" tIns="20000" rIns="60000" bIns="20000" anchor="ctr">
            <a:normAutofit/>
          </a:bodyPr>
          <a:lstStyle/>
          <a:p>
            <a:pPr algn="ctr">
              <a:spcAft>
                <a:spcPts val="0"/>
              </a:spcAft>
            </a:pPr>
            <a:r>
              <a:rPr lang="en-IN" sz="900" b="1">
                <a:solidFill>
                  <a:srgbClr val="A100FF"/>
                </a:solidFill>
                <a:latin typeface="Arial"/>
                <a:cs typeface="Arial"/>
              </a:rPr>
              <a:t>COST</a:t>
            </a:r>
          </a:p>
        </p:txBody>
      </p:sp>
      <p:sp>
        <p:nvSpPr>
          <p:cNvPr id="225" name="cb225"/>
          <p:cNvSpPr/>
          <p:nvPr/>
        </p:nvSpPr>
        <p:spPr>
          <a:xfrm>
            <a:off x="4407408" y="4154119"/>
            <a:ext cx="3008376" cy="210312"/>
          </a:xfrm>
          <a:prstGeom prst="roundRect">
            <a:avLst>
              <a:gd name="adj" fmla="val 50000"/>
            </a:avLst>
          </a:prstGeom>
          <a:solidFill>
            <a:srgbClr val="FFFFFF"/>
          </a:solidFill>
          <a:ln w="9525">
            <a:solidFill>
              <a:srgbClr val="A100FF"/>
            </a:solidFill>
          </a:ln>
        </p:spPr>
        <p:txBody>
          <a:bodyPr wrap="square" lIns="60000" tIns="20000" rIns="60000" bIns="20000" anchor="ctr">
            <a:normAutofit/>
          </a:bodyPr>
          <a:lstStyle/>
          <a:p>
            <a:pPr algn="ctr">
              <a:spcAft>
                <a:spcPts val="0"/>
              </a:spcAft>
            </a:pPr>
            <a:r>
              <a:rPr lang="en-IN" sz="900" b="1">
                <a:solidFill>
                  <a:srgbClr val="A100FF"/>
                </a:solidFill>
                <a:latin typeface="Arial"/>
                <a:cs typeface="Arial"/>
              </a:rPr>
              <a:t>RESPONSIBILITY</a:t>
            </a:r>
          </a:p>
        </p:txBody>
      </p:sp>
      <p:sp>
        <p:nvSpPr>
          <p:cNvPr id="226" name="ln226"/>
          <p:cNvSpPr/>
          <p:nvPr/>
        </p:nvSpPr>
        <p:spPr>
          <a:xfrm>
            <a:off x="7580376" y="3916375"/>
            <a:ext cx="566928" cy="0"/>
          </a:xfrm>
          <a:prstGeom prst="line">
            <a:avLst/>
          </a:prstGeom>
          <a:ln w="12700">
            <a:solidFill>
              <a:srgbClr val="A100FF"/>
            </a:solidFill>
          </a:ln>
        </p:spPr>
        <p:txBody>
          <a:bodyPr/>
          <a:lstStyle/>
          <a:p>
            <a:endParaRPr lang="en-IN"/>
          </a:p>
        </p:txBody>
      </p:sp>
      <p:sp>
        <p:nvSpPr>
          <p:cNvPr id="227" name="cb227"/>
          <p:cNvSpPr/>
          <p:nvPr/>
        </p:nvSpPr>
        <p:spPr>
          <a:xfrm>
            <a:off x="8147304" y="3445459"/>
            <a:ext cx="1737360" cy="283464"/>
          </a:xfrm>
          <a:prstGeom prst="roundRect">
            <a:avLst>
              <a:gd name="adj" fmla="val 50000"/>
            </a:avLst>
          </a:prstGeom>
          <a:solidFill>
            <a:srgbClr val="FFFFFF"/>
          </a:solidFill>
          <a:ln w="9525">
            <a:solidFill>
              <a:srgbClr val="1E9E4A"/>
            </a:solidFill>
          </a:ln>
        </p:spPr>
        <p:txBody>
          <a:bodyPr wrap="square" lIns="60000" tIns="20000" rIns="60000" bIns="20000" anchor="ctr">
            <a:normAutofit/>
          </a:bodyPr>
          <a:lstStyle/>
          <a:p>
            <a:pPr algn="ctr">
              <a:spcAft>
                <a:spcPts val="0"/>
              </a:spcAft>
            </a:pPr>
            <a:r>
              <a:rPr lang="en-IN" sz="850" b="1">
                <a:solidFill>
                  <a:srgbClr val="1E9E4A"/>
                </a:solidFill>
                <a:latin typeface="Arial"/>
                <a:cs typeface="Arial"/>
              </a:rPr>
              <a:t>GREEN - deliver</a:t>
            </a:r>
          </a:p>
        </p:txBody>
      </p:sp>
      <p:sp>
        <p:nvSpPr>
          <p:cNvPr id="228" name="cb228"/>
          <p:cNvSpPr/>
          <p:nvPr/>
        </p:nvSpPr>
        <p:spPr>
          <a:xfrm>
            <a:off x="8147304" y="3774643"/>
            <a:ext cx="1737360" cy="283464"/>
          </a:xfrm>
          <a:prstGeom prst="roundRect">
            <a:avLst>
              <a:gd name="adj" fmla="val 50000"/>
            </a:avLst>
          </a:prstGeom>
          <a:solidFill>
            <a:srgbClr val="FFFFFF"/>
          </a:solidFill>
          <a:ln w="9525">
            <a:solidFill>
              <a:srgbClr val="D69500"/>
            </a:solidFill>
          </a:ln>
        </p:spPr>
        <p:txBody>
          <a:bodyPr wrap="square" lIns="60000" tIns="20000" rIns="60000" bIns="20000" anchor="ctr">
            <a:normAutofit/>
          </a:bodyPr>
          <a:lstStyle/>
          <a:p>
            <a:pPr algn="ctr">
              <a:spcAft>
                <a:spcPts val="0"/>
              </a:spcAft>
            </a:pPr>
            <a:r>
              <a:rPr lang="en-IN" sz="850" b="1">
                <a:solidFill>
                  <a:srgbClr val="D69500"/>
                </a:solidFill>
                <a:latin typeface="Arial"/>
                <a:cs typeface="Arial"/>
              </a:rPr>
              <a:t>YELLOW - auto-edit</a:t>
            </a:r>
          </a:p>
        </p:txBody>
      </p:sp>
      <p:sp>
        <p:nvSpPr>
          <p:cNvPr id="229" name="cb229"/>
          <p:cNvSpPr/>
          <p:nvPr/>
        </p:nvSpPr>
        <p:spPr>
          <a:xfrm>
            <a:off x="8147304" y="4103827"/>
            <a:ext cx="1737360" cy="283464"/>
          </a:xfrm>
          <a:prstGeom prst="roundRect">
            <a:avLst>
              <a:gd name="adj" fmla="val 50000"/>
            </a:avLst>
          </a:prstGeom>
          <a:solidFill>
            <a:srgbClr val="FFFFFF"/>
          </a:solidFill>
          <a:ln w="9525">
            <a:solidFill>
              <a:srgbClr val="D0342C"/>
            </a:solidFill>
          </a:ln>
        </p:spPr>
        <p:txBody>
          <a:bodyPr wrap="square" lIns="60000" tIns="20000" rIns="60000" bIns="20000" anchor="ctr">
            <a:normAutofit/>
          </a:bodyPr>
          <a:lstStyle/>
          <a:p>
            <a:pPr algn="ctr">
              <a:spcAft>
                <a:spcPts val="0"/>
              </a:spcAft>
            </a:pPr>
            <a:r>
              <a:rPr lang="en-IN" sz="850" b="1">
                <a:solidFill>
                  <a:srgbClr val="D0342C"/>
                </a:solidFill>
                <a:latin typeface="Arial"/>
                <a:cs typeface="Arial"/>
              </a:rPr>
              <a:t>RED - hold / escalate</a:t>
            </a:r>
          </a:p>
        </p:txBody>
      </p:sp>
      <p:sp>
        <p:nvSpPr>
          <p:cNvPr id="230" name="ln230"/>
          <p:cNvSpPr/>
          <p:nvPr/>
        </p:nvSpPr>
        <p:spPr>
          <a:xfrm>
            <a:off x="9884664" y="3916375"/>
            <a:ext cx="566928" cy="0"/>
          </a:xfrm>
          <a:prstGeom prst="line">
            <a:avLst/>
          </a:prstGeom>
          <a:ln w="12700">
            <a:solidFill>
              <a:srgbClr val="A100FF"/>
            </a:solidFill>
          </a:ln>
        </p:spPr>
        <p:txBody>
          <a:bodyPr/>
          <a:lstStyle/>
          <a:p>
            <a:endParaRPr lang="en-IN"/>
          </a:p>
        </p:txBody>
      </p:sp>
      <p:sp>
        <p:nvSpPr>
          <p:cNvPr id="231" name="cb231"/>
          <p:cNvSpPr/>
          <p:nvPr/>
        </p:nvSpPr>
        <p:spPr>
          <a:xfrm>
            <a:off x="10451592" y="3651199"/>
            <a:ext cx="960120" cy="530352"/>
          </a:xfrm>
          <a:prstGeom prst="roundRect">
            <a:avLst>
              <a:gd name="adj" fmla="val 15517"/>
            </a:avLst>
          </a:prstGeom>
          <a:solidFill>
            <a:srgbClr val="FFFFFF"/>
          </a:solidFill>
          <a:ln w="9525">
            <a:solidFill>
              <a:srgbClr val="A100FF"/>
            </a:solidFill>
          </a:ln>
        </p:spPr>
        <p:txBody>
          <a:bodyPr wrap="square" lIns="60000" tIns="20000" rIns="60000" bIns="20000" anchor="ctr">
            <a:normAutofit/>
          </a:bodyPr>
          <a:lstStyle/>
          <a:p>
            <a:pPr algn="ctr">
              <a:spcAft>
                <a:spcPts val="0"/>
              </a:spcAft>
            </a:pPr>
            <a:r>
              <a:rPr lang="en-IN" sz="1000" b="1">
                <a:solidFill>
                  <a:srgbClr val="2B2B2B"/>
                </a:solidFill>
                <a:latin typeface="Arial" panose="020B0604020202020204" pitchFamily="34" charset="0"/>
                <a:cs typeface="Arial" panose="020B0604020202020204" pitchFamily="34" charset="0"/>
              </a:rPr>
              <a:t>User</a:t>
            </a:r>
          </a:p>
        </p:txBody>
      </p:sp>
      <p:sp>
        <p:nvSpPr>
          <p:cNvPr id="232" name="ln232"/>
          <p:cNvSpPr/>
          <p:nvPr/>
        </p:nvSpPr>
        <p:spPr>
          <a:xfrm>
            <a:off x="10931652" y="4181551"/>
            <a:ext cx="0" cy="466344"/>
          </a:xfrm>
          <a:prstGeom prst="line">
            <a:avLst/>
          </a:prstGeom>
          <a:ln w="9525">
            <a:solidFill>
              <a:srgbClr val="9E9E9E"/>
            </a:solidFill>
          </a:ln>
        </p:spPr>
        <p:txBody>
          <a:bodyPr/>
          <a:lstStyle/>
          <a:p>
            <a:endParaRPr lang="en-IN"/>
          </a:p>
        </p:txBody>
      </p:sp>
      <p:sp>
        <p:nvSpPr>
          <p:cNvPr id="233" name="ln233"/>
          <p:cNvSpPr/>
          <p:nvPr/>
        </p:nvSpPr>
        <p:spPr>
          <a:xfrm>
            <a:off x="5911596" y="4647895"/>
            <a:ext cx="5020056" cy="0"/>
          </a:xfrm>
          <a:prstGeom prst="line">
            <a:avLst/>
          </a:prstGeom>
          <a:ln w="9525">
            <a:solidFill>
              <a:srgbClr val="9E9E9E"/>
            </a:solidFill>
          </a:ln>
        </p:spPr>
        <p:txBody>
          <a:bodyPr/>
          <a:lstStyle/>
          <a:p>
            <a:endParaRPr lang="en-IN"/>
          </a:p>
        </p:txBody>
      </p:sp>
      <p:sp>
        <p:nvSpPr>
          <p:cNvPr id="234" name="ln234"/>
          <p:cNvSpPr/>
          <p:nvPr/>
        </p:nvSpPr>
        <p:spPr>
          <a:xfrm flipV="1">
            <a:off x="5911596" y="4428439"/>
            <a:ext cx="0" cy="219456"/>
          </a:xfrm>
          <a:prstGeom prst="line">
            <a:avLst/>
          </a:prstGeom>
          <a:ln w="9525">
            <a:solidFill>
              <a:srgbClr val="9E9E9E"/>
            </a:solidFill>
          </a:ln>
        </p:spPr>
        <p:txBody>
          <a:bodyPr/>
          <a:lstStyle/>
          <a:p>
            <a:endParaRPr lang="en-IN"/>
          </a:p>
        </p:txBody>
      </p:sp>
      <p:sp>
        <p:nvSpPr>
          <p:cNvPr id="235" name="cb235"/>
          <p:cNvSpPr/>
          <p:nvPr/>
        </p:nvSpPr>
        <p:spPr>
          <a:xfrm>
            <a:off x="6858000" y="4510735"/>
            <a:ext cx="2468880" cy="274320"/>
          </a:xfrm>
          <a:prstGeom prst="roundRect">
            <a:avLst>
              <a:gd name="adj" fmla="val 50000"/>
            </a:avLst>
          </a:prstGeom>
          <a:solidFill>
            <a:srgbClr val="F5EBFF"/>
          </a:solidFill>
          <a:ln w="9525">
            <a:solidFill>
              <a:srgbClr val="A100FF"/>
            </a:solidFill>
          </a:ln>
        </p:spPr>
        <p:txBody>
          <a:bodyPr wrap="square" lIns="60000" tIns="20000" rIns="60000" bIns="20000" anchor="ctr">
            <a:normAutofit/>
          </a:bodyPr>
          <a:lstStyle/>
          <a:p>
            <a:pPr algn="ctr">
              <a:spcAft>
                <a:spcPts val="0"/>
              </a:spcAft>
            </a:pPr>
            <a:r>
              <a:rPr lang="en-IN" sz="850" b="1">
                <a:solidFill>
                  <a:srgbClr val="A100FF"/>
                </a:solidFill>
                <a:latin typeface="Arial" panose="020B0604020202020204" pitchFamily="34" charset="0"/>
                <a:cs typeface="Arial" panose="020B0604020202020204" pitchFamily="34" charset="0"/>
              </a:rPr>
              <a:t>FLAGS → CHECKER TRAINING DATA</a:t>
            </a:r>
          </a:p>
        </p:txBody>
      </p:sp>
      <p:sp>
        <p:nvSpPr>
          <p:cNvPr id="236" name="cb236"/>
          <p:cNvSpPr/>
          <p:nvPr/>
        </p:nvSpPr>
        <p:spPr>
          <a:xfrm>
            <a:off x="9509760" y="4538167"/>
            <a:ext cx="960120" cy="219456"/>
          </a:xfrm>
          <a:prstGeom prst="roundRect">
            <a:avLst>
              <a:gd name="adj" fmla="val 37500"/>
            </a:avLst>
          </a:prstGeom>
          <a:solidFill>
            <a:srgbClr val="FFFFFF"/>
          </a:solidFill>
          <a:ln>
            <a:solidFill>
              <a:srgbClr val="4472C4"/>
            </a:solidFill>
          </a:ln>
        </p:spPr>
        <p:txBody>
          <a:bodyPr wrap="square" lIns="60000" tIns="20000" rIns="60000" bIns="20000" anchor="ctr">
            <a:normAutofit/>
          </a:bodyPr>
          <a:lstStyle/>
          <a:p>
            <a:pPr algn="ctr">
              <a:spcAft>
                <a:spcPts val="0"/>
              </a:spcAft>
            </a:pPr>
            <a:r>
              <a:rPr lang="en-IN" sz="850" i="1">
                <a:solidFill>
                  <a:srgbClr val="666666"/>
                </a:solidFill>
                <a:latin typeface="Arial" panose="020B0604020202020204" pitchFamily="34" charset="0"/>
                <a:cs typeface="Arial" panose="020B0604020202020204" pitchFamily="34" charset="0"/>
              </a:rPr>
              <a:t>async audit</a:t>
            </a:r>
          </a:p>
        </p:txBody>
      </p:sp>
      <p:sp>
        <p:nvSpPr>
          <p:cNvPr id="238" name="card238"/>
          <p:cNvSpPr/>
          <p:nvPr/>
        </p:nvSpPr>
        <p:spPr>
          <a:xfrm>
            <a:off x="365760" y="5022799"/>
            <a:ext cx="11457432" cy="1237183"/>
          </a:xfrm>
          <a:prstGeom prst="roundRect">
            <a:avLst>
              <a:gd name="adj" fmla="val 6652"/>
            </a:avLst>
          </a:prstGeom>
          <a:solidFill>
            <a:srgbClr val="FFFFFF"/>
          </a:solidFill>
          <a:ln w="9525">
            <a:solidFill>
              <a:srgbClr val="A100FF"/>
            </a:solidFill>
          </a:ln>
        </p:spPr>
        <p:txBody>
          <a:bodyPr wrap="square" lIns="118872" tIns="91440" rIns="118872" bIns="73152" anchor="ctr">
            <a:normAutofit/>
          </a:bodyPr>
          <a:lstStyle/>
          <a:p>
            <a:pPr>
              <a:spcAft>
                <a:spcPts val="400"/>
              </a:spcAft>
            </a:pPr>
            <a:r>
              <a:rPr lang="en-IN" sz="1400" b="1">
                <a:solidFill>
                  <a:srgbClr val="A100FF"/>
                </a:solidFill>
                <a:latin typeface="Arial"/>
                <a:cs typeface="Arial"/>
              </a:rPr>
              <a:t>DEPLOYMENT</a:t>
            </a:r>
          </a:p>
          <a:p>
            <a:pPr>
              <a:lnSpc>
                <a:spcPct val="112000"/>
              </a:lnSpc>
              <a:spcAft>
                <a:spcPts val="600"/>
              </a:spcAft>
            </a:pPr>
            <a:r>
              <a:rPr lang="en-IN" sz="1200">
                <a:solidFill>
                  <a:srgbClr val="2B2B2B"/>
                </a:solidFill>
                <a:latin typeface="Arial"/>
                <a:cs typeface="Arial"/>
              </a:rPr>
              <a:t>A reverse proxy in front of existing LLM traffic - one base-URL change, no retraining; owned by the AI-platform team.</a:t>
            </a:r>
          </a:p>
          <a:p>
            <a:pPr>
              <a:spcAft>
                <a:spcPts val="400"/>
              </a:spcAft>
            </a:pPr>
            <a:r>
              <a:rPr lang="en-IN" sz="1400" b="1">
                <a:solidFill>
                  <a:srgbClr val="A100FF"/>
                </a:solidFill>
                <a:latin typeface="Arial"/>
                <a:cs typeface="Arial"/>
              </a:rPr>
              <a:t>WHAT SHIPS TODAY</a:t>
            </a:r>
          </a:p>
          <a:p>
            <a:pPr>
              <a:lnSpc>
                <a:spcPct val="112000"/>
              </a:lnSpc>
              <a:spcAft>
                <a:spcPts val="0"/>
              </a:spcAft>
            </a:pPr>
            <a:r>
              <a:rPr lang="en-IN" sz="1200">
                <a:solidFill>
                  <a:srgbClr val="2B2B2B"/>
                </a:solidFill>
                <a:latin typeface="Arial"/>
                <a:cs typeface="Arial"/>
              </a:rPr>
              <a:t>Four use-case policies ship, with deliberately different risk and latency profiles. Competitive positioning is on its own slide later in this deck.</a:t>
            </a:r>
          </a:p>
        </p:txBody>
      </p:sp>
      <p:sp>
        <p:nvSpPr>
          <p:cNvPr id="903"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4</a:t>
            </a:fld>
            <a:endParaRPr lang="en-IN" sz="1000"/>
          </a:p>
        </p:txBody>
      </p:sp>
    </p:spTree>
    <p:extLst>
      <p:ext uri="{BB962C8B-B14F-4D97-AF65-F5344CB8AC3E}">
        <p14:creationId xmlns:p14="http://schemas.microsoft.com/office/powerpoint/2010/main" val="2205980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Solution architecture: five stages, one decision per response</a:t>
            </a:r>
          </a:p>
        </p:txBody>
      </p:sp>
      <p:sp>
        <p:nvSpPr>
          <p:cNvPr id="102" name="lede"/>
          <p:cNvSpPr>
            <a:spLocks noGrp="1"/>
          </p:cNvSpPr>
          <p:nvPr/>
        </p:nvSpPr>
        <p:spPr>
          <a:xfrm>
            <a:off x="365760" y="941832"/>
            <a:ext cx="11457432" cy="557784"/>
          </a:xfrm>
          <a:prstGeom prst="rect">
            <a:avLst/>
          </a:prstGeom>
          <a:noFill/>
          <a:ln>
            <a:noFill/>
          </a:ln>
        </p:spPr>
        <p:txBody>
          <a:bodyPr lIns="0" tIns="0" rIns="0" bIns="0" anchor="t">
            <a:normAutofit/>
          </a:bodyPr>
          <a:lstStyle/>
          <a:p>
            <a:pPr>
              <a:lnSpc>
                <a:spcPct val="112000"/>
              </a:lnSpc>
              <a:spcAft>
                <a:spcPts val="0"/>
              </a:spcAft>
            </a:pPr>
            <a:r>
              <a:rPr lang="en-IN" sz="1200" b="1">
                <a:latin typeface="Arial"/>
                <a:cs typeface="Arial"/>
              </a:rPr>
              <a:t>The ordering is the design. </a:t>
            </a:r>
            <a:r>
              <a:rPr lang="en-IN" sz="1200">
                <a:latin typeface="Arial"/>
                <a:cs typeface="Arial"/>
              </a:rPr>
              <a:t>The prior runs before generation because it sets the latency posture. The cheap checks run before the verifier because they decide whether the verifier is worth paying for. The verifier runs under a deadline because a check that overruns its budget has failed, not succeeded.</a:t>
            </a:r>
          </a:p>
        </p:txBody>
      </p:sp>
      <p:sp>
        <p:nvSpPr>
          <p:cNvPr id="103" name="card"/>
          <p:cNvSpPr>
            <a:spLocks noGrp="1"/>
          </p:cNvSpPr>
          <p:nvPr/>
        </p:nvSpPr>
        <p:spPr>
          <a:xfrm>
            <a:off x="365760" y="1440247"/>
            <a:ext cx="2174726" cy="1617935"/>
          </a:xfrm>
          <a:prstGeom prst="roundRect">
            <a:avLst>
              <a:gd name="adj" fmla="val 6452"/>
            </a:avLst>
          </a:prstGeom>
          <a:solidFill>
            <a:srgbClr val="F5EBFF"/>
          </a:solidFill>
          <a:ln>
            <a:noFill/>
          </a:ln>
        </p:spPr>
        <p:txBody>
          <a:bodyPr lIns="91440" tIns="82296" rIns="91440" bIns="54864" anchor="t">
            <a:noAutofit/>
          </a:bodyPr>
          <a:lstStyle/>
          <a:p>
            <a:pPr>
              <a:spcAft>
                <a:spcPts val="400"/>
              </a:spcAft>
            </a:pPr>
            <a:r>
              <a:rPr lang="en-IN" sz="1400" b="1">
                <a:solidFill>
                  <a:srgbClr val="A100FF"/>
                </a:solidFill>
                <a:latin typeface="Arial"/>
                <a:cs typeface="Arial"/>
              </a:rPr>
              <a:t>1 · RISK PRIOR</a:t>
            </a:r>
          </a:p>
          <a:p>
            <a:pPr>
              <a:lnSpc>
                <a:spcPct val="107000"/>
              </a:lnSpc>
              <a:spcAft>
                <a:spcPts val="0"/>
              </a:spcAft>
            </a:pPr>
            <a:r>
              <a:rPr lang="en-IN" sz="1200">
                <a:latin typeface="Arial"/>
                <a:cs typeface="Arial"/>
              </a:rPr>
              <a:t>Before a token is generated. Request signals (endpoint, transaction value, user tier, data sensitivity, geo) set the stakes tier and the latency posture.</a:t>
            </a:r>
          </a:p>
        </p:txBody>
      </p:sp>
      <p:sp>
        <p:nvSpPr>
          <p:cNvPr id="104" name="card"/>
          <p:cNvSpPr>
            <a:spLocks noGrp="1"/>
          </p:cNvSpPr>
          <p:nvPr/>
        </p:nvSpPr>
        <p:spPr>
          <a:xfrm>
            <a:off x="2697480" y="1440247"/>
            <a:ext cx="2174726" cy="1617935"/>
          </a:xfrm>
          <a:prstGeom prst="roundRect">
            <a:avLst>
              <a:gd name="adj" fmla="val 6452"/>
            </a:avLst>
          </a:prstGeom>
          <a:solidFill>
            <a:srgbClr val="F5EBFF"/>
          </a:solidFill>
          <a:ln>
            <a:noFill/>
          </a:ln>
        </p:spPr>
        <p:txBody>
          <a:bodyPr lIns="91440" tIns="82296" rIns="91440" bIns="54864" anchor="t">
            <a:noAutofit/>
          </a:bodyPr>
          <a:lstStyle/>
          <a:p>
            <a:pPr>
              <a:spcAft>
                <a:spcPts val="400"/>
              </a:spcAft>
            </a:pPr>
            <a:r>
              <a:rPr lang="en-IN" sz="1400" b="1">
                <a:solidFill>
                  <a:srgbClr val="A100FF"/>
                </a:solidFill>
                <a:latin typeface="Arial"/>
                <a:cs typeface="Arial"/>
              </a:rPr>
              <a:t>2 · EVIDENCE</a:t>
            </a:r>
          </a:p>
          <a:p>
            <a:pPr>
              <a:lnSpc>
                <a:spcPct val="107000"/>
              </a:lnSpc>
              <a:spcAft>
                <a:spcPts val="0"/>
              </a:spcAft>
            </a:pPr>
            <a:r>
              <a:rPr lang="en-IN" sz="1200">
                <a:latin typeface="Arial"/>
                <a:cs typeface="Arial"/>
              </a:rPr>
              <a:t>After generation, ordered by cost. Context is prepared once, then the cheap tier (cost telemetry, PII and policy, grounding proxies) runs on 100% of held traffic.</a:t>
            </a:r>
          </a:p>
        </p:txBody>
      </p:sp>
      <p:sp>
        <p:nvSpPr>
          <p:cNvPr id="105" name="card"/>
          <p:cNvSpPr>
            <a:spLocks noGrp="1"/>
          </p:cNvSpPr>
          <p:nvPr/>
        </p:nvSpPr>
        <p:spPr>
          <a:xfrm>
            <a:off x="5029200" y="1440247"/>
            <a:ext cx="2174726" cy="1617935"/>
          </a:xfrm>
          <a:prstGeom prst="roundRect">
            <a:avLst>
              <a:gd name="adj" fmla="val 6452"/>
            </a:avLst>
          </a:prstGeom>
          <a:solidFill>
            <a:srgbClr val="F5EBFF"/>
          </a:solidFill>
          <a:ln>
            <a:noFill/>
          </a:ln>
        </p:spPr>
        <p:txBody>
          <a:bodyPr lIns="91440" tIns="82296" rIns="91440" bIns="54864" anchor="t">
            <a:noAutofit/>
          </a:bodyPr>
          <a:lstStyle/>
          <a:p>
            <a:pPr>
              <a:spcAft>
                <a:spcPts val="400"/>
              </a:spcAft>
            </a:pPr>
            <a:r>
              <a:rPr lang="en-IN" sz="1400" b="1">
                <a:solidFill>
                  <a:srgbClr val="A100FF"/>
                </a:solidFill>
                <a:latin typeface="Arial"/>
                <a:cs typeface="Arial"/>
              </a:rPr>
              <a:t>3 · ADAPTIVE GATE</a:t>
            </a:r>
          </a:p>
          <a:p>
            <a:pPr>
              <a:lnSpc>
                <a:spcPct val="107000"/>
              </a:lnSpc>
              <a:spcAft>
                <a:spcPts val="0"/>
              </a:spcAft>
            </a:pPr>
            <a:r>
              <a:rPr lang="en-IN" sz="1200" dirty="0">
                <a:latin typeface="Arial"/>
                <a:cs typeface="Arial"/>
              </a:rPr>
              <a:t>Does this response earn the verifier? T2 always does; so does any response whose cheap score clears the threshold; plus an exploration sample.</a:t>
            </a:r>
          </a:p>
        </p:txBody>
      </p:sp>
      <p:sp>
        <p:nvSpPr>
          <p:cNvPr id="106" name="card"/>
          <p:cNvSpPr>
            <a:spLocks noGrp="1"/>
          </p:cNvSpPr>
          <p:nvPr/>
        </p:nvSpPr>
        <p:spPr>
          <a:xfrm>
            <a:off x="7360920" y="1440247"/>
            <a:ext cx="2174726" cy="1617935"/>
          </a:xfrm>
          <a:prstGeom prst="roundRect">
            <a:avLst>
              <a:gd name="adj" fmla="val 6452"/>
            </a:avLst>
          </a:prstGeom>
          <a:solidFill>
            <a:srgbClr val="F5EBFF"/>
          </a:solidFill>
          <a:ln>
            <a:noFill/>
          </a:ln>
        </p:spPr>
        <p:txBody>
          <a:bodyPr lIns="91440" tIns="82296" rIns="91440" bIns="54864" anchor="t">
            <a:noAutofit/>
          </a:bodyPr>
          <a:lstStyle/>
          <a:p>
            <a:pPr>
              <a:spcAft>
                <a:spcPts val="400"/>
              </a:spcAft>
            </a:pPr>
            <a:r>
              <a:rPr lang="en-IN" sz="1200" b="1">
                <a:solidFill>
                  <a:srgbClr val="A100FF"/>
                </a:solidFill>
                <a:latin typeface="Arial"/>
                <a:cs typeface="Arial"/>
              </a:rPr>
              <a:t>4 · DECISION</a:t>
            </a:r>
          </a:p>
          <a:p>
            <a:pPr>
              <a:lnSpc>
                <a:spcPct val="107000"/>
              </a:lnSpc>
              <a:spcAft>
                <a:spcPts val="0"/>
              </a:spcAft>
            </a:pPr>
            <a:r>
              <a:rPr lang="en-IN" sz="1100">
                <a:latin typeface="Arial"/>
                <a:cs typeface="Arial"/>
              </a:rPr>
              <a:t>Calibrated per-lane models produce p, widened into an uncertainty band by missing evidence. T0 fails open, T1/T2 fail closed. Thresholds derive from the policy's stated λ.</a:t>
            </a:r>
          </a:p>
        </p:txBody>
      </p:sp>
      <p:sp>
        <p:nvSpPr>
          <p:cNvPr id="107" name="card"/>
          <p:cNvSpPr>
            <a:spLocks noGrp="1"/>
          </p:cNvSpPr>
          <p:nvPr/>
        </p:nvSpPr>
        <p:spPr>
          <a:xfrm>
            <a:off x="9692640" y="1440247"/>
            <a:ext cx="2174726" cy="1617935"/>
          </a:xfrm>
          <a:prstGeom prst="roundRect">
            <a:avLst>
              <a:gd name="adj" fmla="val 6452"/>
            </a:avLst>
          </a:prstGeom>
          <a:solidFill>
            <a:srgbClr val="F5EBFF"/>
          </a:solidFill>
          <a:ln>
            <a:noFill/>
          </a:ln>
        </p:spPr>
        <p:txBody>
          <a:bodyPr lIns="91440" tIns="82296" rIns="91440" bIns="54864" anchor="t">
            <a:noAutofit/>
          </a:bodyPr>
          <a:lstStyle/>
          <a:p>
            <a:pPr>
              <a:spcAft>
                <a:spcPts val="400"/>
              </a:spcAft>
            </a:pPr>
            <a:r>
              <a:rPr lang="en-IN" sz="1400" b="1">
                <a:solidFill>
                  <a:srgbClr val="A100FF"/>
                </a:solidFill>
                <a:latin typeface="Arial"/>
                <a:cs typeface="Arial"/>
              </a:rPr>
              <a:t>5 · ASYNC DEEP PASS</a:t>
            </a:r>
          </a:p>
          <a:p>
            <a:pPr>
              <a:lnSpc>
                <a:spcPct val="107000"/>
              </a:lnSpc>
              <a:spcAft>
                <a:spcPts val="0"/>
              </a:spcAft>
            </a:pPr>
            <a:r>
              <a:rPr lang="en-IN" sz="1200">
                <a:latin typeface="Arial"/>
                <a:cs typeface="Arial"/>
              </a:rPr>
              <a:t>After release, with no latency ceiling: full verifier plus bias. A streamed response now flagged is retracted; a held one is escalated post hoc.</a:t>
            </a:r>
          </a:p>
        </p:txBody>
      </p:sp>
      <p:sp>
        <p:nvSpPr>
          <p:cNvPr id="904" name="rule"/>
          <p:cNvSpPr/>
          <p:nvPr/>
        </p:nvSpPr>
        <p:spPr>
          <a:xfrm>
            <a:off x="266369" y="3187347"/>
            <a:ext cx="11457432" cy="0"/>
          </a:xfrm>
          <a:prstGeom prst="line">
            <a:avLst/>
          </a:prstGeom>
          <a:ln w="9525" cap="flat">
            <a:solidFill>
              <a:srgbClr val="E6DCFF"/>
            </a:solidFill>
          </a:ln>
        </p:spPr>
        <p:txBody>
          <a:bodyPr/>
          <a:lstStyle/>
          <a:p>
            <a:endParaRPr lang="en-IN"/>
          </a:p>
        </p:txBody>
      </p:sp>
      <p:sp>
        <p:nvSpPr>
          <p:cNvPr id="108" name="card"/>
          <p:cNvSpPr>
            <a:spLocks noGrp="1"/>
          </p:cNvSpPr>
          <p:nvPr/>
        </p:nvSpPr>
        <p:spPr>
          <a:xfrm>
            <a:off x="365760" y="3338598"/>
            <a:ext cx="3685032" cy="862279"/>
          </a:xfrm>
          <a:prstGeom prst="roundRect">
            <a:avLst>
              <a:gd name="adj" fmla="val 9544"/>
            </a:avLst>
          </a:prstGeom>
          <a:solidFill>
            <a:srgbClr val="FFFFFF"/>
          </a:solidFill>
          <a:ln w="9525">
            <a:solidFill>
              <a:srgbClr val="A100FF"/>
            </a:solidFill>
          </a:ln>
        </p:spPr>
        <p:txBody>
          <a:bodyPr lIns="118872" tIns="91440" rIns="118872" bIns="73152" anchor="t">
            <a:normAutofit fontScale="92500"/>
          </a:bodyPr>
          <a:lstStyle/>
          <a:p>
            <a:pPr>
              <a:spcAft>
                <a:spcPts val="400"/>
              </a:spcAft>
            </a:pPr>
            <a:r>
              <a:rPr lang="en-IN" sz="1100" b="1">
                <a:solidFill>
                  <a:srgbClr val="A100FF"/>
                </a:solidFill>
                <a:latin typeface="Arial"/>
                <a:cs typeface="Arial"/>
              </a:rPr>
              <a:t>T0 · STREAM</a:t>
            </a:r>
          </a:p>
          <a:p>
            <a:pPr>
              <a:lnSpc>
                <a:spcPct val="107000"/>
              </a:lnSpc>
              <a:spcAft>
                <a:spcPts val="0"/>
              </a:spcAft>
            </a:pPr>
            <a:r>
              <a:rPr lang="en-IN" sz="1100">
                <a:latin typeface="Arial"/>
                <a:cs typeface="Arial"/>
              </a:rPr>
              <a:t>Low stakes. Streams immediately at zero inline overhead, audited after the fact with one-click retraction.</a:t>
            </a:r>
          </a:p>
        </p:txBody>
      </p:sp>
      <p:sp>
        <p:nvSpPr>
          <p:cNvPr id="109" name="card"/>
          <p:cNvSpPr>
            <a:spLocks noGrp="1"/>
          </p:cNvSpPr>
          <p:nvPr/>
        </p:nvSpPr>
        <p:spPr>
          <a:xfrm>
            <a:off x="4251960" y="3338598"/>
            <a:ext cx="3685032" cy="862279"/>
          </a:xfrm>
          <a:prstGeom prst="roundRect">
            <a:avLst>
              <a:gd name="adj" fmla="val 9544"/>
            </a:avLst>
          </a:prstGeom>
          <a:solidFill>
            <a:srgbClr val="FFFFFF"/>
          </a:solidFill>
          <a:ln w="9525">
            <a:solidFill>
              <a:srgbClr val="A100FF"/>
            </a:solidFill>
          </a:ln>
        </p:spPr>
        <p:txBody>
          <a:bodyPr lIns="118872" tIns="91440" rIns="118872" bIns="73152" anchor="t">
            <a:normAutofit/>
          </a:bodyPr>
          <a:lstStyle/>
          <a:p>
            <a:pPr>
              <a:spcAft>
                <a:spcPts val="400"/>
              </a:spcAft>
            </a:pPr>
            <a:r>
              <a:rPr lang="en-IN" sz="1100" b="1">
                <a:solidFill>
                  <a:srgbClr val="A100FF"/>
                </a:solidFill>
                <a:latin typeface="Arial"/>
                <a:cs typeface="Arial"/>
              </a:rPr>
              <a:t>T1 · HOLD</a:t>
            </a:r>
          </a:p>
          <a:p>
            <a:pPr>
              <a:lnSpc>
                <a:spcPct val="107000"/>
              </a:lnSpc>
              <a:spcAft>
                <a:spcPts val="0"/>
              </a:spcAft>
            </a:pPr>
            <a:r>
              <a:rPr lang="en-IN" sz="1050" dirty="0">
                <a:latin typeface="Arial"/>
                <a:cs typeface="Arial"/>
              </a:rPr>
              <a:t>Held inside a 300 </a:t>
            </a:r>
            <a:r>
              <a:rPr lang="en-IN" sz="1050" dirty="0" err="1">
                <a:latin typeface="Arial"/>
                <a:cs typeface="Arial"/>
              </a:rPr>
              <a:t>ms</a:t>
            </a:r>
            <a:r>
              <a:rPr lang="en-IN" sz="1050" dirty="0">
                <a:latin typeface="Arial"/>
                <a:cs typeface="Arial"/>
              </a:rPr>
              <a:t> budget. Fails closed: missing evidence widens the band upward, not downward.</a:t>
            </a:r>
          </a:p>
        </p:txBody>
      </p:sp>
      <p:sp>
        <p:nvSpPr>
          <p:cNvPr id="110" name="card"/>
          <p:cNvSpPr>
            <a:spLocks noGrp="1"/>
          </p:cNvSpPr>
          <p:nvPr/>
        </p:nvSpPr>
        <p:spPr>
          <a:xfrm>
            <a:off x="8138160" y="3338598"/>
            <a:ext cx="3685032" cy="862279"/>
          </a:xfrm>
          <a:prstGeom prst="roundRect">
            <a:avLst>
              <a:gd name="adj" fmla="val 9544"/>
            </a:avLst>
          </a:prstGeom>
          <a:solidFill>
            <a:srgbClr val="FFFFFF"/>
          </a:solidFill>
          <a:ln w="9525">
            <a:solidFill>
              <a:srgbClr val="A100FF"/>
            </a:solidFill>
          </a:ln>
        </p:spPr>
        <p:txBody>
          <a:bodyPr lIns="118872" tIns="91440" rIns="118872" bIns="73152" anchor="t">
            <a:normAutofit/>
          </a:bodyPr>
          <a:lstStyle/>
          <a:p>
            <a:pPr>
              <a:spcAft>
                <a:spcPts val="400"/>
              </a:spcAft>
            </a:pPr>
            <a:r>
              <a:rPr lang="en-IN" sz="1100" b="1">
                <a:solidFill>
                  <a:srgbClr val="A100FF"/>
                </a:solidFill>
                <a:latin typeface="Arial"/>
                <a:cs typeface="Arial"/>
              </a:rPr>
              <a:t>T2 · HOLD + DEEP</a:t>
            </a:r>
          </a:p>
          <a:p>
            <a:pPr>
              <a:lnSpc>
                <a:spcPct val="107000"/>
              </a:lnSpc>
              <a:spcAft>
                <a:spcPts val="0"/>
              </a:spcAft>
            </a:pPr>
            <a:r>
              <a:rPr lang="en-IN" sz="1050" dirty="0">
                <a:latin typeface="Arial"/>
                <a:cs typeface="Arial"/>
              </a:rPr>
              <a:t>High stakes. Always earns the verifier, and always gets the asynchronous deep pass afterwards.</a:t>
            </a:r>
          </a:p>
        </p:txBody>
      </p:sp>
      <p:sp>
        <p:nvSpPr>
          <p:cNvPr id="111" name="out"/>
          <p:cNvSpPr>
            <a:spLocks noGrp="1"/>
          </p:cNvSpPr>
          <p:nvPr/>
        </p:nvSpPr>
        <p:spPr>
          <a:xfrm>
            <a:off x="376803" y="4326684"/>
            <a:ext cx="3685032" cy="641909"/>
          </a:xfrm>
          <a:prstGeom prst="roundRect">
            <a:avLst>
              <a:gd name="adj" fmla="val 12821"/>
            </a:avLst>
          </a:prstGeom>
          <a:solidFill>
            <a:srgbClr val="FFFFFF"/>
          </a:solidFill>
          <a:ln w="9525">
            <a:solidFill>
              <a:srgbClr val="1E9E4A"/>
            </a:solidFill>
          </a:ln>
        </p:spPr>
        <p:txBody>
          <a:bodyPr lIns="118872" tIns="73152" rIns="118872" bIns="54864" anchor="ctr">
            <a:normAutofit/>
          </a:bodyPr>
          <a:lstStyle/>
          <a:p>
            <a:pPr>
              <a:spcAft>
                <a:spcPts val="300"/>
              </a:spcAft>
            </a:pPr>
            <a:r>
              <a:rPr lang="en-IN" sz="1100" b="1">
                <a:solidFill>
                  <a:srgbClr val="1E9E4A"/>
                </a:solidFill>
                <a:latin typeface="Arial"/>
                <a:cs typeface="Arial"/>
              </a:rPr>
              <a:t>GREEN · deliver</a:t>
            </a:r>
          </a:p>
          <a:p>
            <a:pPr>
              <a:spcAft>
                <a:spcPts val="0"/>
              </a:spcAft>
            </a:pPr>
            <a:r>
              <a:rPr lang="en-IN" sz="1050">
                <a:solidFill>
                  <a:srgbClr val="2B2B2B"/>
                </a:solidFill>
                <a:latin typeface="Arial"/>
                <a:cs typeface="Arial"/>
              </a:rPr>
              <a:t>response released unchanged</a:t>
            </a:r>
          </a:p>
        </p:txBody>
      </p:sp>
      <p:sp>
        <p:nvSpPr>
          <p:cNvPr id="112" name="out"/>
          <p:cNvSpPr>
            <a:spLocks noGrp="1"/>
          </p:cNvSpPr>
          <p:nvPr/>
        </p:nvSpPr>
        <p:spPr>
          <a:xfrm>
            <a:off x="4263003" y="4326684"/>
            <a:ext cx="3685032" cy="641909"/>
          </a:xfrm>
          <a:prstGeom prst="roundRect">
            <a:avLst>
              <a:gd name="adj" fmla="val 12821"/>
            </a:avLst>
          </a:prstGeom>
          <a:solidFill>
            <a:srgbClr val="FFFFFF"/>
          </a:solidFill>
          <a:ln w="9525">
            <a:solidFill>
              <a:srgbClr val="D69500"/>
            </a:solidFill>
          </a:ln>
        </p:spPr>
        <p:txBody>
          <a:bodyPr lIns="118872" tIns="73152" rIns="118872" bIns="54864" anchor="ctr">
            <a:normAutofit/>
          </a:bodyPr>
          <a:lstStyle/>
          <a:p>
            <a:pPr>
              <a:spcAft>
                <a:spcPts val="300"/>
              </a:spcAft>
            </a:pPr>
            <a:r>
              <a:rPr lang="en-IN" sz="1100" b="1">
                <a:solidFill>
                  <a:srgbClr val="D69500"/>
                </a:solidFill>
                <a:latin typeface="Arial"/>
                <a:cs typeface="Arial"/>
              </a:rPr>
              <a:t>YELLOW · auto-edit</a:t>
            </a:r>
          </a:p>
          <a:p>
            <a:pPr>
              <a:spcAft>
                <a:spcPts val="0"/>
              </a:spcAft>
            </a:pPr>
            <a:r>
              <a:rPr lang="en-IN" sz="1050">
                <a:solidFill>
                  <a:srgbClr val="2B2B2B"/>
                </a:solidFill>
                <a:latin typeface="Arial"/>
                <a:cs typeface="Arial"/>
              </a:rPr>
              <a:t>redact, strip the contradicted claim, add a caveat</a:t>
            </a:r>
          </a:p>
        </p:txBody>
      </p:sp>
      <p:sp>
        <p:nvSpPr>
          <p:cNvPr id="113" name="out"/>
          <p:cNvSpPr>
            <a:spLocks noGrp="1"/>
          </p:cNvSpPr>
          <p:nvPr/>
        </p:nvSpPr>
        <p:spPr>
          <a:xfrm>
            <a:off x="8149203" y="4326684"/>
            <a:ext cx="3685032" cy="641909"/>
          </a:xfrm>
          <a:prstGeom prst="roundRect">
            <a:avLst>
              <a:gd name="adj" fmla="val 12821"/>
            </a:avLst>
          </a:prstGeom>
          <a:solidFill>
            <a:srgbClr val="FFFFFF"/>
          </a:solidFill>
          <a:ln w="9525">
            <a:solidFill>
              <a:srgbClr val="D0342C"/>
            </a:solidFill>
          </a:ln>
        </p:spPr>
        <p:txBody>
          <a:bodyPr lIns="118872" tIns="73152" rIns="118872" bIns="54864" anchor="ctr">
            <a:normAutofit/>
          </a:bodyPr>
          <a:lstStyle/>
          <a:p>
            <a:pPr>
              <a:spcAft>
                <a:spcPts val="300"/>
              </a:spcAft>
            </a:pPr>
            <a:r>
              <a:rPr lang="en-IN" sz="1100" b="1">
                <a:solidFill>
                  <a:srgbClr val="D0342C"/>
                </a:solidFill>
                <a:latin typeface="Arial"/>
                <a:cs typeface="Arial"/>
              </a:rPr>
              <a:t>RED · hold + reroute</a:t>
            </a:r>
          </a:p>
          <a:p>
            <a:pPr>
              <a:spcAft>
                <a:spcPts val="0"/>
              </a:spcAft>
            </a:pPr>
            <a:r>
              <a:rPr lang="en-IN" sz="1050">
                <a:solidFill>
                  <a:srgbClr val="2B2B2B"/>
                </a:solidFill>
                <a:latin typeface="Arial"/>
                <a:cs typeface="Arial"/>
              </a:rPr>
              <a:t>safe template, human queue, full audit record</a:t>
            </a:r>
          </a:p>
        </p:txBody>
      </p:sp>
      <p:sp>
        <p:nvSpPr>
          <p:cNvPr id="114" name="card"/>
          <p:cNvSpPr>
            <a:spLocks noGrp="1"/>
          </p:cNvSpPr>
          <p:nvPr/>
        </p:nvSpPr>
        <p:spPr>
          <a:xfrm>
            <a:off x="365760" y="5193792"/>
            <a:ext cx="5628132" cy="1024128"/>
          </a:xfrm>
          <a:prstGeom prst="roundRect">
            <a:avLst>
              <a:gd name="adj" fmla="val 8036"/>
            </a:avLst>
          </a:prstGeom>
          <a:solidFill>
            <a:srgbClr val="F5EBFF"/>
          </a:solidFill>
          <a:ln>
            <a:noFill/>
          </a:ln>
        </p:spPr>
        <p:txBody>
          <a:bodyPr lIns="118872" tIns="91440" rIns="118872" bIns="73152" anchor="t">
            <a:noAutofit/>
          </a:bodyPr>
          <a:lstStyle/>
          <a:p>
            <a:pPr>
              <a:spcAft>
                <a:spcPts val="400"/>
              </a:spcAft>
            </a:pPr>
            <a:r>
              <a:rPr lang="en-IN" sz="1400" b="1">
                <a:solidFill>
                  <a:srgbClr val="A100FF"/>
                </a:solidFill>
                <a:latin typeface="Arial"/>
                <a:cs typeface="Arial"/>
              </a:rPr>
              <a:t>POLICY LAYER: CONFIGURATION, NOT CODE</a:t>
            </a:r>
          </a:p>
          <a:p>
            <a:pPr>
              <a:lnSpc>
                <a:spcPct val="107000"/>
              </a:lnSpc>
              <a:spcAft>
                <a:spcPts val="0"/>
              </a:spcAft>
            </a:pPr>
            <a:r>
              <a:rPr lang="en-IN" sz="1050">
                <a:latin typeface="Arial"/>
                <a:cs typeface="Arial"/>
              </a:rPr>
              <a:t>Per use case and per geography, as YAML with overlays. Four use-case policies ship (support, fintech, clinical, batch) plus an EU/GDPR overlay. Thresholds are derived from a stated cost-of-miss ratio, so a changed risk appetite moves the cut points rather than the code.</a:t>
            </a:r>
          </a:p>
        </p:txBody>
      </p:sp>
      <p:sp>
        <p:nvSpPr>
          <p:cNvPr id="115" name="card"/>
          <p:cNvSpPr>
            <a:spLocks noGrp="1"/>
          </p:cNvSpPr>
          <p:nvPr/>
        </p:nvSpPr>
        <p:spPr>
          <a:xfrm>
            <a:off x="6195060" y="5193792"/>
            <a:ext cx="5628132" cy="1024128"/>
          </a:xfrm>
          <a:prstGeom prst="roundRect">
            <a:avLst>
              <a:gd name="adj" fmla="val 8036"/>
            </a:avLst>
          </a:prstGeom>
          <a:solidFill>
            <a:srgbClr val="F5EBFF"/>
          </a:solidFill>
          <a:ln>
            <a:noFill/>
          </a:ln>
        </p:spPr>
        <p:txBody>
          <a:bodyPr lIns="118872" tIns="91440" rIns="118872" bIns="73152" anchor="t">
            <a:normAutofit/>
          </a:bodyPr>
          <a:lstStyle/>
          <a:p>
            <a:pPr>
              <a:spcAft>
                <a:spcPts val="400"/>
              </a:spcAft>
            </a:pPr>
            <a:r>
              <a:rPr lang="en-IN" sz="1400" b="1">
                <a:solidFill>
                  <a:srgbClr val="A100FF"/>
                </a:solidFill>
                <a:latin typeface="Arial"/>
                <a:cs typeface="Arial"/>
              </a:rPr>
              <a:t>AUDIT AND FEEDBACK: THE LOOP THAT CLOSES</a:t>
            </a:r>
          </a:p>
          <a:p>
            <a:pPr>
              <a:lnSpc>
                <a:spcPct val="107000"/>
              </a:lnSpc>
              <a:spcAft>
                <a:spcPts val="0"/>
              </a:spcAft>
            </a:pPr>
            <a:r>
              <a:rPr lang="en-IN" sz="1050">
                <a:latin typeface="Arial"/>
                <a:cs typeface="Arial"/>
              </a:rPr>
              <a:t>Every decision writes a hash-chained SQLite record. A standalone tool re-derives the chain without importing the app, catching both alteration and truncation. Human confirmations and overrides become labelled rows the lane models are refitted on.</a:t>
            </a:r>
          </a:p>
        </p:txBody>
      </p:sp>
      <p:sp>
        <p:nvSpPr>
          <p:cNvPr id="905"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5</a:t>
            </a:fld>
            <a:endParaRPr lang="en-IN"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Who runs it: the platform team owns the gateway, each use case owns its policy</a:t>
            </a:r>
          </a:p>
        </p:txBody>
      </p:sp>
      <p:sp>
        <p:nvSpPr>
          <p:cNvPr id="102" name="lede"/>
          <p:cNvSpPr>
            <a:spLocks noGrp="1"/>
          </p:cNvSpPr>
          <p:nvPr/>
        </p:nvSpPr>
        <p:spPr>
          <a:xfrm>
            <a:off x="365760" y="941832"/>
            <a:ext cx="11457432" cy="557784"/>
          </a:xfrm>
          <a:prstGeom prst="rect">
            <a:avLst/>
          </a:prstGeom>
          <a:noFill/>
          <a:ln>
            <a:noFill/>
          </a:ln>
        </p:spPr>
        <p:txBody>
          <a:bodyPr lIns="0" tIns="0" rIns="0" bIns="0" anchor="t">
            <a:normAutofit/>
          </a:bodyPr>
          <a:lstStyle/>
          <a:p>
            <a:pPr>
              <a:lnSpc>
                <a:spcPct val="112000"/>
              </a:lnSpc>
              <a:spcAft>
                <a:spcPts val="0"/>
              </a:spcAft>
            </a:pPr>
            <a:r>
              <a:rPr lang="en-IN" sz="1200">
                <a:latin typeface="Arial"/>
                <a:cs typeface="Arial"/>
              </a:rPr>
              <a:t>AEGIS is a reverse proxy in front of existing LLM traffic: one base-URL change, no retraining, no model swap. That splits the buyer from the day-to-day operator, deliberately: the team that carries the latency budget is not the team that sets the risk appetite.</a:t>
            </a:r>
          </a:p>
        </p:txBody>
      </p:sp>
      <p:sp>
        <p:nvSpPr>
          <p:cNvPr id="103" name="card"/>
          <p:cNvSpPr>
            <a:spLocks noGrp="1"/>
          </p:cNvSpPr>
          <p:nvPr/>
        </p:nvSpPr>
        <p:spPr>
          <a:xfrm>
            <a:off x="365760" y="1450848"/>
            <a:ext cx="5597652" cy="1308608"/>
          </a:xfrm>
          <a:prstGeom prst="roundRect">
            <a:avLst>
              <a:gd name="adj" fmla="val 8036"/>
            </a:avLst>
          </a:prstGeom>
          <a:solidFill>
            <a:srgbClr val="F5EBFF"/>
          </a:solidFill>
          <a:ln>
            <a:noFill/>
          </a:ln>
        </p:spPr>
        <p:txBody>
          <a:bodyPr lIns="118872" tIns="91440" rIns="118872" bIns="73152" anchor="t">
            <a:noAutofit/>
          </a:bodyPr>
          <a:lstStyle/>
          <a:p>
            <a:pPr>
              <a:spcAft>
                <a:spcPts val="400"/>
              </a:spcAft>
            </a:pPr>
            <a:r>
              <a:rPr lang="en-IN" sz="1400" b="1">
                <a:solidFill>
                  <a:srgbClr val="A100FF"/>
                </a:solidFill>
                <a:latin typeface="Arial"/>
                <a:cs typeface="Arial"/>
              </a:rPr>
              <a:t>THE BUYER: THE AI PLATFORM TEAM</a:t>
            </a:r>
          </a:p>
          <a:p>
            <a:pPr>
              <a:lnSpc>
                <a:spcPct val="107000"/>
              </a:lnSpc>
              <a:spcAft>
                <a:spcPts val="0"/>
              </a:spcAft>
            </a:pPr>
            <a:r>
              <a:rPr lang="en-IN" sz="1200">
                <a:latin typeface="Arial"/>
                <a:cs typeface="Arial"/>
              </a:rPr>
              <a:t>Owns the gateway, the latency budget and the audit trail. Cares that one deployment covers every model and every application behind it, that the overhead is defensible, and that the evidence survives an auditor who arrives months later asking why a specific response went out.</a:t>
            </a:r>
          </a:p>
        </p:txBody>
      </p:sp>
      <p:sp>
        <p:nvSpPr>
          <p:cNvPr id="104" name="card"/>
          <p:cNvSpPr>
            <a:spLocks noGrp="1"/>
          </p:cNvSpPr>
          <p:nvPr/>
        </p:nvSpPr>
        <p:spPr>
          <a:xfrm>
            <a:off x="6195060" y="1450848"/>
            <a:ext cx="5597652" cy="1308608"/>
          </a:xfrm>
          <a:prstGeom prst="roundRect">
            <a:avLst>
              <a:gd name="adj" fmla="val 8036"/>
            </a:avLst>
          </a:prstGeom>
          <a:solidFill>
            <a:srgbClr val="F5EBFF"/>
          </a:solidFill>
          <a:ln>
            <a:noFill/>
          </a:ln>
        </p:spPr>
        <p:txBody>
          <a:bodyPr lIns="118872" tIns="91440" rIns="118872" bIns="73152" anchor="t">
            <a:noAutofit/>
          </a:bodyPr>
          <a:lstStyle/>
          <a:p>
            <a:pPr>
              <a:spcAft>
                <a:spcPts val="400"/>
              </a:spcAft>
            </a:pPr>
            <a:r>
              <a:rPr lang="en-IN" sz="1400" b="1">
                <a:solidFill>
                  <a:srgbClr val="A100FF"/>
                </a:solidFill>
                <a:latin typeface="Arial"/>
                <a:cs typeface="Arial"/>
              </a:rPr>
              <a:t>THE OPERATORS: PER-USE-CASE POLICY OWNERS</a:t>
            </a:r>
          </a:p>
          <a:p>
            <a:pPr>
              <a:lnSpc>
                <a:spcPct val="107000"/>
              </a:lnSpc>
              <a:spcAft>
                <a:spcPts val="0"/>
              </a:spcAft>
            </a:pPr>
            <a:r>
              <a:rPr lang="en-IN" sz="1200">
                <a:latin typeface="Arial"/>
                <a:cs typeface="Arial"/>
              </a:rPr>
              <a:t>A support lead, a compliance officer, a clinical safety reviewer. Each owns one YAML policy: their own risk appetite, their own thresholds, their own escalation rule, and their own review queue, without touching the gateway or asking the platform team for a deploy.</a:t>
            </a:r>
          </a:p>
        </p:txBody>
      </p:sp>
      <p:sp>
        <p:nvSpPr>
          <p:cNvPr id="105" name="polhdr"/>
          <p:cNvSpPr>
            <a:spLocks noGrp="1"/>
          </p:cNvSpPr>
          <p:nvPr/>
        </p:nvSpPr>
        <p:spPr>
          <a:xfrm>
            <a:off x="375920" y="3083966"/>
            <a:ext cx="11457432" cy="274320"/>
          </a:xfrm>
          <a:prstGeom prst="rect">
            <a:avLst/>
          </a:prstGeom>
          <a:noFill/>
          <a:ln>
            <a:noFill/>
          </a:ln>
        </p:spPr>
        <p:txBody>
          <a:bodyPr lIns="0" tIns="0" rIns="0" bIns="0" anchor="t">
            <a:normAutofit/>
          </a:bodyPr>
          <a:lstStyle/>
          <a:p>
            <a:pPr>
              <a:spcAft>
                <a:spcPts val="0"/>
              </a:spcAft>
            </a:pPr>
            <a:r>
              <a:rPr lang="en-IN" sz="1200" b="1">
                <a:solidFill>
                  <a:srgbClr val="A100FF"/>
                </a:solidFill>
                <a:latin typeface="Arial"/>
                <a:cs typeface="Arial"/>
              </a:rPr>
              <a:t>FOUR USE-CASE POLICIES SHIP, WITH DELIBERATELY DIFFERENT RISK AND LATENCY PROFILES</a:t>
            </a:r>
          </a:p>
        </p:txBody>
      </p:sp>
      <p:sp>
        <p:nvSpPr>
          <p:cNvPr id="106" name="card"/>
          <p:cNvSpPr>
            <a:spLocks noGrp="1"/>
          </p:cNvSpPr>
          <p:nvPr/>
        </p:nvSpPr>
        <p:spPr>
          <a:xfrm>
            <a:off x="365760" y="3357677"/>
            <a:ext cx="2713482" cy="680314"/>
          </a:xfrm>
          <a:prstGeom prst="roundRect">
            <a:avLst>
              <a:gd name="adj" fmla="val 12097"/>
            </a:avLst>
          </a:prstGeom>
          <a:solidFill>
            <a:srgbClr val="F5EBFF"/>
          </a:solidFill>
          <a:ln>
            <a:noFill/>
          </a:ln>
        </p:spPr>
        <p:txBody>
          <a:bodyPr lIns="91440" tIns="82296" rIns="91440" bIns="54864" anchor="t">
            <a:noAutofit/>
          </a:bodyPr>
          <a:lstStyle/>
          <a:p>
            <a:pPr>
              <a:spcAft>
                <a:spcPts val="400"/>
              </a:spcAft>
            </a:pPr>
            <a:r>
              <a:rPr lang="en-IN" sz="1100" b="1" dirty="0" err="1">
                <a:solidFill>
                  <a:srgbClr val="A100FF"/>
                </a:solidFill>
                <a:latin typeface="Arial"/>
                <a:cs typeface="Arial"/>
              </a:rPr>
              <a:t>support_copilot</a:t>
            </a:r>
            <a:endParaRPr lang="en-IN" sz="1100" b="1">
              <a:solidFill>
                <a:srgbClr val="A100FF"/>
              </a:solidFill>
              <a:latin typeface="Arial"/>
              <a:cs typeface="Arial"/>
            </a:endParaRPr>
          </a:p>
          <a:p>
            <a:pPr>
              <a:lnSpc>
                <a:spcPct val="107000"/>
              </a:lnSpc>
              <a:spcAft>
                <a:spcPts val="0"/>
              </a:spcAft>
            </a:pPr>
            <a:r>
              <a:rPr lang="en-IN" sz="1000">
                <a:latin typeface="Arial"/>
                <a:cs typeface="Arial"/>
              </a:rPr>
              <a:t>T0 / T1 · low stakes · streams · 5% verified inline</a:t>
            </a:r>
          </a:p>
        </p:txBody>
      </p:sp>
      <p:sp>
        <p:nvSpPr>
          <p:cNvPr id="107" name="card"/>
          <p:cNvSpPr>
            <a:spLocks noGrp="1"/>
          </p:cNvSpPr>
          <p:nvPr/>
        </p:nvSpPr>
        <p:spPr>
          <a:xfrm>
            <a:off x="3280410" y="3357677"/>
            <a:ext cx="2713482" cy="680314"/>
          </a:xfrm>
          <a:prstGeom prst="roundRect">
            <a:avLst>
              <a:gd name="adj" fmla="val 12097"/>
            </a:avLst>
          </a:prstGeom>
          <a:solidFill>
            <a:srgbClr val="F5EBFF"/>
          </a:solidFill>
          <a:ln>
            <a:noFill/>
          </a:ln>
        </p:spPr>
        <p:txBody>
          <a:bodyPr lIns="91440" tIns="82296" rIns="91440" bIns="54864" anchor="t">
            <a:normAutofit/>
          </a:bodyPr>
          <a:lstStyle/>
          <a:p>
            <a:pPr>
              <a:spcAft>
                <a:spcPts val="400"/>
              </a:spcAft>
            </a:pPr>
            <a:r>
              <a:rPr lang="en-IN" sz="1100" b="1" dirty="0" err="1">
                <a:solidFill>
                  <a:srgbClr val="A100FF"/>
                </a:solidFill>
                <a:latin typeface="Arial"/>
                <a:cs typeface="Arial"/>
              </a:rPr>
              <a:t>fintech_advisor</a:t>
            </a:r>
            <a:endParaRPr lang="en-IN" sz="1100" b="1">
              <a:solidFill>
                <a:srgbClr val="A100FF"/>
              </a:solidFill>
              <a:latin typeface="Arial"/>
              <a:cs typeface="Arial"/>
            </a:endParaRPr>
          </a:p>
          <a:p>
            <a:pPr>
              <a:lnSpc>
                <a:spcPct val="107000"/>
              </a:lnSpc>
              <a:spcAft>
                <a:spcPts val="0"/>
              </a:spcAft>
            </a:pPr>
            <a:r>
              <a:rPr lang="en-IN" sz="1000">
                <a:latin typeface="Arial"/>
                <a:cs typeface="Arial"/>
              </a:rPr>
              <a:t>T2 · high transaction value · always verified</a:t>
            </a:r>
          </a:p>
        </p:txBody>
      </p:sp>
      <p:sp>
        <p:nvSpPr>
          <p:cNvPr id="108" name="card"/>
          <p:cNvSpPr>
            <a:spLocks noGrp="1"/>
          </p:cNvSpPr>
          <p:nvPr/>
        </p:nvSpPr>
        <p:spPr>
          <a:xfrm>
            <a:off x="6195060" y="3357677"/>
            <a:ext cx="2713482" cy="680314"/>
          </a:xfrm>
          <a:prstGeom prst="roundRect">
            <a:avLst>
              <a:gd name="adj" fmla="val 12097"/>
            </a:avLst>
          </a:prstGeom>
          <a:solidFill>
            <a:srgbClr val="F5EBFF"/>
          </a:solidFill>
          <a:ln>
            <a:noFill/>
          </a:ln>
        </p:spPr>
        <p:txBody>
          <a:bodyPr lIns="91440" tIns="82296" rIns="91440" bIns="54864" anchor="t">
            <a:normAutofit/>
          </a:bodyPr>
          <a:lstStyle/>
          <a:p>
            <a:pPr>
              <a:spcAft>
                <a:spcPts val="400"/>
              </a:spcAft>
            </a:pPr>
            <a:r>
              <a:rPr lang="en-IN" sz="1100" b="1" dirty="0" err="1">
                <a:solidFill>
                  <a:srgbClr val="A100FF"/>
                </a:solidFill>
                <a:latin typeface="Arial"/>
                <a:cs typeface="Arial"/>
              </a:rPr>
              <a:t>clinical_intake</a:t>
            </a:r>
            <a:endParaRPr lang="en-IN" sz="1100" b="1">
              <a:solidFill>
                <a:srgbClr val="A100FF"/>
              </a:solidFill>
              <a:latin typeface="Arial"/>
              <a:cs typeface="Arial"/>
            </a:endParaRPr>
          </a:p>
          <a:p>
            <a:pPr>
              <a:lnSpc>
                <a:spcPct val="107000"/>
              </a:lnSpc>
              <a:spcAft>
                <a:spcPts val="0"/>
              </a:spcAft>
            </a:pPr>
            <a:r>
              <a:rPr lang="en-IN" sz="1000">
                <a:latin typeface="Arial"/>
                <a:cs typeface="Arial"/>
              </a:rPr>
              <a:t>T2 + EU overlay · PHI · never streams</a:t>
            </a:r>
          </a:p>
        </p:txBody>
      </p:sp>
      <p:sp>
        <p:nvSpPr>
          <p:cNvPr id="109" name="card"/>
          <p:cNvSpPr>
            <a:spLocks noGrp="1"/>
          </p:cNvSpPr>
          <p:nvPr/>
        </p:nvSpPr>
        <p:spPr>
          <a:xfrm>
            <a:off x="9109710" y="3357677"/>
            <a:ext cx="2713482" cy="680314"/>
          </a:xfrm>
          <a:prstGeom prst="roundRect">
            <a:avLst>
              <a:gd name="adj" fmla="val 12097"/>
            </a:avLst>
          </a:prstGeom>
          <a:solidFill>
            <a:srgbClr val="F5EBFF"/>
          </a:solidFill>
          <a:ln>
            <a:noFill/>
          </a:ln>
        </p:spPr>
        <p:txBody>
          <a:bodyPr lIns="91440" tIns="82296" rIns="91440" bIns="54864" anchor="t">
            <a:normAutofit/>
          </a:bodyPr>
          <a:lstStyle/>
          <a:p>
            <a:pPr>
              <a:spcAft>
                <a:spcPts val="400"/>
              </a:spcAft>
            </a:pPr>
            <a:r>
              <a:rPr lang="en-IN" sz="1100" b="1" dirty="0" err="1">
                <a:solidFill>
                  <a:srgbClr val="A100FF"/>
                </a:solidFill>
                <a:latin typeface="Arial"/>
                <a:cs typeface="Arial"/>
              </a:rPr>
              <a:t>batch_analytics</a:t>
            </a:r>
            <a:endParaRPr lang="en-IN" sz="1100" b="1">
              <a:solidFill>
                <a:srgbClr val="A100FF"/>
              </a:solidFill>
              <a:latin typeface="Arial"/>
              <a:cs typeface="Arial"/>
            </a:endParaRPr>
          </a:p>
          <a:p>
            <a:pPr>
              <a:lnSpc>
                <a:spcPct val="107000"/>
              </a:lnSpc>
              <a:spcAft>
                <a:spcPts val="0"/>
              </a:spcAft>
            </a:pPr>
            <a:r>
              <a:rPr lang="en-IN" sz="1000">
                <a:latin typeface="Arial"/>
                <a:cs typeface="Arial"/>
              </a:rPr>
              <a:t>T2 · 30 s budget · no latency ceiling</a:t>
            </a:r>
          </a:p>
        </p:txBody>
      </p:sp>
      <p:sp>
        <p:nvSpPr>
          <p:cNvPr id="110" name="card"/>
          <p:cNvSpPr>
            <a:spLocks noGrp="1"/>
          </p:cNvSpPr>
          <p:nvPr/>
        </p:nvSpPr>
        <p:spPr>
          <a:xfrm>
            <a:off x="365760" y="4281221"/>
            <a:ext cx="3685032" cy="1009498"/>
          </a:xfrm>
          <a:prstGeom prst="roundRect">
            <a:avLst>
              <a:gd name="adj" fmla="val 8152"/>
            </a:avLst>
          </a:prstGeom>
          <a:solidFill>
            <a:srgbClr val="FFFFFF"/>
          </a:solidFill>
          <a:ln w="9525">
            <a:solidFill>
              <a:srgbClr val="A100FF"/>
            </a:solidFill>
          </a:ln>
        </p:spPr>
        <p:txBody>
          <a:bodyPr lIns="118872" tIns="91440" rIns="118872" bIns="73152" anchor="t">
            <a:noAutofit/>
          </a:bodyPr>
          <a:lstStyle/>
          <a:p>
            <a:pPr>
              <a:spcAft>
                <a:spcPts val="400"/>
              </a:spcAft>
            </a:pPr>
            <a:r>
              <a:rPr lang="en-IN" sz="1400" b="1">
                <a:solidFill>
                  <a:srgbClr val="A100FF"/>
                </a:solidFill>
                <a:latin typeface="Arial"/>
                <a:cs typeface="Arial"/>
              </a:rPr>
              <a:t>1 · POINT ONE APP AT IT</a:t>
            </a:r>
          </a:p>
          <a:p>
            <a:pPr>
              <a:lnSpc>
                <a:spcPct val="107000"/>
              </a:lnSpc>
              <a:spcAft>
                <a:spcPts val="0"/>
              </a:spcAft>
            </a:pPr>
            <a:r>
              <a:rPr lang="en-IN" sz="1200" dirty="0">
                <a:latin typeface="Arial"/>
                <a:cs typeface="Arial"/>
              </a:rPr>
              <a:t>Change </a:t>
            </a:r>
            <a:r>
              <a:rPr lang="en-IN" sz="1200" dirty="0" err="1">
                <a:latin typeface="Arial"/>
                <a:cs typeface="Arial"/>
              </a:rPr>
              <a:t>base_url</a:t>
            </a:r>
            <a:r>
              <a:rPr lang="en-IN" sz="1200" dirty="0">
                <a:latin typeface="Arial"/>
                <a:cs typeface="Arial"/>
              </a:rPr>
              <a:t>. Nothing else changes: the client still receives an ordinary OpenAI response, with the policy already applied to its text.</a:t>
            </a:r>
          </a:p>
        </p:txBody>
      </p:sp>
      <p:sp>
        <p:nvSpPr>
          <p:cNvPr id="111" name="card"/>
          <p:cNvSpPr>
            <a:spLocks noGrp="1"/>
          </p:cNvSpPr>
          <p:nvPr/>
        </p:nvSpPr>
        <p:spPr>
          <a:xfrm>
            <a:off x="4251960" y="4281221"/>
            <a:ext cx="3685032" cy="1009498"/>
          </a:xfrm>
          <a:prstGeom prst="roundRect">
            <a:avLst>
              <a:gd name="adj" fmla="val 8152"/>
            </a:avLst>
          </a:prstGeom>
          <a:solidFill>
            <a:srgbClr val="FFFFFF"/>
          </a:solidFill>
          <a:ln w="9525">
            <a:solidFill>
              <a:srgbClr val="A100FF"/>
            </a:solidFill>
          </a:ln>
        </p:spPr>
        <p:txBody>
          <a:bodyPr lIns="118872" tIns="91440" rIns="118872" bIns="73152" anchor="t">
            <a:noAutofit/>
          </a:bodyPr>
          <a:lstStyle/>
          <a:p>
            <a:pPr>
              <a:spcAft>
                <a:spcPts val="400"/>
              </a:spcAft>
            </a:pPr>
            <a:r>
              <a:rPr lang="en-IN" sz="1400" b="1">
                <a:solidFill>
                  <a:srgbClr val="A100FF"/>
                </a:solidFill>
                <a:latin typeface="Arial"/>
                <a:cs typeface="Arial"/>
              </a:rPr>
              <a:t>2 · RUN IN SHADOW</a:t>
            </a:r>
          </a:p>
          <a:p>
            <a:pPr>
              <a:lnSpc>
                <a:spcPct val="107000"/>
              </a:lnSpc>
            </a:pPr>
            <a:r>
              <a:rPr lang="en-IN" sz="1150">
                <a:latin typeface="Arial"/>
                <a:cs typeface="Arial"/>
              </a:rPr>
              <a:t>Every decision is recorded &amp; every metric </a:t>
            </a:r>
            <a:r>
              <a:rPr lang="en-IN" sz="1150" dirty="0">
                <a:latin typeface="Arial"/>
                <a:cs typeface="Arial"/>
              </a:rPr>
              <a:t>computed while the actions stay off. The dashboard shows what would have been held, before anything is.</a:t>
            </a:r>
          </a:p>
        </p:txBody>
      </p:sp>
      <p:sp>
        <p:nvSpPr>
          <p:cNvPr id="112" name="card"/>
          <p:cNvSpPr>
            <a:spLocks noGrp="1"/>
          </p:cNvSpPr>
          <p:nvPr/>
        </p:nvSpPr>
        <p:spPr>
          <a:xfrm>
            <a:off x="8138160" y="4281221"/>
            <a:ext cx="3685032" cy="1009498"/>
          </a:xfrm>
          <a:prstGeom prst="roundRect">
            <a:avLst>
              <a:gd name="adj" fmla="val 8152"/>
            </a:avLst>
          </a:prstGeom>
          <a:solidFill>
            <a:srgbClr val="FFFFFF"/>
          </a:solidFill>
          <a:ln w="9525">
            <a:solidFill>
              <a:srgbClr val="A100FF"/>
            </a:solidFill>
          </a:ln>
        </p:spPr>
        <p:txBody>
          <a:bodyPr lIns="118872" tIns="91440" rIns="118872" bIns="73152" anchor="t">
            <a:noAutofit/>
          </a:bodyPr>
          <a:lstStyle/>
          <a:p>
            <a:pPr>
              <a:spcAft>
                <a:spcPts val="400"/>
              </a:spcAft>
            </a:pPr>
            <a:r>
              <a:rPr lang="en-IN" sz="1400" b="1">
                <a:solidFill>
                  <a:srgbClr val="A100FF"/>
                </a:solidFill>
                <a:latin typeface="Arial"/>
                <a:cs typeface="Arial"/>
              </a:rPr>
              <a:t>3 · ENFORCE, ONE POLICY AT A TIME</a:t>
            </a:r>
          </a:p>
          <a:p>
            <a:pPr>
              <a:lnSpc>
                <a:spcPct val="107000"/>
              </a:lnSpc>
              <a:spcAft>
                <a:spcPts val="0"/>
              </a:spcAft>
            </a:pPr>
            <a:r>
              <a:rPr lang="en-IN" sz="1200">
                <a:latin typeface="Arial"/>
                <a:cs typeface="Arial"/>
              </a:rPr>
              <a:t>Turn actions on for a single use case, starting where hold-and-release is already expected and the cost of a miss is already known.</a:t>
            </a:r>
          </a:p>
        </p:txBody>
      </p:sp>
      <p:sp>
        <p:nvSpPr>
          <p:cNvPr id="113" name="foot"/>
          <p:cNvSpPr>
            <a:spLocks noGrp="1"/>
          </p:cNvSpPr>
          <p:nvPr/>
        </p:nvSpPr>
        <p:spPr>
          <a:xfrm>
            <a:off x="365760" y="5533949"/>
            <a:ext cx="11457432" cy="683971"/>
          </a:xfrm>
          <a:prstGeom prst="roundRect">
            <a:avLst>
              <a:gd name="adj" fmla="val 12032"/>
            </a:avLst>
          </a:prstGeom>
          <a:solidFill>
            <a:srgbClr val="F5EBFF"/>
          </a:solidFill>
          <a:ln>
            <a:noFill/>
          </a:ln>
        </p:spPr>
        <p:txBody>
          <a:bodyPr lIns="118872" tIns="91440" rIns="118872" bIns="73152" anchor="ctr">
            <a:normAutofit/>
          </a:bodyPr>
          <a:lstStyle/>
          <a:p>
            <a:pPr>
              <a:lnSpc>
                <a:spcPct val="110000"/>
              </a:lnSpc>
              <a:spcAft>
                <a:spcPts val="0"/>
              </a:spcAft>
            </a:pPr>
            <a:r>
              <a:rPr lang="en-IN" sz="1200" b="1">
                <a:solidFill>
                  <a:srgbClr val="A100FF"/>
                </a:solidFill>
                <a:latin typeface="Arial"/>
                <a:cs typeface="Arial"/>
              </a:rPr>
              <a:t>Deployment reality: </a:t>
            </a:r>
            <a:r>
              <a:rPr lang="en-IN" sz="1200">
                <a:solidFill>
                  <a:srgbClr val="2B2B2B"/>
                </a:solidFill>
                <a:latin typeface="Arial"/>
                <a:cs typeface="Arial"/>
              </a:rPr>
              <a:t>eight pinned Python packages. No ML framework, no database server, no JavaScript build chain. One command runs the whole system offline from a clean clone: no API key, no Docker, no network.</a:t>
            </a:r>
          </a:p>
        </p:txBody>
      </p:sp>
      <p:sp>
        <p:nvSpPr>
          <p:cNvPr id="906"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6</a:t>
            </a:fld>
            <a:endParaRPr lang="en-IN"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Prototype results: detection quality against a seeded, labelled scenario set</a:t>
            </a:r>
          </a:p>
        </p:txBody>
      </p:sp>
      <p:sp>
        <p:nvSpPr>
          <p:cNvPr id="102" name="lede"/>
          <p:cNvSpPr>
            <a:spLocks noGrp="1"/>
          </p:cNvSpPr>
          <p:nvPr/>
        </p:nvSpPr>
        <p:spPr>
          <a:xfrm>
            <a:off x="365760" y="941832"/>
            <a:ext cx="11457432" cy="557784"/>
          </a:xfrm>
          <a:prstGeom prst="rect">
            <a:avLst/>
          </a:prstGeom>
          <a:noFill/>
          <a:ln>
            <a:noFill/>
          </a:ln>
        </p:spPr>
        <p:txBody>
          <a:bodyPr lIns="0" tIns="0" rIns="0" bIns="0" anchor="t">
            <a:normAutofit/>
          </a:bodyPr>
          <a:lstStyle/>
          <a:p>
            <a:pPr>
              <a:lnSpc>
                <a:spcPct val="112000"/>
              </a:lnSpc>
              <a:spcAft>
                <a:spcPts val="0"/>
              </a:spcAft>
            </a:pPr>
            <a:r>
              <a:rPr lang="en-IN" sz="1200" dirty="0">
                <a:latin typeface="Arial"/>
                <a:cs typeface="Arial"/>
              </a:rPr>
              <a:t>21 labelled evaluation scenarios and 65 calibration rows, disjoint by construction. Checks cannot read </a:t>
            </a:r>
            <a:r>
              <a:rPr lang="en-IN" sz="1200" dirty="0" err="1">
                <a:latin typeface="Arial"/>
                <a:cs typeface="Arial"/>
              </a:rPr>
              <a:t>scenario_id</a:t>
            </a:r>
            <a:r>
              <a:rPr lang="en-IN" sz="1200" dirty="0">
                <a:latin typeface="Arial"/>
                <a:cs typeface="Arial"/>
              </a:rPr>
              <a:t> or </a:t>
            </a:r>
            <a:r>
              <a:rPr lang="en-IN" sz="1200" dirty="0" err="1">
                <a:latin typeface="Arial"/>
                <a:cs typeface="Arial"/>
              </a:rPr>
              <a:t>ground_truth</a:t>
            </a:r>
            <a:r>
              <a:rPr lang="en-IN" sz="1200" dirty="0">
                <a:latin typeface="Arial"/>
                <a:cs typeface="Arial"/>
              </a:rPr>
              <a:t>; a test enforces that boundary, because without it every number on this slide would be worthless.</a:t>
            </a:r>
          </a:p>
        </p:txBody>
      </p:sp>
      <p:sp>
        <p:nvSpPr>
          <p:cNvPr id="103" name="stat"/>
          <p:cNvSpPr>
            <a:spLocks noGrp="1"/>
          </p:cNvSpPr>
          <p:nvPr/>
        </p:nvSpPr>
        <p:spPr>
          <a:xfrm>
            <a:off x="365760" y="1572768"/>
            <a:ext cx="2713482" cy="1572768"/>
          </a:xfrm>
          <a:prstGeom prst="roundRect">
            <a:avLst>
              <a:gd name="adj" fmla="val 5233"/>
            </a:avLst>
          </a:prstGeom>
          <a:solidFill>
            <a:srgbClr val="F5EBFF"/>
          </a:solidFill>
          <a:ln>
            <a:noFill/>
          </a:ln>
        </p:spPr>
        <p:txBody>
          <a:bodyPr lIns="128016" tIns="109728" rIns="118872" bIns="73152" anchor="ctr">
            <a:normAutofit/>
          </a:bodyPr>
          <a:lstStyle/>
          <a:p>
            <a:pPr>
              <a:spcAft>
                <a:spcPts val="300"/>
              </a:spcAft>
            </a:pPr>
            <a:r>
              <a:rPr lang="en-IN" sz="1100" b="1">
                <a:solidFill>
                  <a:srgbClr val="A100FF"/>
                </a:solidFill>
                <a:latin typeface="Arial"/>
                <a:cs typeface="Arial"/>
              </a:rPr>
              <a:t>FINAL DECISION ACCURACY</a:t>
            </a:r>
          </a:p>
          <a:p>
            <a:pPr>
              <a:spcAft>
                <a:spcPts val="200"/>
              </a:spcAft>
            </a:pPr>
            <a:r>
              <a:rPr lang="en-IN" sz="4400" b="1">
                <a:solidFill>
                  <a:srgbClr val="A100FF"/>
                </a:solidFill>
                <a:latin typeface="Arial"/>
                <a:cs typeface="Arial"/>
              </a:rPr>
              <a:t>95.2%</a:t>
            </a:r>
          </a:p>
          <a:p>
            <a:pPr>
              <a:spcAft>
                <a:spcPts val="0"/>
              </a:spcAft>
            </a:pPr>
            <a:r>
              <a:rPr lang="en-IN" sz="1200">
                <a:solidFill>
                  <a:srgbClr val="2B2B2B"/>
                </a:solidFill>
                <a:latin typeface="Arial"/>
                <a:cs typeface="Arial"/>
              </a:rPr>
              <a:t>20 of 21 scenarios, after the asynchronous deep pass</a:t>
            </a:r>
          </a:p>
        </p:txBody>
      </p:sp>
      <p:sp>
        <p:nvSpPr>
          <p:cNvPr id="104" name="tblbg"/>
          <p:cNvSpPr>
            <a:spLocks noGrp="1"/>
          </p:cNvSpPr>
          <p:nvPr/>
        </p:nvSpPr>
        <p:spPr>
          <a:xfrm>
            <a:off x="3280410" y="1572768"/>
            <a:ext cx="8542782" cy="1572768"/>
          </a:xfrm>
          <a:prstGeom prst="roundRect">
            <a:avLst>
              <a:gd name="adj" fmla="val 5233"/>
            </a:avLst>
          </a:prstGeom>
          <a:solidFill>
            <a:srgbClr val="FFFFFF"/>
          </a:solidFill>
          <a:ln w="9525">
            <a:solidFill>
              <a:srgbClr val="A100FF"/>
            </a:solidFill>
          </a:ln>
        </p:spPr>
        <p:txBody>
          <a:bodyPr lIns="0" tIns="0" rIns="0" bIns="0" anchor="t">
            <a:normAutofit/>
          </a:bodyPr>
          <a:lstStyle/>
          <a:p>
            <a:pPr>
              <a:spcAft>
                <a:spcPts val="0"/>
              </a:spcAft>
            </a:pPr>
            <a:r>
              <a:rPr lang="en-IN" sz="850">
                <a:latin typeface="Arial" panose="020B0604020202020204" pitchFamily="34" charset="0"/>
                <a:cs typeface="Arial" panose="020B0604020202020204" pitchFamily="34" charset="0"/>
              </a:rPr>
              <a:t> </a:t>
            </a:r>
          </a:p>
        </p:txBody>
      </p:sp>
      <p:sp>
        <p:nvSpPr>
          <p:cNvPr id="901" name="thead"/>
          <p:cNvSpPr/>
          <p:nvPr/>
        </p:nvSpPr>
        <p:spPr>
          <a:xfrm>
            <a:off x="3445002" y="1682496"/>
            <a:ext cx="8211312" cy="311810"/>
          </a:xfrm>
          <a:prstGeom prst="roundRect">
            <a:avLst>
              <a:gd name="adj" fmla="val 11730"/>
            </a:avLst>
          </a:prstGeom>
          <a:solidFill>
            <a:srgbClr val="F5EBFF"/>
          </a:solidFill>
          <a:ln>
            <a:noFill/>
          </a:ln>
        </p:spPr>
        <p:txBody>
          <a:bodyPr lIns="0" tIns="0" rIns="0" bIns="0"/>
          <a:lstStyle/>
          <a:p>
            <a:endParaRPr lang="en-IN"/>
          </a:p>
        </p:txBody>
      </p:sp>
      <p:sp>
        <p:nvSpPr>
          <p:cNvPr id="904" name="trule"/>
          <p:cNvSpPr/>
          <p:nvPr/>
        </p:nvSpPr>
        <p:spPr>
          <a:xfrm>
            <a:off x="3445002" y="1994306"/>
            <a:ext cx="8211312" cy="0"/>
          </a:xfrm>
          <a:prstGeom prst="line">
            <a:avLst/>
          </a:prstGeom>
          <a:ln w="9525" cap="flat">
            <a:solidFill>
              <a:srgbClr val="E6DCFF"/>
            </a:solidFill>
          </a:ln>
        </p:spPr>
        <p:txBody>
          <a:bodyPr/>
          <a:lstStyle/>
          <a:p>
            <a:endParaRPr lang="en-IN"/>
          </a:p>
        </p:txBody>
      </p:sp>
      <p:sp>
        <p:nvSpPr>
          <p:cNvPr id="903" name="trule"/>
          <p:cNvSpPr/>
          <p:nvPr/>
        </p:nvSpPr>
        <p:spPr>
          <a:xfrm>
            <a:off x="3445002" y="2350008"/>
            <a:ext cx="8211312" cy="0"/>
          </a:xfrm>
          <a:prstGeom prst="line">
            <a:avLst/>
          </a:prstGeom>
          <a:ln w="9525" cap="flat">
            <a:solidFill>
              <a:srgbClr val="E6DCFF"/>
            </a:solidFill>
          </a:ln>
        </p:spPr>
        <p:txBody>
          <a:bodyPr/>
          <a:lstStyle/>
          <a:p>
            <a:endParaRPr lang="en-IN"/>
          </a:p>
        </p:txBody>
      </p:sp>
      <p:sp>
        <p:nvSpPr>
          <p:cNvPr id="902" name="trule"/>
          <p:cNvSpPr/>
          <p:nvPr/>
        </p:nvSpPr>
        <p:spPr>
          <a:xfrm>
            <a:off x="3445002" y="2705710"/>
            <a:ext cx="8211312" cy="0"/>
          </a:xfrm>
          <a:prstGeom prst="line">
            <a:avLst/>
          </a:prstGeom>
          <a:ln w="9525" cap="flat">
            <a:solidFill>
              <a:srgbClr val="E6DCFF"/>
            </a:solidFill>
          </a:ln>
        </p:spPr>
        <p:txBody>
          <a:bodyPr/>
          <a:lstStyle/>
          <a:p>
            <a:endParaRPr lang="en-IN"/>
          </a:p>
        </p:txBody>
      </p:sp>
      <p:sp>
        <p:nvSpPr>
          <p:cNvPr id="105" name="col"/>
          <p:cNvSpPr>
            <a:spLocks noGrp="1"/>
          </p:cNvSpPr>
          <p:nvPr/>
        </p:nvSpPr>
        <p:spPr>
          <a:xfrm>
            <a:off x="3445002" y="1737360"/>
            <a:ext cx="1920240" cy="1371600"/>
          </a:xfrm>
          <a:prstGeom prst="rect">
            <a:avLst/>
          </a:prstGeom>
          <a:noFill/>
          <a:ln>
            <a:noFill/>
          </a:ln>
        </p:spPr>
        <p:txBody>
          <a:bodyPr lIns="18288" tIns="18288" rIns="18288" bIns="18288" anchor="t">
            <a:normAutofit fontScale="92500" lnSpcReduction="10000"/>
          </a:bodyPr>
          <a:lstStyle/>
          <a:p>
            <a:pPr>
              <a:spcAft>
                <a:spcPts val="280"/>
              </a:spcAft>
            </a:pPr>
            <a:r>
              <a:rPr lang="en-IN" sz="1100" b="1">
                <a:solidFill>
                  <a:srgbClr val="A100FF"/>
                </a:solidFill>
                <a:latin typeface="Arial"/>
                <a:cs typeface="Arial"/>
              </a:rPr>
              <a:t>Lane</a:t>
            </a:r>
          </a:p>
          <a:p>
            <a:pPr>
              <a:spcBef>
                <a:spcPts val="1600"/>
              </a:spcBef>
              <a:spcAft>
                <a:spcPts val="240"/>
              </a:spcAft>
            </a:pPr>
            <a:r>
              <a:rPr lang="en-IN" sz="1300">
                <a:solidFill>
                  <a:srgbClr val="2B2B2B"/>
                </a:solidFill>
                <a:latin typeface="Arial"/>
                <a:cs typeface="Arial"/>
              </a:rPr>
              <a:t>Performance</a:t>
            </a:r>
          </a:p>
          <a:p>
            <a:pPr>
              <a:spcBef>
                <a:spcPts val="1600"/>
              </a:spcBef>
              <a:spcAft>
                <a:spcPts val="240"/>
              </a:spcAft>
            </a:pPr>
            <a:r>
              <a:rPr lang="en-IN" sz="1300">
                <a:solidFill>
                  <a:srgbClr val="2B2B2B"/>
                </a:solidFill>
                <a:latin typeface="Arial"/>
                <a:cs typeface="Arial"/>
              </a:rPr>
              <a:t>Cost</a:t>
            </a:r>
          </a:p>
          <a:p>
            <a:pPr>
              <a:spcBef>
                <a:spcPts val="1600"/>
              </a:spcBef>
              <a:spcAft>
                <a:spcPts val="240"/>
              </a:spcAft>
            </a:pPr>
            <a:r>
              <a:rPr lang="en-IN" sz="1300">
                <a:solidFill>
                  <a:srgbClr val="2B2B2B"/>
                </a:solidFill>
                <a:latin typeface="Arial"/>
                <a:cs typeface="Arial"/>
              </a:rPr>
              <a:t>Responsibility</a:t>
            </a:r>
          </a:p>
        </p:txBody>
      </p:sp>
      <p:sp>
        <p:nvSpPr>
          <p:cNvPr id="106" name="col"/>
          <p:cNvSpPr>
            <a:spLocks noGrp="1"/>
          </p:cNvSpPr>
          <p:nvPr/>
        </p:nvSpPr>
        <p:spPr>
          <a:xfrm>
            <a:off x="5365242" y="1737360"/>
            <a:ext cx="566928" cy="1371600"/>
          </a:xfrm>
          <a:prstGeom prst="rect">
            <a:avLst/>
          </a:prstGeom>
          <a:noFill/>
          <a:ln>
            <a:noFill/>
          </a:ln>
        </p:spPr>
        <p:txBody>
          <a:bodyPr lIns="18288" tIns="18288" rIns="18288" bIns="18288" anchor="t">
            <a:normAutofit/>
          </a:bodyPr>
          <a:lstStyle/>
          <a:p>
            <a:pPr algn="ctr">
              <a:spcAft>
                <a:spcPts val="280"/>
              </a:spcAft>
            </a:pPr>
            <a:r>
              <a:rPr lang="en-IN" sz="1000" b="1">
                <a:solidFill>
                  <a:srgbClr val="A100FF"/>
                </a:solidFill>
                <a:latin typeface="Arial"/>
                <a:cs typeface="Arial"/>
              </a:rPr>
              <a:t>TP</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11</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6</a:t>
            </a:r>
          </a:p>
        </p:txBody>
      </p:sp>
      <p:sp>
        <p:nvSpPr>
          <p:cNvPr id="107" name="col"/>
          <p:cNvSpPr>
            <a:spLocks noGrp="1"/>
          </p:cNvSpPr>
          <p:nvPr/>
        </p:nvSpPr>
        <p:spPr>
          <a:xfrm>
            <a:off x="5932170" y="1737360"/>
            <a:ext cx="566928" cy="1371600"/>
          </a:xfrm>
          <a:prstGeom prst="rect">
            <a:avLst/>
          </a:prstGeom>
          <a:noFill/>
          <a:ln>
            <a:noFill/>
          </a:ln>
        </p:spPr>
        <p:txBody>
          <a:bodyPr lIns="18288" tIns="18288" rIns="18288" bIns="18288" anchor="t">
            <a:normAutofit/>
          </a:bodyPr>
          <a:lstStyle/>
          <a:p>
            <a:pPr algn="ctr">
              <a:spcAft>
                <a:spcPts val="280"/>
              </a:spcAft>
            </a:pPr>
            <a:r>
              <a:rPr lang="en-IN" sz="1000" b="1">
                <a:solidFill>
                  <a:srgbClr val="A100FF"/>
                </a:solidFill>
                <a:latin typeface="Arial"/>
                <a:cs typeface="Arial"/>
              </a:rPr>
              <a:t>FP</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0</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0</a:t>
            </a:r>
          </a:p>
        </p:txBody>
      </p:sp>
      <p:sp>
        <p:nvSpPr>
          <p:cNvPr id="108" name="col"/>
          <p:cNvSpPr>
            <a:spLocks noGrp="1"/>
          </p:cNvSpPr>
          <p:nvPr/>
        </p:nvSpPr>
        <p:spPr>
          <a:xfrm>
            <a:off x="6499098" y="1737360"/>
            <a:ext cx="566928" cy="1371600"/>
          </a:xfrm>
          <a:prstGeom prst="rect">
            <a:avLst/>
          </a:prstGeom>
          <a:noFill/>
          <a:ln>
            <a:noFill/>
          </a:ln>
        </p:spPr>
        <p:txBody>
          <a:bodyPr lIns="18288" tIns="18288" rIns="18288" bIns="18288" anchor="t">
            <a:normAutofit/>
          </a:bodyPr>
          <a:lstStyle/>
          <a:p>
            <a:pPr algn="ctr">
              <a:spcAft>
                <a:spcPts val="280"/>
              </a:spcAft>
            </a:pPr>
            <a:r>
              <a:rPr lang="en-IN" sz="1000" b="1">
                <a:solidFill>
                  <a:srgbClr val="A100FF"/>
                </a:solidFill>
                <a:latin typeface="Arial"/>
                <a:cs typeface="Arial"/>
              </a:rPr>
              <a:t>FN</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0</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0</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0</a:t>
            </a:r>
          </a:p>
        </p:txBody>
      </p:sp>
      <p:sp>
        <p:nvSpPr>
          <p:cNvPr id="109" name="col"/>
          <p:cNvSpPr>
            <a:spLocks noGrp="1"/>
          </p:cNvSpPr>
          <p:nvPr/>
        </p:nvSpPr>
        <p:spPr>
          <a:xfrm>
            <a:off x="7066026" y="1737360"/>
            <a:ext cx="566928" cy="1371600"/>
          </a:xfrm>
          <a:prstGeom prst="rect">
            <a:avLst/>
          </a:prstGeom>
          <a:noFill/>
          <a:ln>
            <a:noFill/>
          </a:ln>
        </p:spPr>
        <p:txBody>
          <a:bodyPr lIns="18288" tIns="18288" rIns="18288" bIns="18288" anchor="t">
            <a:normAutofit/>
          </a:bodyPr>
          <a:lstStyle/>
          <a:p>
            <a:pPr algn="ctr">
              <a:spcAft>
                <a:spcPts val="280"/>
              </a:spcAft>
            </a:pPr>
            <a:r>
              <a:rPr lang="en-IN" sz="1000" b="1">
                <a:solidFill>
                  <a:srgbClr val="A100FF"/>
                </a:solidFill>
                <a:latin typeface="Arial"/>
                <a:cs typeface="Arial"/>
              </a:rPr>
              <a:t>TN</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9</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20</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15</a:t>
            </a:r>
          </a:p>
        </p:txBody>
      </p:sp>
      <p:sp>
        <p:nvSpPr>
          <p:cNvPr id="110" name="col"/>
          <p:cNvSpPr>
            <a:spLocks noGrp="1"/>
          </p:cNvSpPr>
          <p:nvPr/>
        </p:nvSpPr>
        <p:spPr>
          <a:xfrm>
            <a:off x="7632954" y="1737360"/>
            <a:ext cx="1298448" cy="1371600"/>
          </a:xfrm>
          <a:prstGeom prst="rect">
            <a:avLst/>
          </a:prstGeom>
          <a:noFill/>
          <a:ln>
            <a:noFill/>
          </a:ln>
        </p:spPr>
        <p:txBody>
          <a:bodyPr lIns="18288" tIns="18288" rIns="18288" bIns="18288" anchor="t">
            <a:normAutofit/>
          </a:bodyPr>
          <a:lstStyle/>
          <a:p>
            <a:pPr algn="ctr">
              <a:spcAft>
                <a:spcPts val="280"/>
              </a:spcAft>
            </a:pPr>
            <a:r>
              <a:rPr lang="en-IN" sz="1000" b="1">
                <a:solidFill>
                  <a:srgbClr val="A100FF"/>
                </a:solidFill>
                <a:latin typeface="Arial"/>
                <a:cs typeface="Arial"/>
              </a:rPr>
              <a:t>Precision</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0.917</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1.000</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1.000</a:t>
            </a:r>
          </a:p>
        </p:txBody>
      </p:sp>
      <p:sp>
        <p:nvSpPr>
          <p:cNvPr id="111" name="col"/>
          <p:cNvSpPr>
            <a:spLocks noGrp="1"/>
          </p:cNvSpPr>
          <p:nvPr/>
        </p:nvSpPr>
        <p:spPr>
          <a:xfrm>
            <a:off x="8931402" y="1737360"/>
            <a:ext cx="1298448" cy="1371600"/>
          </a:xfrm>
          <a:prstGeom prst="rect">
            <a:avLst/>
          </a:prstGeom>
          <a:noFill/>
          <a:ln>
            <a:noFill/>
          </a:ln>
        </p:spPr>
        <p:txBody>
          <a:bodyPr lIns="18288" tIns="18288" rIns="18288" bIns="18288" anchor="t">
            <a:normAutofit/>
          </a:bodyPr>
          <a:lstStyle/>
          <a:p>
            <a:pPr algn="ctr">
              <a:spcAft>
                <a:spcPts val="280"/>
              </a:spcAft>
            </a:pPr>
            <a:r>
              <a:rPr lang="en-IN" sz="1000" b="1">
                <a:solidFill>
                  <a:srgbClr val="A100FF"/>
                </a:solidFill>
                <a:latin typeface="Arial"/>
                <a:cs typeface="Arial"/>
              </a:rPr>
              <a:t>Recall</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1.000</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1.000</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1.000</a:t>
            </a:r>
          </a:p>
        </p:txBody>
      </p:sp>
      <p:sp>
        <p:nvSpPr>
          <p:cNvPr id="112" name="col"/>
          <p:cNvSpPr>
            <a:spLocks noGrp="1"/>
          </p:cNvSpPr>
          <p:nvPr/>
        </p:nvSpPr>
        <p:spPr>
          <a:xfrm>
            <a:off x="10229850" y="1737360"/>
            <a:ext cx="1426464" cy="1371600"/>
          </a:xfrm>
          <a:prstGeom prst="rect">
            <a:avLst/>
          </a:prstGeom>
          <a:noFill/>
          <a:ln>
            <a:noFill/>
          </a:ln>
        </p:spPr>
        <p:txBody>
          <a:bodyPr lIns="18288" tIns="18288" rIns="18288" bIns="18288" anchor="t">
            <a:normAutofit/>
          </a:bodyPr>
          <a:lstStyle/>
          <a:p>
            <a:pPr algn="ctr">
              <a:spcAft>
                <a:spcPts val="280"/>
              </a:spcAft>
            </a:pPr>
            <a:r>
              <a:rPr lang="en-IN" sz="1000" b="1">
                <a:solidFill>
                  <a:srgbClr val="A100FF"/>
                </a:solidFill>
                <a:latin typeface="Arial"/>
                <a:cs typeface="Arial"/>
              </a:rPr>
              <a:t>F1</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0.957</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1.000</a:t>
            </a:r>
          </a:p>
          <a:p>
            <a:pPr algn="ctr">
              <a:spcBef>
                <a:spcPts val="1600"/>
              </a:spcBef>
              <a:spcAft>
                <a:spcPts val="240"/>
              </a:spcAft>
            </a:pPr>
            <a:r>
              <a:rPr lang="en-IN" sz="1000" b="1">
                <a:solidFill>
                  <a:srgbClr val="2B2B2B"/>
                </a:solidFill>
                <a:latin typeface="Arial" panose="020B0604020202020204" pitchFamily="34" charset="0"/>
                <a:cs typeface="Arial" panose="020B0604020202020204" pitchFamily="34" charset="0"/>
              </a:rPr>
              <a:t>1.000</a:t>
            </a:r>
          </a:p>
        </p:txBody>
      </p:sp>
      <p:sp>
        <p:nvSpPr>
          <p:cNvPr id="113" name="card"/>
          <p:cNvSpPr>
            <a:spLocks noGrp="1"/>
          </p:cNvSpPr>
          <p:nvPr/>
        </p:nvSpPr>
        <p:spPr>
          <a:xfrm>
            <a:off x="365760" y="3346704"/>
            <a:ext cx="11457432" cy="1048817"/>
          </a:xfrm>
          <a:prstGeom prst="roundRect">
            <a:avLst>
              <a:gd name="adj" fmla="val 7847"/>
            </a:avLst>
          </a:prstGeom>
          <a:solidFill>
            <a:srgbClr val="F5EBFF"/>
          </a:solidFill>
          <a:ln>
            <a:noFill/>
          </a:ln>
        </p:spPr>
        <p:txBody>
          <a:bodyPr lIns="118872" tIns="91440" rIns="118872" bIns="73152" anchor="ctr">
            <a:normAutofit lnSpcReduction="10000"/>
          </a:bodyPr>
          <a:lstStyle/>
          <a:p>
            <a:pPr>
              <a:spcAft>
                <a:spcPts val="400"/>
              </a:spcAft>
            </a:pPr>
            <a:r>
              <a:rPr lang="en-IN" sz="1400" b="1">
                <a:solidFill>
                  <a:srgbClr val="A100FF"/>
                </a:solidFill>
                <a:latin typeface="Arial"/>
                <a:cs typeface="Arial"/>
              </a:rPr>
              <a:t>THE SINGLE FALSE POSITIVE IS DELIBERATE</a:t>
            </a:r>
          </a:p>
          <a:p>
            <a:pPr>
              <a:lnSpc>
                <a:spcPct val="107000"/>
              </a:lnSpc>
              <a:spcAft>
                <a:spcPts val="0"/>
              </a:spcAft>
            </a:pPr>
            <a:r>
              <a:rPr lang="en-IN" sz="1200">
                <a:latin typeface="Arial"/>
                <a:cs typeface="Arial"/>
              </a:rPr>
              <a:t>fin_overflag_01 is a substantively correct answer (“a shade over four percent after charges”) expressed in words rather than figures, so numeric grounding finds nothing to match. It exists so the false-positive rate is non-zero and honest, and so the risk-appetite slider has something real to trade against. A checker scoring 1.000 on everything would mean the corpus was too easy, not that the checker was good.</a:t>
            </a:r>
          </a:p>
        </p:txBody>
      </p:sp>
      <p:sp>
        <p:nvSpPr>
          <p:cNvPr id="114" name="card"/>
          <p:cNvSpPr>
            <a:spLocks noGrp="1"/>
          </p:cNvSpPr>
          <p:nvPr/>
        </p:nvSpPr>
        <p:spPr>
          <a:xfrm>
            <a:off x="365760" y="4596689"/>
            <a:ext cx="3685032" cy="1009498"/>
          </a:xfrm>
          <a:prstGeom prst="roundRect">
            <a:avLst>
              <a:gd name="adj" fmla="val 8152"/>
            </a:avLst>
          </a:prstGeom>
          <a:solidFill>
            <a:srgbClr val="FFFFFF"/>
          </a:solidFill>
          <a:ln w="9525">
            <a:solidFill>
              <a:srgbClr val="A100FF"/>
            </a:solidFill>
          </a:ln>
        </p:spPr>
        <p:txBody>
          <a:bodyPr lIns="118872" tIns="91440" rIns="118872" bIns="73152" anchor="t">
            <a:noAutofit/>
          </a:bodyPr>
          <a:lstStyle/>
          <a:p>
            <a:pPr>
              <a:spcAft>
                <a:spcPts val="400"/>
              </a:spcAft>
            </a:pPr>
            <a:r>
              <a:rPr lang="en-IN" sz="1400" b="1">
                <a:solidFill>
                  <a:srgbClr val="A100FF"/>
                </a:solidFill>
                <a:latin typeface="Arial"/>
                <a:cs typeface="Arial"/>
              </a:rPr>
              <a:t>CALIBRATION</a:t>
            </a:r>
          </a:p>
          <a:p>
            <a:pPr>
              <a:lnSpc>
                <a:spcPct val="107000"/>
              </a:lnSpc>
              <a:spcAft>
                <a:spcPts val="0"/>
              </a:spcAft>
            </a:pPr>
            <a:r>
              <a:rPr lang="en-IN" sz="1200">
                <a:latin typeface="Arial"/>
                <a:cs typeface="Arial"/>
              </a:rPr>
              <a:t>Brier 0.073, ECE 0.100 across 63 lane-decisions. The models are fitted by running the real checks over every corpus row: no hand-written vectors.</a:t>
            </a:r>
          </a:p>
        </p:txBody>
      </p:sp>
      <p:sp>
        <p:nvSpPr>
          <p:cNvPr id="115" name="card"/>
          <p:cNvSpPr>
            <a:spLocks noGrp="1"/>
          </p:cNvSpPr>
          <p:nvPr/>
        </p:nvSpPr>
        <p:spPr>
          <a:xfrm>
            <a:off x="4251960" y="4596689"/>
            <a:ext cx="3685032" cy="1009498"/>
          </a:xfrm>
          <a:prstGeom prst="roundRect">
            <a:avLst>
              <a:gd name="adj" fmla="val 8152"/>
            </a:avLst>
          </a:prstGeom>
          <a:solidFill>
            <a:srgbClr val="FFFFFF"/>
          </a:solidFill>
          <a:ln w="9525">
            <a:solidFill>
              <a:srgbClr val="A100FF"/>
            </a:solidFill>
          </a:ln>
        </p:spPr>
        <p:txBody>
          <a:bodyPr lIns="118872" tIns="91440" rIns="118872" bIns="73152" anchor="t">
            <a:noAutofit/>
          </a:bodyPr>
          <a:lstStyle/>
          <a:p>
            <a:pPr>
              <a:spcAft>
                <a:spcPts val="400"/>
              </a:spcAft>
            </a:pPr>
            <a:r>
              <a:rPr lang="en-IN" sz="1400" b="1">
                <a:solidFill>
                  <a:srgbClr val="A100FF"/>
                </a:solidFill>
                <a:latin typeface="Arial"/>
                <a:cs typeface="Arial"/>
              </a:rPr>
              <a:t>EVIDENCE BOUNDARY</a:t>
            </a:r>
          </a:p>
          <a:p>
            <a:pPr>
              <a:lnSpc>
                <a:spcPct val="107000"/>
              </a:lnSpc>
              <a:spcAft>
                <a:spcPts val="0"/>
              </a:spcAft>
            </a:pPr>
            <a:r>
              <a:rPr lang="en-IN" sz="1200">
                <a:latin typeface="Arial"/>
                <a:cs typeface="Arial"/>
              </a:rPr>
              <a:t>Checks receive only (question, context, response, telemetry). Scenario identity and ground truth are stripped before any check sees them.</a:t>
            </a:r>
          </a:p>
        </p:txBody>
      </p:sp>
      <p:sp>
        <p:nvSpPr>
          <p:cNvPr id="116" name="card"/>
          <p:cNvSpPr>
            <a:spLocks noGrp="1"/>
          </p:cNvSpPr>
          <p:nvPr/>
        </p:nvSpPr>
        <p:spPr>
          <a:xfrm>
            <a:off x="8138160" y="4596689"/>
            <a:ext cx="3685032" cy="1009498"/>
          </a:xfrm>
          <a:prstGeom prst="roundRect">
            <a:avLst>
              <a:gd name="adj" fmla="val 8152"/>
            </a:avLst>
          </a:prstGeom>
          <a:solidFill>
            <a:srgbClr val="FFFFFF"/>
          </a:solidFill>
          <a:ln w="9525">
            <a:solidFill>
              <a:srgbClr val="A100FF"/>
            </a:solidFill>
          </a:ln>
        </p:spPr>
        <p:txBody>
          <a:bodyPr lIns="118872" tIns="91440" rIns="118872" bIns="73152" anchor="t">
            <a:noAutofit/>
          </a:bodyPr>
          <a:lstStyle/>
          <a:p>
            <a:pPr>
              <a:spcAft>
                <a:spcPts val="400"/>
              </a:spcAft>
            </a:pPr>
            <a:r>
              <a:rPr lang="en-IN" sz="1400" b="1">
                <a:solidFill>
                  <a:srgbClr val="A100FF"/>
                </a:solidFill>
                <a:latin typeface="Arial"/>
                <a:cs typeface="Arial"/>
              </a:rPr>
              <a:t>TEST SUITE</a:t>
            </a:r>
          </a:p>
          <a:p>
            <a:pPr>
              <a:lnSpc>
                <a:spcPct val="107000"/>
              </a:lnSpc>
              <a:spcAft>
                <a:spcPts val="0"/>
              </a:spcAft>
            </a:pPr>
            <a:r>
              <a:rPr lang="en-IN" sz="1200">
                <a:latin typeface="Arial"/>
                <a:cs typeface="Arial"/>
              </a:rPr>
              <a:t>96 tests, including the no-leakage proof, the ledger tamper proof, and a guard that fails the build if any documented figure drifts from the run.</a:t>
            </a:r>
          </a:p>
        </p:txBody>
      </p:sp>
      <p:sp>
        <p:nvSpPr>
          <p:cNvPr id="117" name="note"/>
          <p:cNvSpPr>
            <a:spLocks noGrp="1"/>
          </p:cNvSpPr>
          <p:nvPr/>
        </p:nvSpPr>
        <p:spPr>
          <a:xfrm>
            <a:off x="365760" y="5807354"/>
            <a:ext cx="11457432" cy="420624"/>
          </a:xfrm>
          <a:prstGeom prst="rect">
            <a:avLst/>
          </a:prstGeom>
          <a:noFill/>
          <a:ln>
            <a:noFill/>
          </a:ln>
        </p:spPr>
        <p:txBody>
          <a:bodyPr lIns="0" tIns="0" rIns="0" bIns="0" anchor="t">
            <a:normAutofit/>
          </a:bodyPr>
          <a:lstStyle/>
          <a:p>
            <a:pPr>
              <a:lnSpc>
                <a:spcPct val="110000"/>
              </a:lnSpc>
              <a:spcAft>
                <a:spcPts val="0"/>
              </a:spcAft>
            </a:pPr>
            <a:r>
              <a:rPr lang="en-IN" sz="1200" b="1">
                <a:solidFill>
                  <a:srgbClr val="A100FF"/>
                </a:solidFill>
                <a:latin typeface="Arial"/>
                <a:cs typeface="Arial"/>
              </a:rPr>
              <a:t>Reproducibility: </a:t>
            </a:r>
            <a:r>
              <a:rPr lang="en-IN" sz="1200">
                <a:solidFill>
                  <a:srgbClr val="666666"/>
                </a:solidFill>
                <a:latin typeface="Arial"/>
                <a:cs typeface="Arial"/>
              </a:rPr>
              <a:t>every figure on this slide is deterministic; an independent cold-clone run on different hardware reproduced all of them exactly. Inline (pre-async) accuracy and wall-clock latency do vary by machine, and are labelled as reference-machine measurements wherever they appear.</a:t>
            </a:r>
          </a:p>
        </p:txBody>
      </p:sp>
      <p:sp>
        <p:nvSpPr>
          <p:cNvPr id="905"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7</a:t>
            </a:fld>
            <a:endParaRPr lang="en-IN"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Prototype results: what makes a 300 ms budget survivable at scale</a:t>
            </a:r>
          </a:p>
        </p:txBody>
      </p:sp>
      <p:sp>
        <p:nvSpPr>
          <p:cNvPr id="102" name="lede"/>
          <p:cNvSpPr>
            <a:spLocks noGrp="1"/>
          </p:cNvSpPr>
          <p:nvPr/>
        </p:nvSpPr>
        <p:spPr>
          <a:xfrm>
            <a:off x="365760" y="941832"/>
            <a:ext cx="11457432" cy="557784"/>
          </a:xfrm>
          <a:prstGeom prst="rect">
            <a:avLst/>
          </a:prstGeom>
          <a:noFill/>
          <a:ln>
            <a:noFill/>
          </a:ln>
        </p:spPr>
        <p:txBody>
          <a:bodyPr lIns="0" tIns="0" rIns="0" bIns="0" anchor="t">
            <a:normAutofit/>
          </a:bodyPr>
          <a:lstStyle/>
          <a:p>
            <a:pPr>
              <a:lnSpc>
                <a:spcPct val="112000"/>
              </a:lnSpc>
              <a:spcAft>
                <a:spcPts val="0"/>
              </a:spcAft>
            </a:pPr>
            <a:r>
              <a:rPr lang="en-IN" sz="1200" b="1">
                <a:latin typeface="Arial"/>
                <a:cs typeface="Arial"/>
              </a:rPr>
              <a:t>Scrutiny is rationed, not uniform. </a:t>
            </a:r>
            <a:r>
              <a:rPr lang="en-IN" sz="1200">
                <a:latin typeface="Arial"/>
                <a:cs typeface="Arial"/>
              </a:rPr>
              <a:t>The verifier is the expensive check: 96.4% of every token spent. Running it on everything is what makes governance too costly to leave switched on; running it on nothing is what makes it useless. The gate decides per response.</a:t>
            </a:r>
          </a:p>
        </p:txBody>
      </p:sp>
      <p:sp>
        <p:nvSpPr>
          <p:cNvPr id="103" name="stat"/>
          <p:cNvSpPr>
            <a:spLocks noGrp="1"/>
          </p:cNvSpPr>
          <p:nvPr/>
        </p:nvSpPr>
        <p:spPr>
          <a:xfrm>
            <a:off x="365760" y="1572768"/>
            <a:ext cx="2713482" cy="1067105"/>
          </a:xfrm>
          <a:prstGeom prst="roundRect">
            <a:avLst>
              <a:gd name="adj" fmla="val 7712"/>
            </a:avLst>
          </a:prstGeom>
          <a:solidFill>
            <a:srgbClr val="F5EBFF"/>
          </a:solidFill>
          <a:ln>
            <a:noFill/>
          </a:ln>
        </p:spPr>
        <p:txBody>
          <a:bodyPr lIns="118872" tIns="109728" rIns="109728" bIns="73152" anchor="ctr">
            <a:normAutofit/>
          </a:bodyPr>
          <a:lstStyle/>
          <a:p>
            <a:pPr>
              <a:spcAft>
                <a:spcPts val="250"/>
              </a:spcAft>
            </a:pPr>
            <a:r>
              <a:rPr lang="en-IN" sz="2400" b="1">
                <a:solidFill>
                  <a:srgbClr val="A100FF"/>
                </a:solidFill>
                <a:latin typeface="Arial" panose="020B0604020202020204" pitchFamily="34" charset="0"/>
                <a:cs typeface="Arial" panose="020B0604020202020204" pitchFamily="34" charset="0"/>
              </a:rPr>
              <a:t>32%</a:t>
            </a:r>
          </a:p>
          <a:p>
            <a:pPr>
              <a:lnSpc>
                <a:spcPct val="107000"/>
              </a:lnSpc>
              <a:spcAft>
                <a:spcPts val="0"/>
              </a:spcAft>
            </a:pPr>
            <a:r>
              <a:rPr lang="en-IN" sz="1200">
                <a:solidFill>
                  <a:srgbClr val="2B2B2B"/>
                </a:solidFill>
                <a:latin typeface="Arial"/>
                <a:cs typeface="Arial"/>
              </a:rPr>
              <a:t>of held requests earned the inline verifier (17 of 53)</a:t>
            </a:r>
          </a:p>
        </p:txBody>
      </p:sp>
      <p:sp>
        <p:nvSpPr>
          <p:cNvPr id="104" name="stat"/>
          <p:cNvSpPr>
            <a:spLocks noGrp="1"/>
          </p:cNvSpPr>
          <p:nvPr/>
        </p:nvSpPr>
        <p:spPr>
          <a:xfrm>
            <a:off x="3280410" y="1572768"/>
            <a:ext cx="2713482" cy="1067105"/>
          </a:xfrm>
          <a:prstGeom prst="roundRect">
            <a:avLst>
              <a:gd name="adj" fmla="val 7712"/>
            </a:avLst>
          </a:prstGeom>
          <a:solidFill>
            <a:srgbClr val="F5EBFF"/>
          </a:solidFill>
          <a:ln>
            <a:noFill/>
          </a:ln>
        </p:spPr>
        <p:txBody>
          <a:bodyPr lIns="118872" tIns="109728" rIns="109728" bIns="73152" anchor="ctr">
            <a:normAutofit/>
          </a:bodyPr>
          <a:lstStyle/>
          <a:p>
            <a:pPr>
              <a:spcAft>
                <a:spcPts val="250"/>
              </a:spcAft>
            </a:pPr>
            <a:r>
              <a:rPr lang="en-IN" sz="2400" b="1">
                <a:solidFill>
                  <a:srgbClr val="A100FF"/>
                </a:solidFill>
                <a:latin typeface="Arial" panose="020B0604020202020204" pitchFamily="34" charset="0"/>
                <a:cs typeface="Arial" panose="020B0604020202020204" pitchFamily="34" charset="0"/>
              </a:rPr>
              <a:t>100% / 5%</a:t>
            </a:r>
          </a:p>
          <a:p>
            <a:pPr>
              <a:lnSpc>
                <a:spcPct val="107000"/>
              </a:lnSpc>
              <a:spcAft>
                <a:spcPts val="0"/>
              </a:spcAft>
            </a:pPr>
            <a:r>
              <a:rPr lang="en-IN" sz="1200">
                <a:solidFill>
                  <a:srgbClr val="2B2B2B"/>
                </a:solidFill>
                <a:latin typeface="Arial"/>
                <a:cs typeface="Arial"/>
              </a:rPr>
              <a:t>high-stakes policies versus low-stakes support traffic</a:t>
            </a:r>
          </a:p>
        </p:txBody>
      </p:sp>
      <p:sp>
        <p:nvSpPr>
          <p:cNvPr id="105" name="stat"/>
          <p:cNvSpPr>
            <a:spLocks noGrp="1"/>
          </p:cNvSpPr>
          <p:nvPr/>
        </p:nvSpPr>
        <p:spPr>
          <a:xfrm>
            <a:off x="6195060" y="1572768"/>
            <a:ext cx="2713482" cy="1067105"/>
          </a:xfrm>
          <a:prstGeom prst="roundRect">
            <a:avLst>
              <a:gd name="adj" fmla="val 7712"/>
            </a:avLst>
          </a:prstGeom>
          <a:solidFill>
            <a:srgbClr val="F5EBFF"/>
          </a:solidFill>
          <a:ln>
            <a:noFill/>
          </a:ln>
        </p:spPr>
        <p:txBody>
          <a:bodyPr lIns="118872" tIns="109728" rIns="109728" bIns="73152" anchor="ctr">
            <a:normAutofit/>
          </a:bodyPr>
          <a:lstStyle/>
          <a:p>
            <a:pPr>
              <a:spcAft>
                <a:spcPts val="250"/>
              </a:spcAft>
            </a:pPr>
            <a:r>
              <a:rPr lang="en-IN" sz="2400" b="1">
                <a:solidFill>
                  <a:srgbClr val="A100FF"/>
                </a:solidFill>
                <a:latin typeface="Arial" panose="020B0604020202020204" pitchFamily="34" charset="0"/>
                <a:cs typeface="Arial" panose="020B0604020202020204" pitchFamily="34" charset="0"/>
              </a:rPr>
              <a:t>$0.00237</a:t>
            </a:r>
          </a:p>
          <a:p>
            <a:pPr>
              <a:lnSpc>
                <a:spcPct val="107000"/>
              </a:lnSpc>
              <a:spcAft>
                <a:spcPts val="0"/>
              </a:spcAft>
            </a:pPr>
            <a:r>
              <a:rPr lang="en-IN" sz="1200">
                <a:solidFill>
                  <a:srgbClr val="2B2B2B"/>
                </a:solidFill>
                <a:latin typeface="Arial"/>
                <a:cs typeface="Arial"/>
              </a:rPr>
              <a:t>estimated cost per request, all-in, verifier included</a:t>
            </a:r>
          </a:p>
        </p:txBody>
      </p:sp>
      <p:sp>
        <p:nvSpPr>
          <p:cNvPr id="106" name="stat"/>
          <p:cNvSpPr>
            <a:spLocks noGrp="1"/>
          </p:cNvSpPr>
          <p:nvPr/>
        </p:nvSpPr>
        <p:spPr>
          <a:xfrm>
            <a:off x="9109710" y="1572768"/>
            <a:ext cx="2713482" cy="1067105"/>
          </a:xfrm>
          <a:prstGeom prst="roundRect">
            <a:avLst>
              <a:gd name="adj" fmla="val 7712"/>
            </a:avLst>
          </a:prstGeom>
          <a:solidFill>
            <a:srgbClr val="F5EBFF"/>
          </a:solidFill>
          <a:ln>
            <a:noFill/>
          </a:ln>
        </p:spPr>
        <p:txBody>
          <a:bodyPr lIns="118872" tIns="109728" rIns="109728" bIns="73152" anchor="ctr">
            <a:normAutofit/>
          </a:bodyPr>
          <a:lstStyle/>
          <a:p>
            <a:pPr>
              <a:spcAft>
                <a:spcPts val="250"/>
              </a:spcAft>
            </a:pPr>
            <a:r>
              <a:rPr lang="en-IN" sz="2400" b="1">
                <a:solidFill>
                  <a:srgbClr val="A100FF"/>
                </a:solidFill>
                <a:latin typeface="Arial" panose="020B0604020202020204" pitchFamily="34" charset="0"/>
                <a:cs typeface="Arial" panose="020B0604020202020204" pitchFamily="34" charset="0"/>
              </a:rPr>
              <a:t>96.4%</a:t>
            </a:r>
          </a:p>
          <a:p>
            <a:pPr>
              <a:lnSpc>
                <a:spcPct val="107000"/>
              </a:lnSpc>
              <a:spcAft>
                <a:spcPts val="0"/>
              </a:spcAft>
            </a:pPr>
            <a:r>
              <a:rPr lang="en-IN" sz="1200">
                <a:solidFill>
                  <a:srgbClr val="2B2B2B"/>
                </a:solidFill>
                <a:latin typeface="Arial"/>
                <a:cs typeface="Arial"/>
              </a:rPr>
              <a:t>of tokens are the verifier, which is precisely why gating it matters</a:t>
            </a:r>
          </a:p>
        </p:txBody>
      </p:sp>
      <p:sp>
        <p:nvSpPr>
          <p:cNvPr id="107" name="card"/>
          <p:cNvSpPr>
            <a:spLocks noGrp="1"/>
          </p:cNvSpPr>
          <p:nvPr/>
        </p:nvSpPr>
        <p:spPr>
          <a:xfrm>
            <a:off x="365760" y="2901620"/>
            <a:ext cx="11457432" cy="1056843"/>
          </a:xfrm>
          <a:prstGeom prst="roundRect">
            <a:avLst>
              <a:gd name="adj" fmla="val 9202"/>
            </a:avLst>
          </a:prstGeom>
          <a:solidFill>
            <a:srgbClr val="FFFFFF"/>
          </a:solidFill>
          <a:ln w="9525">
            <a:solidFill>
              <a:srgbClr val="A100FF"/>
            </a:solidFill>
          </a:ln>
        </p:spPr>
        <p:txBody>
          <a:bodyPr lIns="118872" tIns="91440" rIns="118872" bIns="73152" anchor="ctr">
            <a:normAutofit lnSpcReduction="10000"/>
          </a:bodyPr>
          <a:lstStyle/>
          <a:p>
            <a:pPr>
              <a:spcAft>
                <a:spcPts val="400"/>
              </a:spcAft>
            </a:pPr>
            <a:r>
              <a:rPr lang="en-IN" sz="1400" b="1">
                <a:solidFill>
                  <a:srgbClr val="A100FF"/>
                </a:solidFill>
                <a:latin typeface="Arial"/>
                <a:cs typeface="Arial"/>
              </a:rPr>
              <a:t>HOW THE GATE DECIDES, AND WHY THE THIRD ROUTE MATTERS MOST</a:t>
            </a:r>
          </a:p>
          <a:p>
            <a:pPr>
              <a:lnSpc>
                <a:spcPct val="107000"/>
              </a:lnSpc>
              <a:spcAft>
                <a:spcPts val="0"/>
              </a:spcAft>
            </a:pPr>
            <a:r>
              <a:rPr lang="en-IN" sz="1200">
                <a:latin typeface="Arial"/>
                <a:cs typeface="Arial"/>
              </a:rPr>
              <a:t>Three ways in: the tier (T2 always earns it), a cheap-signal score over the threshold, or an exploration sample. The third is the one that is easy to leave out and expensive to omit: verifying a fraction of the traffic the gate would have skipped is the only way the false-negative rate stays observable. A gate that only ever verifies what it already suspects cannot measure what it misses.</a:t>
            </a:r>
          </a:p>
        </p:txBody>
      </p:sp>
      <p:sp>
        <p:nvSpPr>
          <p:cNvPr id="108" name="byp"/>
          <p:cNvSpPr>
            <a:spLocks noGrp="1"/>
          </p:cNvSpPr>
          <p:nvPr/>
        </p:nvSpPr>
        <p:spPr>
          <a:xfrm>
            <a:off x="365760" y="4220210"/>
            <a:ext cx="11457432" cy="274320"/>
          </a:xfrm>
          <a:prstGeom prst="rect">
            <a:avLst/>
          </a:prstGeom>
          <a:noFill/>
          <a:ln>
            <a:noFill/>
          </a:ln>
        </p:spPr>
        <p:txBody>
          <a:bodyPr lIns="0" tIns="0" rIns="0" bIns="0" anchor="t">
            <a:normAutofit/>
          </a:bodyPr>
          <a:lstStyle/>
          <a:p>
            <a:pPr>
              <a:spcAft>
                <a:spcPts val="0"/>
              </a:spcAft>
            </a:pPr>
            <a:r>
              <a:rPr lang="en-IN" sz="1400" b="1">
                <a:solidFill>
                  <a:srgbClr val="A100FF"/>
                </a:solidFill>
                <a:latin typeface="Arial"/>
                <a:cs typeface="Arial"/>
              </a:rPr>
              <a:t>VERIFIER INVOCATION BY POLICY: THE RATIO IS THE PRODUCT</a:t>
            </a:r>
          </a:p>
        </p:txBody>
      </p:sp>
      <p:sp>
        <p:nvSpPr>
          <p:cNvPr id="109" name="pol"/>
          <p:cNvSpPr>
            <a:spLocks noGrp="1"/>
          </p:cNvSpPr>
          <p:nvPr/>
        </p:nvSpPr>
        <p:spPr>
          <a:xfrm>
            <a:off x="365760" y="4593717"/>
            <a:ext cx="2130552" cy="694944"/>
          </a:xfrm>
          <a:prstGeom prst="roundRect">
            <a:avLst>
              <a:gd name="adj" fmla="val 11842"/>
            </a:avLst>
          </a:prstGeom>
          <a:solidFill>
            <a:srgbClr val="F5EBFF"/>
          </a:solidFill>
          <a:ln>
            <a:noFill/>
          </a:ln>
        </p:spPr>
        <p:txBody>
          <a:bodyPr lIns="91440" tIns="82296" rIns="91440" bIns="54864" anchor="ctr">
            <a:normAutofit lnSpcReduction="10000"/>
          </a:bodyPr>
          <a:lstStyle/>
          <a:p>
            <a:pPr>
              <a:spcAft>
                <a:spcPts val="200"/>
              </a:spcAft>
            </a:pPr>
            <a:r>
              <a:rPr lang="en-IN" sz="1400" b="1" dirty="0" err="1">
                <a:solidFill>
                  <a:srgbClr val="2B2B2B"/>
                </a:solidFill>
                <a:latin typeface="Arial"/>
                <a:cs typeface="Arial"/>
              </a:rPr>
              <a:t>clinical_intake</a:t>
            </a:r>
            <a:endParaRPr lang="en-IN" sz="1400" b="1">
              <a:solidFill>
                <a:srgbClr val="2B2B2B"/>
              </a:solidFill>
              <a:latin typeface="Arial"/>
              <a:cs typeface="Arial"/>
            </a:endParaRPr>
          </a:p>
          <a:p>
            <a:pPr>
              <a:spcAft>
                <a:spcPts val="0"/>
              </a:spcAft>
            </a:pPr>
            <a:r>
              <a:rPr lang="en-IN" b="1">
                <a:solidFill>
                  <a:srgbClr val="A100FF"/>
                </a:solidFill>
                <a:latin typeface="Arial"/>
                <a:cs typeface="Arial"/>
              </a:rPr>
              <a:t>100%  </a:t>
            </a:r>
            <a:r>
              <a:rPr lang="en-IN" sz="1050">
                <a:solidFill>
                  <a:srgbClr val="666666"/>
                </a:solidFill>
                <a:latin typeface="Arial"/>
                <a:cs typeface="Arial"/>
              </a:rPr>
              <a:t>6 / 6 held</a:t>
            </a:r>
          </a:p>
        </p:txBody>
      </p:sp>
      <p:sp>
        <p:nvSpPr>
          <p:cNvPr id="110" name="pol"/>
          <p:cNvSpPr>
            <a:spLocks noGrp="1"/>
          </p:cNvSpPr>
          <p:nvPr/>
        </p:nvSpPr>
        <p:spPr>
          <a:xfrm>
            <a:off x="2697480" y="4593717"/>
            <a:ext cx="2130552" cy="694944"/>
          </a:xfrm>
          <a:prstGeom prst="roundRect">
            <a:avLst>
              <a:gd name="adj" fmla="val 11842"/>
            </a:avLst>
          </a:prstGeom>
          <a:solidFill>
            <a:srgbClr val="F5EBFF"/>
          </a:solidFill>
          <a:ln>
            <a:noFill/>
          </a:ln>
        </p:spPr>
        <p:txBody>
          <a:bodyPr lIns="91440" tIns="82296" rIns="91440" bIns="54864" anchor="ctr">
            <a:normAutofit lnSpcReduction="10000"/>
          </a:bodyPr>
          <a:lstStyle/>
          <a:p>
            <a:pPr>
              <a:spcAft>
                <a:spcPts val="200"/>
              </a:spcAft>
            </a:pPr>
            <a:r>
              <a:rPr lang="en-IN" sz="1400" b="1" dirty="0" err="1">
                <a:solidFill>
                  <a:srgbClr val="2B2B2B"/>
                </a:solidFill>
                <a:latin typeface="Arial"/>
                <a:cs typeface="Arial"/>
              </a:rPr>
              <a:t>fintech_advisor</a:t>
            </a:r>
            <a:endParaRPr lang="en-IN" sz="1400" b="1">
              <a:solidFill>
                <a:srgbClr val="2B2B2B"/>
              </a:solidFill>
              <a:latin typeface="Arial"/>
              <a:cs typeface="Arial"/>
            </a:endParaRPr>
          </a:p>
          <a:p>
            <a:pPr>
              <a:spcAft>
                <a:spcPts val="0"/>
              </a:spcAft>
            </a:pPr>
            <a:r>
              <a:rPr lang="en-IN" b="1">
                <a:solidFill>
                  <a:srgbClr val="A100FF"/>
                </a:solidFill>
                <a:latin typeface="Arial"/>
                <a:cs typeface="Arial"/>
              </a:rPr>
              <a:t>100%  </a:t>
            </a:r>
            <a:r>
              <a:rPr lang="en-IN" sz="1050">
                <a:solidFill>
                  <a:srgbClr val="666666"/>
                </a:solidFill>
                <a:latin typeface="Arial"/>
                <a:cs typeface="Arial"/>
              </a:rPr>
              <a:t>6 / 6 held</a:t>
            </a:r>
          </a:p>
        </p:txBody>
      </p:sp>
      <p:sp>
        <p:nvSpPr>
          <p:cNvPr id="111" name="pol"/>
          <p:cNvSpPr>
            <a:spLocks noGrp="1"/>
          </p:cNvSpPr>
          <p:nvPr/>
        </p:nvSpPr>
        <p:spPr>
          <a:xfrm>
            <a:off x="5029200" y="4593717"/>
            <a:ext cx="2130552" cy="694944"/>
          </a:xfrm>
          <a:prstGeom prst="roundRect">
            <a:avLst>
              <a:gd name="adj" fmla="val 11842"/>
            </a:avLst>
          </a:prstGeom>
          <a:solidFill>
            <a:srgbClr val="F5EBFF"/>
          </a:solidFill>
          <a:ln>
            <a:noFill/>
          </a:ln>
        </p:spPr>
        <p:txBody>
          <a:bodyPr lIns="91440" tIns="82296" rIns="91440" bIns="54864" anchor="ctr">
            <a:normAutofit lnSpcReduction="10000"/>
          </a:bodyPr>
          <a:lstStyle/>
          <a:p>
            <a:pPr>
              <a:spcAft>
                <a:spcPts val="200"/>
              </a:spcAft>
            </a:pPr>
            <a:r>
              <a:rPr lang="en-IN" sz="1400" b="1" dirty="0" err="1">
                <a:solidFill>
                  <a:srgbClr val="2B2B2B"/>
                </a:solidFill>
                <a:latin typeface="Arial"/>
                <a:cs typeface="Arial"/>
              </a:rPr>
              <a:t>batch_analytics</a:t>
            </a:r>
            <a:endParaRPr lang="en-IN" sz="1400" b="1">
              <a:solidFill>
                <a:srgbClr val="2B2B2B"/>
              </a:solidFill>
              <a:latin typeface="Arial"/>
              <a:cs typeface="Arial"/>
            </a:endParaRPr>
          </a:p>
          <a:p>
            <a:pPr>
              <a:spcAft>
                <a:spcPts val="0"/>
              </a:spcAft>
            </a:pPr>
            <a:r>
              <a:rPr lang="en-IN" b="1">
                <a:solidFill>
                  <a:srgbClr val="A100FF"/>
                </a:solidFill>
                <a:latin typeface="Arial"/>
                <a:cs typeface="Arial"/>
              </a:rPr>
              <a:t>100%  </a:t>
            </a:r>
            <a:r>
              <a:rPr lang="en-IN" sz="1050">
                <a:solidFill>
                  <a:srgbClr val="666666"/>
                </a:solidFill>
                <a:latin typeface="Arial"/>
                <a:cs typeface="Arial"/>
              </a:rPr>
              <a:t>1 / 1 held</a:t>
            </a:r>
          </a:p>
        </p:txBody>
      </p:sp>
      <p:sp>
        <p:nvSpPr>
          <p:cNvPr id="112" name="pol"/>
          <p:cNvSpPr>
            <a:spLocks noGrp="1"/>
          </p:cNvSpPr>
          <p:nvPr/>
        </p:nvSpPr>
        <p:spPr>
          <a:xfrm>
            <a:off x="7360920" y="4593717"/>
            <a:ext cx="2130552" cy="694944"/>
          </a:xfrm>
          <a:prstGeom prst="roundRect">
            <a:avLst>
              <a:gd name="adj" fmla="val 11842"/>
            </a:avLst>
          </a:prstGeom>
          <a:solidFill>
            <a:srgbClr val="F5EBFF"/>
          </a:solidFill>
          <a:ln>
            <a:noFill/>
          </a:ln>
        </p:spPr>
        <p:txBody>
          <a:bodyPr lIns="91440" tIns="82296" rIns="91440" bIns="54864" anchor="ctr">
            <a:normAutofit lnSpcReduction="10000"/>
          </a:bodyPr>
          <a:lstStyle/>
          <a:p>
            <a:pPr>
              <a:spcAft>
                <a:spcPts val="200"/>
              </a:spcAft>
            </a:pPr>
            <a:r>
              <a:rPr lang="en-IN" sz="1400" b="1">
                <a:solidFill>
                  <a:srgbClr val="2B2B2B"/>
                </a:solidFill>
                <a:latin typeface="Arial"/>
                <a:cs typeface="Arial"/>
              </a:rPr>
              <a:t>default</a:t>
            </a:r>
          </a:p>
          <a:p>
            <a:pPr>
              <a:spcAft>
                <a:spcPts val="0"/>
              </a:spcAft>
            </a:pPr>
            <a:r>
              <a:rPr lang="en-IN" b="1">
                <a:solidFill>
                  <a:srgbClr val="A100FF"/>
                </a:solidFill>
                <a:latin typeface="Arial"/>
                <a:cs typeface="Arial"/>
              </a:rPr>
              <a:t>100%  </a:t>
            </a:r>
            <a:r>
              <a:rPr lang="en-IN" sz="1050">
                <a:solidFill>
                  <a:srgbClr val="666666"/>
                </a:solidFill>
                <a:latin typeface="Arial"/>
                <a:cs typeface="Arial"/>
              </a:rPr>
              <a:t>2 / 2 held</a:t>
            </a:r>
          </a:p>
        </p:txBody>
      </p:sp>
      <p:sp>
        <p:nvSpPr>
          <p:cNvPr id="113" name="pol"/>
          <p:cNvSpPr>
            <a:spLocks noGrp="1"/>
          </p:cNvSpPr>
          <p:nvPr/>
        </p:nvSpPr>
        <p:spPr>
          <a:xfrm>
            <a:off x="9692640" y="4593717"/>
            <a:ext cx="2130552" cy="694944"/>
          </a:xfrm>
          <a:prstGeom prst="roundRect">
            <a:avLst>
              <a:gd name="adj" fmla="val 11842"/>
            </a:avLst>
          </a:prstGeom>
          <a:solidFill>
            <a:srgbClr val="F5EBFF"/>
          </a:solidFill>
          <a:ln>
            <a:noFill/>
          </a:ln>
        </p:spPr>
        <p:txBody>
          <a:bodyPr lIns="91440" tIns="82296" rIns="91440" bIns="54864" anchor="ctr">
            <a:normAutofit lnSpcReduction="10000"/>
          </a:bodyPr>
          <a:lstStyle/>
          <a:p>
            <a:pPr>
              <a:spcAft>
                <a:spcPts val="200"/>
              </a:spcAft>
            </a:pPr>
            <a:r>
              <a:rPr lang="en-IN" sz="1400" b="1" dirty="0" err="1">
                <a:solidFill>
                  <a:srgbClr val="2B2B2B"/>
                </a:solidFill>
                <a:latin typeface="Arial"/>
                <a:cs typeface="Arial"/>
              </a:rPr>
              <a:t>support_copilot</a:t>
            </a:r>
            <a:endParaRPr lang="en-IN" sz="1400" b="1">
              <a:solidFill>
                <a:srgbClr val="2B2B2B"/>
              </a:solidFill>
              <a:latin typeface="Arial"/>
              <a:cs typeface="Arial"/>
            </a:endParaRPr>
          </a:p>
          <a:p>
            <a:pPr>
              <a:spcAft>
                <a:spcPts val="0"/>
              </a:spcAft>
            </a:pPr>
            <a:r>
              <a:rPr lang="en-IN" b="1">
                <a:solidFill>
                  <a:srgbClr val="A100FF"/>
                </a:solidFill>
                <a:latin typeface="Arial"/>
                <a:cs typeface="Arial"/>
              </a:rPr>
              <a:t>5%  </a:t>
            </a:r>
            <a:r>
              <a:rPr lang="en-IN" sz="1050">
                <a:solidFill>
                  <a:srgbClr val="666666"/>
                </a:solidFill>
                <a:latin typeface="Arial"/>
                <a:cs typeface="Arial"/>
              </a:rPr>
              <a:t>2 / 38 held</a:t>
            </a:r>
          </a:p>
        </p:txBody>
      </p:sp>
      <p:sp>
        <p:nvSpPr>
          <p:cNvPr id="114" name="lat"/>
          <p:cNvSpPr>
            <a:spLocks noGrp="1"/>
          </p:cNvSpPr>
          <p:nvPr/>
        </p:nvSpPr>
        <p:spPr>
          <a:xfrm>
            <a:off x="365760" y="5550408"/>
            <a:ext cx="11457432" cy="667512"/>
          </a:xfrm>
          <a:prstGeom prst="roundRect">
            <a:avLst>
              <a:gd name="adj" fmla="val 12329"/>
            </a:avLst>
          </a:prstGeom>
          <a:solidFill>
            <a:srgbClr val="FFFFFF"/>
          </a:solidFill>
          <a:ln w="9525">
            <a:solidFill>
              <a:srgbClr val="E6DCFF"/>
            </a:solidFill>
          </a:ln>
        </p:spPr>
        <p:txBody>
          <a:bodyPr lIns="118872" tIns="91440" rIns="118872" bIns="73152" anchor="ctr">
            <a:noAutofit/>
          </a:bodyPr>
          <a:lstStyle/>
          <a:p>
            <a:pPr>
              <a:lnSpc>
                <a:spcPct val="110000"/>
              </a:lnSpc>
              <a:spcAft>
                <a:spcPts val="0"/>
              </a:spcAft>
            </a:pPr>
            <a:r>
              <a:rPr lang="en-IN" sz="1200" b="1" dirty="0">
                <a:solidFill>
                  <a:srgbClr val="A100FF"/>
                </a:solidFill>
                <a:latin typeface="Arial"/>
                <a:cs typeface="Arial"/>
              </a:rPr>
              <a:t>LATENCY: MEASURED ON THE REFERENCE MACHINE  </a:t>
            </a:r>
            <a:r>
              <a:rPr lang="en-IN" sz="1200" dirty="0">
                <a:solidFill>
                  <a:srgbClr val="2B2B2B"/>
                </a:solidFill>
                <a:latin typeface="Arial"/>
                <a:cs typeface="Arial"/>
              </a:rPr>
              <a:t>Median inline overhead 2.3 </a:t>
            </a:r>
            <a:r>
              <a:rPr lang="en-IN" sz="1200" dirty="0" err="1">
                <a:solidFill>
                  <a:srgbClr val="2B2B2B"/>
                </a:solidFill>
                <a:latin typeface="Arial"/>
                <a:cs typeface="Arial"/>
              </a:rPr>
              <a:t>ms</a:t>
            </a:r>
            <a:r>
              <a:rPr lang="en-IN" sz="1200" dirty="0">
                <a:solidFill>
                  <a:srgbClr val="2B2B2B"/>
                </a:solidFill>
                <a:latin typeface="Arial"/>
                <a:cs typeface="Arial"/>
              </a:rPr>
              <a:t>; 51 of 53 held requests completed inside their own policy budget; p95 overhead 1.8% of that budget; streamed requests add 0.0 </a:t>
            </a:r>
            <a:r>
              <a:rPr lang="en-IN" sz="1200" dirty="0" err="1">
                <a:solidFill>
                  <a:srgbClr val="2B2B2B"/>
                </a:solidFill>
                <a:latin typeface="Arial"/>
                <a:cs typeface="Arial"/>
              </a:rPr>
              <a:t>ms</a:t>
            </a:r>
            <a:r>
              <a:rPr lang="en-IN" sz="1200" dirty="0">
                <a:solidFill>
                  <a:srgbClr val="2B2B2B"/>
                </a:solidFill>
                <a:latin typeface="Arial"/>
                <a:cs typeface="Arial"/>
              </a:rPr>
              <a:t>. Wall-clock figures vary with hardware, so they are reported rather than pinned; the deterministic figures above are not.</a:t>
            </a:r>
          </a:p>
        </p:txBody>
      </p:sp>
      <p:sp>
        <p:nvSpPr>
          <p:cNvPr id="906"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8</a:t>
            </a:fld>
            <a:endParaRPr lang="en-IN"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Evidence of rigor: a defect an adversarial review found, and how it was closed</a:t>
            </a:r>
          </a:p>
        </p:txBody>
      </p:sp>
      <p:sp>
        <p:nvSpPr>
          <p:cNvPr id="102" name="lede"/>
          <p:cNvSpPr>
            <a:spLocks noGrp="1"/>
          </p:cNvSpPr>
          <p:nvPr/>
        </p:nvSpPr>
        <p:spPr>
          <a:xfrm>
            <a:off x="365760" y="941832"/>
            <a:ext cx="11457432" cy="557784"/>
          </a:xfrm>
          <a:prstGeom prst="rect">
            <a:avLst/>
          </a:prstGeom>
          <a:noFill/>
          <a:ln>
            <a:noFill/>
          </a:ln>
        </p:spPr>
        <p:txBody>
          <a:bodyPr lIns="0" tIns="0" rIns="0" bIns="0" anchor="t">
            <a:normAutofit/>
          </a:bodyPr>
          <a:lstStyle/>
          <a:p>
            <a:pPr>
              <a:lnSpc>
                <a:spcPct val="112000"/>
              </a:lnSpc>
              <a:spcAft>
                <a:spcPts val="0"/>
              </a:spcAft>
            </a:pPr>
            <a:r>
              <a:rPr lang="en-IN" sz="1200">
                <a:latin typeface="Arial"/>
                <a:cs typeface="Arial"/>
              </a:rPr>
              <a:t>The prototype was reviewed </a:t>
            </a:r>
            <a:r>
              <a:rPr lang="en-IN" sz="1200" err="1">
                <a:latin typeface="Arial"/>
                <a:cs typeface="Arial"/>
              </a:rPr>
              <a:t>adversarially</a:t>
            </a:r>
            <a:r>
              <a:rPr lang="en-IN" sz="1200">
                <a:latin typeface="Arial"/>
                <a:cs typeface="Arial"/>
              </a:rPr>
              <a:t> against its own claims. This was the most serious thing that review found, and it was in the half of the system that already looked finished.</a:t>
            </a:r>
          </a:p>
        </p:txBody>
      </p:sp>
      <p:sp>
        <p:nvSpPr>
          <p:cNvPr id="103" name="card"/>
          <p:cNvSpPr>
            <a:spLocks noGrp="1"/>
          </p:cNvSpPr>
          <p:nvPr/>
        </p:nvSpPr>
        <p:spPr>
          <a:xfrm>
            <a:off x="365760" y="1572768"/>
            <a:ext cx="3685032" cy="1663802"/>
          </a:xfrm>
          <a:prstGeom prst="roundRect">
            <a:avLst>
              <a:gd name="adj" fmla="val 7120"/>
            </a:avLst>
          </a:prstGeom>
          <a:solidFill>
            <a:srgbClr val="F5EBFF"/>
          </a:solidFill>
          <a:ln>
            <a:noFill/>
          </a:ln>
        </p:spPr>
        <p:txBody>
          <a:bodyPr lIns="118872" tIns="91440" rIns="118872" bIns="73152" anchor="t">
            <a:normAutofit/>
          </a:bodyPr>
          <a:lstStyle/>
          <a:p>
            <a:pPr>
              <a:spcAft>
                <a:spcPts val="400"/>
              </a:spcAft>
            </a:pPr>
            <a:r>
              <a:rPr lang="en-IN" sz="1400" b="1">
                <a:solidFill>
                  <a:srgbClr val="A100FF"/>
                </a:solidFill>
                <a:latin typeface="Arial"/>
                <a:cs typeface="Arial"/>
              </a:rPr>
              <a:t>WHAT WAS ALREADY CORRECT</a:t>
            </a:r>
          </a:p>
          <a:p>
            <a:pPr>
              <a:lnSpc>
                <a:spcPct val="107000"/>
              </a:lnSpc>
              <a:spcAft>
                <a:spcPts val="0"/>
              </a:spcAft>
            </a:pPr>
            <a:r>
              <a:rPr lang="en-IN" sz="1200">
                <a:latin typeface="Arial"/>
                <a:cs typeface="Arial"/>
              </a:rPr>
              <a:t>A </a:t>
            </a:r>
            <a:r>
              <a:rPr lang="en-IN" sz="1200" err="1">
                <a:latin typeface="Arial"/>
                <a:cs typeface="Arial"/>
              </a:rPr>
              <a:t>clinical_intake</a:t>
            </a:r>
            <a:r>
              <a:rPr lang="en-IN" sz="1200">
                <a:latin typeface="Arial"/>
                <a:cs typeface="Arial"/>
              </a:rPr>
              <a:t> response under the EU/GDPR overlay was ruled RED, its visible answer replaced with a safe template, streaming refused despite the client asking for it, and a human queued. The policy engine did its job exactly as designed.</a:t>
            </a:r>
          </a:p>
        </p:txBody>
      </p:sp>
      <p:sp>
        <p:nvSpPr>
          <p:cNvPr id="104" name="card"/>
          <p:cNvSpPr>
            <a:spLocks noGrp="1"/>
          </p:cNvSpPr>
          <p:nvPr/>
        </p:nvSpPr>
        <p:spPr>
          <a:xfrm>
            <a:off x="4251960" y="1572768"/>
            <a:ext cx="3685032" cy="1663802"/>
          </a:xfrm>
          <a:prstGeom prst="roundRect">
            <a:avLst>
              <a:gd name="adj" fmla="val 7120"/>
            </a:avLst>
          </a:prstGeom>
          <a:solidFill>
            <a:srgbClr val="F5EBFF"/>
          </a:solidFill>
          <a:ln>
            <a:noFill/>
          </a:ln>
        </p:spPr>
        <p:txBody>
          <a:bodyPr lIns="118872" tIns="91440" rIns="118872" bIns="73152" anchor="t">
            <a:normAutofit/>
          </a:bodyPr>
          <a:lstStyle/>
          <a:p>
            <a:pPr>
              <a:spcAft>
                <a:spcPts val="400"/>
              </a:spcAft>
            </a:pPr>
            <a:r>
              <a:rPr lang="en-IN" sz="1400" b="1">
                <a:solidFill>
                  <a:srgbClr val="A100FF"/>
                </a:solidFill>
                <a:latin typeface="Arial"/>
                <a:cs typeface="Arial"/>
              </a:rPr>
              <a:t>WHAT WAS STILL WRONG</a:t>
            </a:r>
          </a:p>
          <a:p>
            <a:pPr>
              <a:lnSpc>
                <a:spcPct val="107000"/>
              </a:lnSpc>
              <a:spcAft>
                <a:spcPts val="0"/>
              </a:spcAft>
            </a:pPr>
            <a:r>
              <a:rPr lang="en-IN" sz="1200">
                <a:latin typeface="Arial"/>
                <a:cs typeface="Arial"/>
              </a:rPr>
              <a:t>The metadata beside it carried </a:t>
            </a:r>
            <a:r>
              <a:rPr lang="en-IN" sz="1200" err="1">
                <a:latin typeface="Arial"/>
                <a:cs typeface="Arial"/>
              </a:rPr>
              <a:t>original_text</a:t>
            </a:r>
            <a:r>
              <a:rPr lang="en-IN" sz="1200">
                <a:latin typeface="Arial"/>
                <a:cs typeface="Arial"/>
              </a:rPr>
              <a:t> verbatim. The gateway ruled the content </a:t>
            </a:r>
            <a:r>
              <a:rPr lang="en-IN" sz="1200" err="1">
                <a:latin typeface="Arial"/>
                <a:cs typeface="Arial"/>
              </a:rPr>
              <a:t>unreleasable</a:t>
            </a:r>
            <a:r>
              <a:rPr lang="en-IN" sz="1200">
                <a:latin typeface="Arial"/>
                <a:cs typeface="Arial"/>
              </a:rPr>
              <a:t> and then released it in the same HTTP response (MRN, date of birth, phone and SSN) on both the streamed and non-streamed paths.</a:t>
            </a:r>
          </a:p>
        </p:txBody>
      </p:sp>
      <p:sp>
        <p:nvSpPr>
          <p:cNvPr id="105" name="card"/>
          <p:cNvSpPr>
            <a:spLocks noGrp="1"/>
          </p:cNvSpPr>
          <p:nvPr/>
        </p:nvSpPr>
        <p:spPr>
          <a:xfrm>
            <a:off x="8138160" y="1572768"/>
            <a:ext cx="3685032" cy="1663802"/>
          </a:xfrm>
          <a:prstGeom prst="roundRect">
            <a:avLst>
              <a:gd name="adj" fmla="val 7120"/>
            </a:avLst>
          </a:prstGeom>
          <a:solidFill>
            <a:srgbClr val="F5EBFF"/>
          </a:solidFill>
          <a:ln>
            <a:noFill/>
          </a:ln>
        </p:spPr>
        <p:txBody>
          <a:bodyPr lIns="118872" tIns="91440" rIns="118872" bIns="73152" anchor="t">
            <a:normAutofit/>
          </a:bodyPr>
          <a:lstStyle/>
          <a:p>
            <a:pPr>
              <a:spcAft>
                <a:spcPts val="400"/>
              </a:spcAft>
            </a:pPr>
            <a:r>
              <a:rPr lang="en-IN" sz="1400" b="1">
                <a:solidFill>
                  <a:srgbClr val="A100FF"/>
                </a:solidFill>
                <a:latin typeface="Arial"/>
                <a:cs typeface="Arial"/>
              </a:rPr>
              <a:t>WHY REVIEW HAD MISSED IT</a:t>
            </a:r>
          </a:p>
          <a:p>
            <a:pPr>
              <a:lnSpc>
                <a:spcPct val="107000"/>
              </a:lnSpc>
              <a:spcAft>
                <a:spcPts val="0"/>
              </a:spcAft>
            </a:pPr>
            <a:r>
              <a:rPr lang="en-IN" sz="1200">
                <a:latin typeface="Arial"/>
                <a:cs typeface="Arial"/>
              </a:rPr>
              <a:t>The regression test's own docstring claimed it asserted on “the bytes a client actually receives”. It only reassembled the streamed content deltas, and never inspected the envelope those deltas arrive inside.</a:t>
            </a:r>
          </a:p>
        </p:txBody>
      </p:sp>
      <p:sp>
        <p:nvSpPr>
          <p:cNvPr id="106" name="fix"/>
          <p:cNvSpPr>
            <a:spLocks noGrp="1"/>
          </p:cNvSpPr>
          <p:nvPr/>
        </p:nvSpPr>
        <p:spPr>
          <a:xfrm>
            <a:off x="375920" y="3427578"/>
            <a:ext cx="11457432" cy="1089965"/>
          </a:xfrm>
          <a:prstGeom prst="roundRect">
            <a:avLst>
              <a:gd name="adj" fmla="val 7550"/>
            </a:avLst>
          </a:prstGeom>
          <a:solidFill>
            <a:srgbClr val="FFFFFF"/>
          </a:solidFill>
          <a:ln w="9525">
            <a:solidFill>
              <a:srgbClr val="A100FF"/>
            </a:solidFill>
          </a:ln>
        </p:spPr>
        <p:txBody>
          <a:bodyPr lIns="137160" tIns="100584" rIns="137160" bIns="73152" anchor="ctr">
            <a:normAutofit lnSpcReduction="10000"/>
          </a:bodyPr>
          <a:lstStyle/>
          <a:p>
            <a:pPr>
              <a:spcAft>
                <a:spcPts val="380"/>
              </a:spcAft>
            </a:pPr>
            <a:r>
              <a:rPr lang="en-IN" sz="1400" b="1">
                <a:solidFill>
                  <a:srgbClr val="A100FF"/>
                </a:solidFill>
                <a:latin typeface="Arial"/>
                <a:cs typeface="Arial"/>
              </a:rPr>
              <a:t>THE FIX, VERIFIED ON THE RAW HTTP RESPONSE, NOT ON A PASSING UNIT TEST</a:t>
            </a:r>
          </a:p>
          <a:p>
            <a:pPr>
              <a:lnSpc>
                <a:spcPct val="108000"/>
              </a:lnSpc>
              <a:spcAft>
                <a:spcPts val="0"/>
              </a:spcAft>
            </a:pPr>
            <a:r>
              <a:rPr lang="en-IN" sz="1200" b="1">
                <a:solidFill>
                  <a:srgbClr val="D0342C"/>
                </a:solidFill>
                <a:latin typeface="Arial"/>
                <a:cs typeface="Arial"/>
              </a:rPr>
              <a:t>Before: </a:t>
            </a:r>
            <a:r>
              <a:rPr lang="en-IN" sz="1200">
                <a:solidFill>
                  <a:srgbClr val="2B2B2B"/>
                </a:solidFill>
                <a:latin typeface="Arial"/>
                <a:cs typeface="Arial"/>
              </a:rPr>
              <a:t>all four PHI markers present in the response body, on both transports.</a:t>
            </a:r>
          </a:p>
          <a:p>
            <a:pPr>
              <a:lnSpc>
                <a:spcPct val="108000"/>
              </a:lnSpc>
              <a:spcBef>
                <a:spcPts val="300"/>
              </a:spcBef>
              <a:spcAft>
                <a:spcPts val="0"/>
              </a:spcAft>
            </a:pPr>
            <a:r>
              <a:rPr lang="en-IN" sz="1200" b="1">
                <a:solidFill>
                  <a:srgbClr val="1E9E4A"/>
                </a:solidFill>
                <a:latin typeface="Arial"/>
                <a:cs typeface="Arial"/>
              </a:rPr>
              <a:t>After: </a:t>
            </a:r>
            <a:r>
              <a:rPr lang="en-IN" sz="1200">
                <a:solidFill>
                  <a:srgbClr val="2B2B2B"/>
                </a:solidFill>
                <a:latin typeface="Arial"/>
                <a:cs typeface="Arial"/>
              </a:rPr>
              <a:t>none. Free text is now withheld by default (a caller opts in with </a:t>
            </a:r>
            <a:r>
              <a:rPr lang="en-IN" sz="1200" err="1">
                <a:solidFill>
                  <a:srgbClr val="2B2B2B"/>
                </a:solidFill>
                <a:latin typeface="Arial"/>
                <a:cs typeface="Arial"/>
              </a:rPr>
              <a:t>include_raw_trace</a:t>
            </a:r>
            <a:r>
              <a:rPr lang="en-IN" sz="1200">
                <a:solidFill>
                  <a:srgbClr val="2B2B2B"/>
                </a:solidFill>
                <a:latin typeface="Arial"/>
                <a:cs typeface="Arial"/>
              </a:rPr>
              <a:t>), and that opt-in never overrides policy: RED, edited, rerouted, retracted or PII-bearing responses stay redacted whatever the caller asked for.</a:t>
            </a:r>
          </a:p>
        </p:txBody>
      </p:sp>
      <p:sp>
        <p:nvSpPr>
          <p:cNvPr id="107" name="card"/>
          <p:cNvSpPr>
            <a:spLocks noGrp="1"/>
          </p:cNvSpPr>
          <p:nvPr/>
        </p:nvSpPr>
        <p:spPr>
          <a:xfrm>
            <a:off x="375920" y="4657750"/>
            <a:ext cx="11457432" cy="1077163"/>
          </a:xfrm>
          <a:prstGeom prst="roundRect">
            <a:avLst>
              <a:gd name="adj" fmla="val 9202"/>
            </a:avLst>
          </a:prstGeom>
          <a:solidFill>
            <a:srgbClr val="F5EBFF"/>
          </a:solidFill>
          <a:ln>
            <a:noFill/>
          </a:ln>
        </p:spPr>
        <p:txBody>
          <a:bodyPr lIns="118872" tIns="91440" rIns="118872" bIns="73152" anchor="ctr">
            <a:normAutofit/>
          </a:bodyPr>
          <a:lstStyle/>
          <a:p>
            <a:pPr>
              <a:spcAft>
                <a:spcPts val="400"/>
              </a:spcAft>
            </a:pPr>
            <a:r>
              <a:rPr lang="en-IN" sz="1400" b="1">
                <a:solidFill>
                  <a:srgbClr val="A100FF"/>
                </a:solidFill>
                <a:latin typeface="Arial"/>
                <a:cs typeface="Arial"/>
              </a:rPr>
              <a:t>THE PART THAT WAS NOT IN THE REVIEW'S BRIEF</a:t>
            </a:r>
          </a:p>
          <a:p>
            <a:pPr>
              <a:lnSpc>
                <a:spcPct val="107000"/>
              </a:lnSpc>
            </a:pPr>
            <a:r>
              <a:rPr lang="en-IN" sz="1200">
                <a:latin typeface="Arial"/>
                <a:cs typeface="Arial"/>
              </a:rPr>
              <a:t>Redacting only the fields the review named would not have closed it. claims[ ].reasons names the offending figures one at a time (“figure 6789 does not appear anywhere in the context”), so an SSN redacted from the claim stayed </a:t>
            </a:r>
            <a:r>
              <a:rPr lang="en-IN" sz="1200" err="1">
                <a:latin typeface="Arial"/>
                <a:cs typeface="Arial"/>
              </a:rPr>
              <a:t>reassemblable</a:t>
            </a:r>
            <a:r>
              <a:rPr lang="en-IN" sz="1200">
                <a:latin typeface="Arial"/>
                <a:cs typeface="Arial"/>
              </a:rPr>
              <a:t> from the reasons beside it. The fix redacts the whole trace. The audit ledger still keeps the original, because an audit trail that redacts the thing it is auditing is worthless.</a:t>
            </a:r>
          </a:p>
        </p:txBody>
      </p:sp>
      <p:sp>
        <p:nvSpPr>
          <p:cNvPr id="108" name="tests"/>
          <p:cNvSpPr>
            <a:spLocks noGrp="1"/>
          </p:cNvSpPr>
          <p:nvPr/>
        </p:nvSpPr>
        <p:spPr>
          <a:xfrm>
            <a:off x="365760" y="5864962"/>
            <a:ext cx="11457432" cy="274320"/>
          </a:xfrm>
          <a:prstGeom prst="rect">
            <a:avLst/>
          </a:prstGeom>
          <a:noFill/>
          <a:ln>
            <a:noFill/>
          </a:ln>
        </p:spPr>
        <p:txBody>
          <a:bodyPr lIns="0" tIns="0" rIns="0" bIns="0" anchor="t">
            <a:noAutofit/>
          </a:bodyPr>
          <a:lstStyle/>
          <a:p>
            <a:pPr>
              <a:spcAft>
                <a:spcPts val="0"/>
              </a:spcAft>
            </a:pPr>
            <a:r>
              <a:rPr lang="en-IN" sz="1000">
                <a:solidFill>
                  <a:srgbClr val="666666"/>
                </a:solidFill>
                <a:latin typeface="Arial"/>
                <a:cs typeface="Arial"/>
              </a:rPr>
              <a:t>Ten new regression tests parse the full raw body on both transports. All ten fail against the previous commit and pass against this one: the test has teeth, and that was checked rather than assumed.</a:t>
            </a:r>
          </a:p>
        </p:txBody>
      </p:sp>
      <p:sp>
        <p:nvSpPr>
          <p:cNvPr id="907"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9</a:t>
            </a:fld>
            <a:endParaRPr lang="en-IN"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Business case: what per-response scrutiny costs, and what it is worth</a:t>
            </a:r>
          </a:p>
        </p:txBody>
      </p:sp>
      <p:sp>
        <p:nvSpPr>
          <p:cNvPr id="102" name="lede"/>
          <p:cNvSpPr>
            <a:spLocks noGrp="1"/>
          </p:cNvSpPr>
          <p:nvPr/>
        </p:nvSpPr>
        <p:spPr>
          <a:xfrm>
            <a:off x="365760" y="941832"/>
            <a:ext cx="11457432" cy="557784"/>
          </a:xfrm>
          <a:prstGeom prst="rect">
            <a:avLst/>
          </a:prstGeom>
          <a:noFill/>
          <a:ln>
            <a:noFill/>
          </a:ln>
        </p:spPr>
        <p:txBody>
          <a:bodyPr lIns="0" tIns="0" rIns="0" bIns="0" anchor="t">
            <a:normAutofit/>
          </a:bodyPr>
          <a:lstStyle/>
          <a:p>
            <a:pPr>
              <a:lnSpc>
                <a:spcPct val="112000"/>
              </a:lnSpc>
              <a:spcAft>
                <a:spcPts val="0"/>
              </a:spcAft>
            </a:pPr>
            <a:r>
              <a:rPr lang="en-IN" sz="1200">
                <a:latin typeface="Arial"/>
                <a:cs typeface="Arial"/>
              </a:rPr>
              <a:t>The brief's reference parameter is tens of thousands of interactions per week. At 30,000/week the run cost is measured from the prototype. The value is not. It depends on assumptions, so those are stated on this slide rather than buried in a footnote</a:t>
            </a:r>
            <a:r>
              <a:rPr lang="en-IN" sz="1150">
                <a:latin typeface="Arial"/>
                <a:cs typeface="Arial"/>
              </a:rPr>
              <a:t>.</a:t>
            </a:r>
          </a:p>
        </p:txBody>
      </p:sp>
      <p:sp>
        <p:nvSpPr>
          <p:cNvPr id="901" name="split"/>
          <p:cNvSpPr/>
          <p:nvPr/>
        </p:nvSpPr>
        <p:spPr>
          <a:xfrm>
            <a:off x="6084315" y="1500895"/>
            <a:ext cx="18815" cy="3834234"/>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IN"/>
          </a:p>
        </p:txBody>
      </p:sp>
      <p:sp>
        <p:nvSpPr>
          <p:cNvPr id="103" name="mh"/>
          <p:cNvSpPr>
            <a:spLocks noGrp="1"/>
          </p:cNvSpPr>
          <p:nvPr/>
        </p:nvSpPr>
        <p:spPr>
          <a:xfrm>
            <a:off x="355600" y="1491488"/>
            <a:ext cx="5628132" cy="365760"/>
          </a:xfrm>
          <a:prstGeom prst="roundRect">
            <a:avLst>
              <a:gd name="adj" fmla="val 12500"/>
            </a:avLst>
          </a:prstGeom>
          <a:solidFill>
            <a:srgbClr val="A100FF"/>
          </a:solidFill>
          <a:ln>
            <a:noFill/>
          </a:ln>
        </p:spPr>
        <p:txBody>
          <a:bodyPr lIns="128016" tIns="36576" rIns="91440" bIns="36576" anchor="ctr">
            <a:normAutofit/>
          </a:bodyPr>
          <a:lstStyle/>
          <a:p>
            <a:pPr>
              <a:spcAft>
                <a:spcPts val="0"/>
              </a:spcAft>
            </a:pPr>
            <a:r>
              <a:rPr lang="en-IN" sz="1400" b="1">
                <a:solidFill>
                  <a:srgbClr val="FFFFFF"/>
                </a:solidFill>
                <a:latin typeface="Arial"/>
                <a:cs typeface="Arial"/>
              </a:rPr>
              <a:t>MEASURED: TAKEN FROM THE RUNNING PROTOTYPE</a:t>
            </a:r>
          </a:p>
        </p:txBody>
      </p:sp>
      <p:sp>
        <p:nvSpPr>
          <p:cNvPr id="104" name="card"/>
          <p:cNvSpPr>
            <a:spLocks noGrp="1"/>
          </p:cNvSpPr>
          <p:nvPr/>
        </p:nvSpPr>
        <p:spPr>
          <a:xfrm>
            <a:off x="355600" y="1966976"/>
            <a:ext cx="5628132" cy="735178"/>
          </a:xfrm>
          <a:prstGeom prst="roundRect">
            <a:avLst>
              <a:gd name="adj" fmla="val 11194"/>
            </a:avLst>
          </a:prstGeom>
          <a:solidFill>
            <a:srgbClr val="F5EBFF"/>
          </a:solidFill>
          <a:ln>
            <a:noFill/>
          </a:ln>
        </p:spPr>
        <p:txBody>
          <a:bodyPr lIns="118872" tIns="73152" rIns="118872" bIns="45720" anchor="t">
            <a:normAutofit fontScale="92500" lnSpcReduction="20000"/>
          </a:bodyPr>
          <a:lstStyle/>
          <a:p>
            <a:pPr>
              <a:spcAft>
                <a:spcPts val="400"/>
              </a:spcAft>
            </a:pPr>
            <a:r>
              <a:rPr lang="en-IN" sz="1500" b="1">
                <a:solidFill>
                  <a:srgbClr val="A100FF"/>
                </a:solidFill>
                <a:latin typeface="Arial"/>
                <a:cs typeface="Arial"/>
              </a:rPr>
              <a:t>$3,697 / year to run</a:t>
            </a:r>
            <a:endParaRPr lang="en-US" sz="1500">
              <a:solidFill>
                <a:srgbClr val="A100FF"/>
              </a:solidFill>
              <a:latin typeface="Arial"/>
              <a:cs typeface="Arial"/>
            </a:endParaRPr>
          </a:p>
          <a:p>
            <a:pPr>
              <a:lnSpc>
                <a:spcPct val="107000"/>
              </a:lnSpc>
            </a:pPr>
            <a:r>
              <a:rPr lang="en-IN" sz="1300">
                <a:solidFill>
                  <a:srgbClr val="000000"/>
                </a:solidFill>
                <a:latin typeface="Arial"/>
                <a:cs typeface="Arial"/>
              </a:rPr>
              <a:t>30,000 interactions/week × 52 × $0.00237 per request, the measured all-in cost including the verifier's own tokens.</a:t>
            </a:r>
            <a:endParaRPr lang="en-US" sz="1300">
              <a:solidFill>
                <a:srgbClr val="A100FF"/>
              </a:solidFill>
              <a:latin typeface="Arial"/>
              <a:cs typeface="Arial"/>
            </a:endParaRPr>
          </a:p>
          <a:p>
            <a:pPr>
              <a:spcAft>
                <a:spcPts val="400"/>
              </a:spcAft>
            </a:pPr>
            <a:endParaRPr lang="en-IN" sz="1200" b="1">
              <a:solidFill>
                <a:srgbClr val="A100FF"/>
              </a:solidFill>
              <a:latin typeface="Arial"/>
              <a:cs typeface="Arial"/>
            </a:endParaRPr>
          </a:p>
        </p:txBody>
      </p:sp>
      <p:sp>
        <p:nvSpPr>
          <p:cNvPr id="105" name="card"/>
          <p:cNvSpPr>
            <a:spLocks noGrp="1"/>
          </p:cNvSpPr>
          <p:nvPr/>
        </p:nvSpPr>
        <p:spPr>
          <a:xfrm>
            <a:off x="355600" y="2830697"/>
            <a:ext cx="5628132" cy="720547"/>
          </a:xfrm>
          <a:prstGeom prst="roundRect">
            <a:avLst>
              <a:gd name="adj" fmla="val 11421"/>
            </a:avLst>
          </a:prstGeom>
          <a:solidFill>
            <a:srgbClr val="F5EBFF"/>
          </a:solidFill>
          <a:ln>
            <a:noFill/>
          </a:ln>
        </p:spPr>
        <p:txBody>
          <a:bodyPr lIns="118872" tIns="73152" rIns="118872" bIns="45720" anchor="t">
            <a:normAutofit fontScale="85000" lnSpcReduction="20000"/>
          </a:bodyPr>
          <a:lstStyle/>
          <a:p>
            <a:pPr>
              <a:spcAft>
                <a:spcPts val="400"/>
              </a:spcAft>
            </a:pPr>
            <a:r>
              <a:rPr lang="en-IN" sz="1600" b="1">
                <a:solidFill>
                  <a:srgbClr val="A100FF"/>
                </a:solidFill>
                <a:latin typeface="Arial"/>
                <a:cs typeface="Arial"/>
              </a:rPr>
              <a:t>96.4% of tokens are the verifier</a:t>
            </a:r>
          </a:p>
          <a:p>
            <a:pPr>
              <a:lnSpc>
                <a:spcPct val="107000"/>
              </a:lnSpc>
              <a:spcAft>
                <a:spcPts val="0"/>
              </a:spcAft>
            </a:pPr>
            <a:r>
              <a:rPr lang="en-IN" sz="1300">
                <a:latin typeface="Arial"/>
                <a:cs typeface="Arial"/>
              </a:rPr>
              <a:t>Which is why it is gated to 32% of held requests rather than run on everything: the gate is the cost control.</a:t>
            </a:r>
          </a:p>
        </p:txBody>
      </p:sp>
      <p:sp>
        <p:nvSpPr>
          <p:cNvPr id="106" name="card"/>
          <p:cNvSpPr>
            <a:spLocks noGrp="1"/>
          </p:cNvSpPr>
          <p:nvPr/>
        </p:nvSpPr>
        <p:spPr>
          <a:xfrm>
            <a:off x="355600" y="3726824"/>
            <a:ext cx="5628132" cy="735178"/>
          </a:xfrm>
          <a:prstGeom prst="roundRect">
            <a:avLst>
              <a:gd name="adj" fmla="val 11194"/>
            </a:avLst>
          </a:prstGeom>
          <a:solidFill>
            <a:srgbClr val="F5EBFF"/>
          </a:solidFill>
          <a:ln>
            <a:noFill/>
          </a:ln>
        </p:spPr>
        <p:txBody>
          <a:bodyPr lIns="118872" tIns="73152" rIns="118872" bIns="45720" anchor="t">
            <a:normAutofit fontScale="92500" lnSpcReduction="20000"/>
          </a:bodyPr>
          <a:lstStyle/>
          <a:p>
            <a:pPr>
              <a:spcAft>
                <a:spcPts val="400"/>
              </a:spcAft>
            </a:pPr>
            <a:r>
              <a:rPr lang="en-IN" sz="1500" b="1">
                <a:solidFill>
                  <a:srgbClr val="A100FF"/>
                </a:solidFill>
                <a:latin typeface="Arial"/>
                <a:cs typeface="Arial"/>
              </a:rPr>
              <a:t>Recall 1.000 at precision 0.917</a:t>
            </a:r>
          </a:p>
          <a:p>
            <a:pPr>
              <a:lnSpc>
                <a:spcPct val="107000"/>
              </a:lnSpc>
            </a:pPr>
            <a:r>
              <a:rPr lang="en-IN" sz="1300">
                <a:latin typeface="Arial"/>
                <a:cs typeface="Arial"/>
              </a:rPr>
              <a:t>Performance lane against the seeded set; Cost and Responsibility both 1.000/1.000. Final decision accuracy 95.2%.</a:t>
            </a:r>
            <a:endParaRPr lang="en-IN" sz="1300">
              <a:latin typeface="Arial"/>
              <a:ea typeface="Calibri"/>
              <a:cs typeface="Arial"/>
            </a:endParaRPr>
          </a:p>
        </p:txBody>
      </p:sp>
      <p:sp>
        <p:nvSpPr>
          <p:cNvPr id="107" name="card"/>
          <p:cNvSpPr>
            <a:spLocks noGrp="1"/>
          </p:cNvSpPr>
          <p:nvPr/>
        </p:nvSpPr>
        <p:spPr>
          <a:xfrm>
            <a:off x="355600" y="4599951"/>
            <a:ext cx="5628132" cy="735178"/>
          </a:xfrm>
          <a:prstGeom prst="roundRect">
            <a:avLst>
              <a:gd name="adj" fmla="val 11194"/>
            </a:avLst>
          </a:prstGeom>
          <a:solidFill>
            <a:srgbClr val="F5EBFF"/>
          </a:solidFill>
          <a:ln>
            <a:noFill/>
          </a:ln>
        </p:spPr>
        <p:txBody>
          <a:bodyPr lIns="118872" tIns="73152" rIns="118872" bIns="45720" anchor="t">
            <a:normAutofit fontScale="92500" lnSpcReduction="20000"/>
          </a:bodyPr>
          <a:lstStyle/>
          <a:p>
            <a:pPr>
              <a:spcAft>
                <a:spcPts val="400"/>
              </a:spcAft>
            </a:pPr>
            <a:r>
              <a:rPr lang="en-IN" sz="1500" b="1">
                <a:solidFill>
                  <a:srgbClr val="A100FF"/>
                </a:solidFill>
                <a:latin typeface="Arial"/>
                <a:cs typeface="Arial"/>
              </a:rPr>
              <a:t>Overhead is not the constraint</a:t>
            </a:r>
          </a:p>
          <a:p>
            <a:pPr>
              <a:lnSpc>
                <a:spcPct val="107000"/>
              </a:lnSpc>
              <a:spcAft>
                <a:spcPts val="0"/>
              </a:spcAft>
            </a:pPr>
            <a:r>
              <a:rPr lang="en-IN" sz="1300">
                <a:latin typeface="Arial"/>
                <a:cs typeface="Arial"/>
              </a:rPr>
              <a:t>Median 2.3 </a:t>
            </a:r>
            <a:r>
              <a:rPr lang="en-IN" sz="1300" err="1">
                <a:latin typeface="Arial"/>
                <a:cs typeface="Arial"/>
              </a:rPr>
              <a:t>ms</a:t>
            </a:r>
            <a:r>
              <a:rPr lang="en-IN" sz="1300">
                <a:latin typeface="Arial"/>
                <a:cs typeface="Arial"/>
              </a:rPr>
              <a:t> inline, 51 of 53 held requests inside their own budget (reference machine; wall-clock varies by hardware).</a:t>
            </a:r>
          </a:p>
        </p:txBody>
      </p:sp>
      <p:sp>
        <p:nvSpPr>
          <p:cNvPr id="108" name="dh"/>
          <p:cNvSpPr>
            <a:spLocks noGrp="1"/>
          </p:cNvSpPr>
          <p:nvPr/>
        </p:nvSpPr>
        <p:spPr>
          <a:xfrm>
            <a:off x="6184900" y="1491488"/>
            <a:ext cx="5628132" cy="365760"/>
          </a:xfrm>
          <a:prstGeom prst="roundRect">
            <a:avLst>
              <a:gd name="adj" fmla="val 12500"/>
            </a:avLst>
          </a:prstGeom>
          <a:solidFill>
            <a:srgbClr val="FFFFFF"/>
          </a:solidFill>
          <a:ln w="9525">
            <a:solidFill>
              <a:srgbClr val="A100FF"/>
            </a:solidFill>
          </a:ln>
        </p:spPr>
        <p:txBody>
          <a:bodyPr lIns="128016" tIns="36576" rIns="91440" bIns="36576" anchor="ctr">
            <a:normAutofit/>
          </a:bodyPr>
          <a:lstStyle/>
          <a:p>
            <a:pPr>
              <a:spcAft>
                <a:spcPts val="0"/>
              </a:spcAft>
            </a:pPr>
            <a:r>
              <a:rPr lang="en-IN" sz="1400" b="1">
                <a:solidFill>
                  <a:srgbClr val="A100FF"/>
                </a:solidFill>
                <a:latin typeface="Arial"/>
                <a:cs typeface="Arial"/>
              </a:rPr>
              <a:t>MODELLED: ASSUMPTIONS, NOT EVIDENCE</a:t>
            </a:r>
          </a:p>
        </p:txBody>
      </p:sp>
      <p:sp>
        <p:nvSpPr>
          <p:cNvPr id="109" name="mod"/>
          <p:cNvSpPr>
            <a:spLocks noGrp="1"/>
          </p:cNvSpPr>
          <p:nvPr/>
        </p:nvSpPr>
        <p:spPr>
          <a:xfrm>
            <a:off x="6184900" y="1966976"/>
            <a:ext cx="5628132" cy="960954"/>
          </a:xfrm>
          <a:prstGeom prst="roundRect">
            <a:avLst>
              <a:gd name="adj" fmla="val 11194"/>
            </a:avLst>
          </a:prstGeom>
          <a:solidFill>
            <a:srgbClr val="FFFFFF"/>
          </a:solidFill>
          <a:ln w="9525">
            <a:solidFill>
              <a:srgbClr val="A100FF"/>
            </a:solidFill>
          </a:ln>
        </p:spPr>
        <p:txBody>
          <a:bodyPr lIns="118872" tIns="73152" rIns="118872" bIns="45720" anchor="ctr">
            <a:normAutofit fontScale="92500" lnSpcReduction="10000"/>
          </a:bodyPr>
          <a:lstStyle/>
          <a:p>
            <a:pPr>
              <a:spcAft>
                <a:spcPts val="300"/>
              </a:spcAft>
            </a:pPr>
            <a:r>
              <a:rPr lang="en-IN" sz="1500" b="1">
                <a:solidFill>
                  <a:srgbClr val="A100FF"/>
                </a:solidFill>
                <a:latin typeface="Arial"/>
                <a:cs typeface="Arial"/>
              </a:rPr>
              <a:t>1.0% material defect rate</a:t>
            </a:r>
            <a:r>
              <a:rPr lang="en-IN" sz="1400" b="1">
                <a:solidFill>
                  <a:srgbClr val="A100FF"/>
                </a:solidFill>
                <a:latin typeface="Arial"/>
                <a:cs typeface="Arial"/>
              </a:rPr>
              <a:t> </a:t>
            </a:r>
            <a:r>
              <a:rPr lang="en-IN" sz="1000" b="1">
                <a:solidFill>
                  <a:srgbClr val="A100FF"/>
                </a:solidFill>
                <a:latin typeface="Arial"/>
                <a:cs typeface="Arial"/>
              </a:rPr>
              <a:t>  </a:t>
            </a:r>
            <a:r>
              <a:rPr lang="en-IN" sz="1100" b="1">
                <a:solidFill>
                  <a:srgbClr val="D69500"/>
                </a:solidFill>
                <a:latin typeface="Arial"/>
                <a:cs typeface="Arial"/>
              </a:rPr>
              <a:t>ASSUMPTION</a:t>
            </a:r>
          </a:p>
          <a:p>
            <a:pPr>
              <a:lnSpc>
                <a:spcPct val="106000"/>
              </a:lnSpc>
              <a:spcAft>
                <a:spcPts val="0"/>
              </a:spcAft>
            </a:pPr>
            <a:r>
              <a:rPr lang="en-IN" sz="1300">
                <a:solidFill>
                  <a:srgbClr val="2B2B2B"/>
                </a:solidFill>
                <a:latin typeface="Arial"/>
                <a:cs typeface="Arial"/>
              </a:rPr>
              <a:t>Of 1,560,000 interactions a year, 15,600 carry a material defect. Not measured here: the seeded set is deliberately enriched with failures and is not a production base rate.</a:t>
            </a:r>
          </a:p>
        </p:txBody>
      </p:sp>
      <p:sp>
        <p:nvSpPr>
          <p:cNvPr id="110" name="mod"/>
          <p:cNvSpPr>
            <a:spLocks noGrp="1"/>
          </p:cNvSpPr>
          <p:nvPr/>
        </p:nvSpPr>
        <p:spPr>
          <a:xfrm>
            <a:off x="6194307" y="3009438"/>
            <a:ext cx="5628132" cy="720547"/>
          </a:xfrm>
          <a:prstGeom prst="roundRect">
            <a:avLst>
              <a:gd name="adj" fmla="val 11421"/>
            </a:avLst>
          </a:prstGeom>
          <a:solidFill>
            <a:srgbClr val="FFFFFF"/>
          </a:solidFill>
          <a:ln w="9525">
            <a:solidFill>
              <a:srgbClr val="A100FF"/>
            </a:solidFill>
          </a:ln>
        </p:spPr>
        <p:txBody>
          <a:bodyPr lIns="118872" tIns="73152" rIns="118872" bIns="45720" anchor="ctr">
            <a:normAutofit fontScale="92500" lnSpcReduction="20000"/>
          </a:bodyPr>
          <a:lstStyle/>
          <a:p>
            <a:pPr>
              <a:spcAft>
                <a:spcPts val="300"/>
              </a:spcAft>
            </a:pPr>
            <a:r>
              <a:rPr lang="en-IN" sz="1500" b="1">
                <a:solidFill>
                  <a:srgbClr val="A100FF"/>
                </a:solidFill>
                <a:latin typeface="Arial"/>
                <a:cs typeface="Arial"/>
              </a:rPr>
              <a:t>0.5% of defects become incidents</a:t>
            </a:r>
            <a:r>
              <a:rPr lang="en-IN" sz="1400" b="1">
                <a:solidFill>
                  <a:srgbClr val="A100FF"/>
                </a:solidFill>
                <a:latin typeface="Arial"/>
                <a:cs typeface="Arial"/>
              </a:rPr>
              <a:t> </a:t>
            </a:r>
            <a:r>
              <a:rPr lang="en-IN" sz="1000" b="1">
                <a:solidFill>
                  <a:srgbClr val="A100FF"/>
                </a:solidFill>
                <a:latin typeface="Arial"/>
                <a:cs typeface="Arial"/>
              </a:rPr>
              <a:t>  </a:t>
            </a:r>
            <a:r>
              <a:rPr lang="en-IN" sz="1100" b="1">
                <a:solidFill>
                  <a:srgbClr val="D69500"/>
                </a:solidFill>
                <a:latin typeface="Arial"/>
                <a:cs typeface="Arial"/>
              </a:rPr>
              <a:t>ASSUMPTION</a:t>
            </a:r>
          </a:p>
          <a:p>
            <a:pPr>
              <a:lnSpc>
                <a:spcPct val="106000"/>
              </a:lnSpc>
              <a:spcAft>
                <a:spcPts val="0"/>
              </a:spcAft>
            </a:pPr>
            <a:r>
              <a:rPr lang="en-IN" sz="1300">
                <a:solidFill>
                  <a:srgbClr val="2B2B2B"/>
                </a:solidFill>
                <a:latin typeface="Arial"/>
                <a:cs typeface="Arial"/>
              </a:rPr>
              <a:t>78 costly incidents a year. Most defects are absorbed harmlessly; only a fraction reach a customer, a regulator or a balance sheet.</a:t>
            </a:r>
          </a:p>
        </p:txBody>
      </p:sp>
      <p:sp>
        <p:nvSpPr>
          <p:cNvPr id="111" name="mod"/>
          <p:cNvSpPr>
            <a:spLocks noGrp="1"/>
          </p:cNvSpPr>
          <p:nvPr/>
        </p:nvSpPr>
        <p:spPr>
          <a:xfrm>
            <a:off x="6175493" y="3792676"/>
            <a:ext cx="5628132" cy="735178"/>
          </a:xfrm>
          <a:prstGeom prst="roundRect">
            <a:avLst>
              <a:gd name="adj" fmla="val 11194"/>
            </a:avLst>
          </a:prstGeom>
          <a:solidFill>
            <a:srgbClr val="FFFFFF"/>
          </a:solidFill>
          <a:ln w="9525">
            <a:solidFill>
              <a:srgbClr val="A100FF"/>
            </a:solidFill>
          </a:ln>
        </p:spPr>
        <p:txBody>
          <a:bodyPr lIns="118872" tIns="73152" rIns="118872" bIns="45720" anchor="ctr">
            <a:normAutofit fontScale="92500" lnSpcReduction="20000"/>
          </a:bodyPr>
          <a:lstStyle/>
          <a:p>
            <a:pPr>
              <a:spcAft>
                <a:spcPts val="300"/>
              </a:spcAft>
            </a:pPr>
            <a:r>
              <a:rPr lang="en-IN" sz="1500" b="1">
                <a:solidFill>
                  <a:srgbClr val="A100FF"/>
                </a:solidFill>
                <a:latin typeface="Arial"/>
                <a:cs typeface="Arial"/>
              </a:rPr>
              <a:t>$25,000 per incident</a:t>
            </a:r>
            <a:r>
              <a:rPr lang="en-IN" sz="1000" b="1">
                <a:solidFill>
                  <a:srgbClr val="A100FF"/>
                </a:solidFill>
                <a:latin typeface="Arial"/>
                <a:cs typeface="Arial"/>
              </a:rPr>
              <a:t>  </a:t>
            </a:r>
            <a:r>
              <a:rPr lang="en-IN" sz="1100" b="1">
                <a:solidFill>
                  <a:srgbClr val="D69500"/>
                </a:solidFill>
                <a:latin typeface="Arial"/>
                <a:cs typeface="Arial"/>
              </a:rPr>
              <a:t>ASSUMPTION</a:t>
            </a:r>
          </a:p>
          <a:p>
            <a:pPr>
              <a:lnSpc>
                <a:spcPct val="106000"/>
              </a:lnSpc>
              <a:spcAft>
                <a:spcPts val="0"/>
              </a:spcAft>
            </a:pPr>
            <a:r>
              <a:rPr lang="en-IN" sz="1300">
                <a:solidFill>
                  <a:srgbClr val="2B2B2B"/>
                </a:solidFill>
                <a:latin typeface="Arial"/>
                <a:cs typeface="Arial"/>
              </a:rPr>
              <a:t>Remediation, regulatory exposure and reputational cost combined. This is the number most worth arguing with, so vary it below.</a:t>
            </a:r>
          </a:p>
        </p:txBody>
      </p:sp>
      <p:sp>
        <p:nvSpPr>
          <p:cNvPr id="112" name="mod"/>
          <p:cNvSpPr>
            <a:spLocks noGrp="1"/>
          </p:cNvSpPr>
          <p:nvPr/>
        </p:nvSpPr>
        <p:spPr>
          <a:xfrm>
            <a:off x="6175493" y="4599951"/>
            <a:ext cx="5628132" cy="735178"/>
          </a:xfrm>
          <a:prstGeom prst="roundRect">
            <a:avLst>
              <a:gd name="adj" fmla="val 11194"/>
            </a:avLst>
          </a:prstGeom>
          <a:solidFill>
            <a:srgbClr val="FFFFFF"/>
          </a:solidFill>
          <a:ln w="9525">
            <a:solidFill>
              <a:srgbClr val="A100FF"/>
            </a:solidFill>
          </a:ln>
        </p:spPr>
        <p:txBody>
          <a:bodyPr lIns="118872" tIns="73152" rIns="118872" bIns="45720" anchor="ctr">
            <a:normAutofit fontScale="92500" lnSpcReduction="20000"/>
          </a:bodyPr>
          <a:lstStyle/>
          <a:p>
            <a:pPr>
              <a:spcAft>
                <a:spcPts val="300"/>
              </a:spcAft>
            </a:pPr>
            <a:r>
              <a:rPr lang="en-IN" sz="1500" b="1">
                <a:solidFill>
                  <a:srgbClr val="A100FF"/>
                </a:solidFill>
                <a:latin typeface="Arial"/>
                <a:cs typeface="Arial"/>
              </a:rPr>
              <a:t>≈ $1.95M / year addressed</a:t>
            </a:r>
            <a:r>
              <a:rPr lang="en-IN" sz="1300" b="1">
                <a:solidFill>
                  <a:srgbClr val="A100FF"/>
                </a:solidFill>
                <a:latin typeface="Arial"/>
                <a:cs typeface="Arial"/>
              </a:rPr>
              <a:t>   </a:t>
            </a:r>
            <a:r>
              <a:rPr lang="en-IN" sz="1100" b="1">
                <a:solidFill>
                  <a:srgbClr val="D69500"/>
                </a:solidFill>
                <a:latin typeface="Arial"/>
                <a:cs typeface="Arial"/>
              </a:rPr>
              <a:t>DERIVED</a:t>
            </a:r>
            <a:endParaRPr lang="en-IN" sz="1100" b="1">
              <a:solidFill>
                <a:schemeClr val="accent5">
                  <a:lumMod val="60000"/>
                  <a:lumOff val="40000"/>
                </a:schemeClr>
              </a:solidFill>
              <a:latin typeface="Arial"/>
              <a:cs typeface="Arial"/>
            </a:endParaRPr>
          </a:p>
          <a:p>
            <a:pPr>
              <a:lnSpc>
                <a:spcPct val="106000"/>
              </a:lnSpc>
              <a:spcAft>
                <a:spcPts val="0"/>
              </a:spcAft>
            </a:pPr>
            <a:r>
              <a:rPr lang="en-IN" sz="1300">
                <a:solidFill>
                  <a:srgbClr val="2B2B2B"/>
                </a:solidFill>
                <a:latin typeface="Arial"/>
                <a:cs typeface="Arial"/>
              </a:rPr>
              <a:t>78 incidents × $25,000, against $3,697/year to run the gateway. The ratio is a consequence of the three assumptions above, not a measurement.</a:t>
            </a:r>
          </a:p>
        </p:txBody>
      </p:sp>
      <p:sp>
        <p:nvSpPr>
          <p:cNvPr id="113" name="sens"/>
          <p:cNvSpPr>
            <a:spLocks noGrp="1"/>
          </p:cNvSpPr>
          <p:nvPr/>
        </p:nvSpPr>
        <p:spPr>
          <a:xfrm>
            <a:off x="355600" y="5490046"/>
            <a:ext cx="11457432" cy="868985"/>
          </a:xfrm>
          <a:prstGeom prst="roundRect">
            <a:avLst>
              <a:gd name="adj" fmla="val 11016"/>
            </a:avLst>
          </a:prstGeom>
          <a:solidFill>
            <a:srgbClr val="F5EBFF"/>
          </a:solidFill>
          <a:ln>
            <a:noFill/>
          </a:ln>
        </p:spPr>
        <p:txBody>
          <a:bodyPr lIns="137160" tIns="73152" rIns="137160" bIns="45720" anchor="ctr">
            <a:normAutofit/>
          </a:bodyPr>
          <a:lstStyle/>
          <a:p>
            <a:pPr>
              <a:spcAft>
                <a:spcPts val="320"/>
              </a:spcAft>
            </a:pPr>
            <a:r>
              <a:rPr lang="en-IN" sz="1400" b="1">
                <a:solidFill>
                  <a:srgbClr val="A100FF"/>
                </a:solidFill>
                <a:latin typeface="Arial"/>
                <a:cs typeface="Arial"/>
              </a:rPr>
              <a:t>SENSITIVITY: CHANGE THE ONE NUMBER YOU DISAGREE WITH</a:t>
            </a:r>
          </a:p>
          <a:p>
            <a:pPr>
              <a:lnSpc>
                <a:spcPct val="108000"/>
              </a:lnSpc>
            </a:pPr>
            <a:r>
              <a:rPr lang="en-IN" sz="1200">
                <a:solidFill>
                  <a:srgbClr val="2B2B2B"/>
                </a:solidFill>
                <a:latin typeface="Arial"/>
                <a:cs typeface="Arial"/>
              </a:rPr>
              <a:t>Cost per incident $10,000 → $780k/year  ·  $25,000 → $1.95M/year  ·  $50,000 → $3.9M/year.   Against $3,697/year to run, measured. Every input is stated above; substitute your own and the arithmetic holds. The point of the slide is the formula, not the headline.</a:t>
            </a:r>
          </a:p>
        </p:txBody>
      </p:sp>
      <p:sp>
        <p:nvSpPr>
          <p:cNvPr id="902"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10</a:t>
            </a:fld>
            <a:endParaRPr lang="en-IN" sz="1000"/>
          </a:p>
        </p:txBody>
      </p:sp>
    </p:spTree>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Differentiation: what is hard to replicate, argued against named alternatives</a:t>
            </a:r>
          </a:p>
        </p:txBody>
      </p:sp>
      <p:sp>
        <p:nvSpPr>
          <p:cNvPr id="102" name="lede"/>
          <p:cNvSpPr>
            <a:spLocks noGrp="1"/>
          </p:cNvSpPr>
          <p:nvPr/>
        </p:nvSpPr>
        <p:spPr>
          <a:xfrm>
            <a:off x="365760" y="941832"/>
            <a:ext cx="11457432" cy="557784"/>
          </a:xfrm>
          <a:prstGeom prst="rect">
            <a:avLst/>
          </a:prstGeom>
          <a:noFill/>
          <a:ln>
            <a:noFill/>
          </a:ln>
        </p:spPr>
        <p:txBody>
          <a:bodyPr lIns="0" tIns="0" rIns="0" bIns="0" anchor="t">
            <a:normAutofit/>
          </a:bodyPr>
          <a:lstStyle/>
          <a:p>
            <a:pPr>
              <a:lnSpc>
                <a:spcPct val="112000"/>
              </a:lnSpc>
              <a:spcAft>
                <a:spcPts val="0"/>
              </a:spcAft>
            </a:pPr>
            <a:r>
              <a:rPr lang="en-IN" sz="1400">
                <a:latin typeface="Arial"/>
                <a:cs typeface="Arial"/>
              </a:rPr>
              <a:t>Three properties are structural rather than cosmetic. Each is a consequence of deciding scrutiny per response, which is the thing none of the categories below do.</a:t>
            </a:r>
          </a:p>
        </p:txBody>
      </p:sp>
      <p:sp>
        <p:nvSpPr>
          <p:cNvPr id="103" name="card"/>
          <p:cNvSpPr>
            <a:spLocks noGrp="1"/>
          </p:cNvSpPr>
          <p:nvPr/>
        </p:nvSpPr>
        <p:spPr>
          <a:xfrm>
            <a:off x="365760" y="1469796"/>
            <a:ext cx="3633546" cy="1763415"/>
          </a:xfrm>
          <a:prstGeom prst="roundRect">
            <a:avLst>
              <a:gd name="adj" fmla="val 6281"/>
            </a:avLst>
          </a:prstGeom>
          <a:solidFill>
            <a:srgbClr val="F5EBFF"/>
          </a:solidFill>
          <a:ln>
            <a:noFill/>
          </a:ln>
        </p:spPr>
        <p:txBody>
          <a:bodyPr lIns="118872" tIns="91440" rIns="118872" bIns="73152" anchor="ctr">
            <a:normAutofit/>
          </a:bodyPr>
          <a:lstStyle/>
          <a:p>
            <a:pPr>
              <a:spcAft>
                <a:spcPts val="400"/>
              </a:spcAft>
            </a:pPr>
            <a:r>
              <a:rPr lang="en-IN" sz="1200" b="1">
                <a:solidFill>
                  <a:srgbClr val="A100FF"/>
                </a:solidFill>
                <a:latin typeface="Arial"/>
                <a:cs typeface="Arial"/>
              </a:rPr>
              <a:t>CLOSED-FORM THRESHOLDS</a:t>
            </a:r>
            <a:endParaRPr lang="en-US">
              <a:ea typeface="Calibri" panose="020F0502020204030204"/>
              <a:cs typeface="Calibri" panose="020F0502020204030204"/>
            </a:endParaRPr>
          </a:p>
          <a:p>
            <a:pPr>
              <a:lnSpc>
                <a:spcPct val="107000"/>
              </a:lnSpc>
              <a:spcAft>
                <a:spcPts val="0"/>
              </a:spcAft>
            </a:pPr>
            <a:r>
              <a:rPr lang="en-IN" sz="1100">
                <a:latin typeface="Arial"/>
                <a:cs typeface="Arial"/>
              </a:rPr>
              <a:t>The yellow and red cut points are derived from a stated cost-of-miss ratio, not hand-tuned. Move the ratio and the thresholds move with it, with measured calibration behind them (Brier 0.073, ECE 0.100). Anyone can copy a threshold; deriving it from a declared risk appetite is what makes it defensible to an auditor.</a:t>
            </a:r>
          </a:p>
        </p:txBody>
      </p:sp>
      <p:sp>
        <p:nvSpPr>
          <p:cNvPr id="104" name="card"/>
          <p:cNvSpPr>
            <a:spLocks noGrp="1"/>
          </p:cNvSpPr>
          <p:nvPr/>
        </p:nvSpPr>
        <p:spPr>
          <a:xfrm>
            <a:off x="4251960" y="1469796"/>
            <a:ext cx="3633546" cy="1763415"/>
          </a:xfrm>
          <a:prstGeom prst="roundRect">
            <a:avLst>
              <a:gd name="adj" fmla="val 6281"/>
            </a:avLst>
          </a:prstGeom>
          <a:solidFill>
            <a:srgbClr val="F5EBFF"/>
          </a:solidFill>
          <a:ln>
            <a:noFill/>
          </a:ln>
        </p:spPr>
        <p:txBody>
          <a:bodyPr lIns="118872" tIns="91440" rIns="118872" bIns="73152" anchor="ctr">
            <a:normAutofit/>
          </a:bodyPr>
          <a:lstStyle/>
          <a:p>
            <a:pPr>
              <a:spcAft>
                <a:spcPts val="400"/>
              </a:spcAft>
            </a:pPr>
            <a:r>
              <a:rPr lang="en-IN" sz="1200" b="1">
                <a:solidFill>
                  <a:srgbClr val="A100FF"/>
                </a:solidFill>
                <a:latin typeface="Arial"/>
                <a:cs typeface="Arial"/>
              </a:rPr>
              <a:t>THE EXPLORATION SAMPLER</a:t>
            </a:r>
          </a:p>
          <a:p>
            <a:pPr>
              <a:lnSpc>
                <a:spcPct val="107000"/>
              </a:lnSpc>
              <a:spcAft>
                <a:spcPts val="0"/>
              </a:spcAft>
            </a:pPr>
            <a:r>
              <a:rPr lang="en-IN" sz="1100">
                <a:latin typeface="Arial"/>
                <a:cs typeface="Arial"/>
              </a:rPr>
              <a:t>A fraction of the traffic the gate would have skipped is verified anyway. Without it, a system only ever measures the failures it already suspected, and its false-negative rate is structurally unknowable. This is the difference between a guardrail and a measurement.</a:t>
            </a:r>
          </a:p>
        </p:txBody>
      </p:sp>
      <p:sp>
        <p:nvSpPr>
          <p:cNvPr id="105" name="card"/>
          <p:cNvSpPr>
            <a:spLocks noGrp="1"/>
          </p:cNvSpPr>
          <p:nvPr/>
        </p:nvSpPr>
        <p:spPr>
          <a:xfrm>
            <a:off x="8138160" y="1469796"/>
            <a:ext cx="3633546" cy="1763415"/>
          </a:xfrm>
          <a:prstGeom prst="roundRect">
            <a:avLst>
              <a:gd name="adj" fmla="val 6281"/>
            </a:avLst>
          </a:prstGeom>
          <a:solidFill>
            <a:srgbClr val="F5EBFF"/>
          </a:solidFill>
          <a:ln>
            <a:noFill/>
          </a:ln>
        </p:spPr>
        <p:txBody>
          <a:bodyPr lIns="118872" tIns="91440" rIns="118872" bIns="73152" anchor="ctr">
            <a:normAutofit/>
          </a:bodyPr>
          <a:lstStyle/>
          <a:p>
            <a:pPr>
              <a:spcAft>
                <a:spcPts val="400"/>
              </a:spcAft>
            </a:pPr>
            <a:r>
              <a:rPr lang="en-IN" sz="1200" b="1">
                <a:solidFill>
                  <a:srgbClr val="A100FF"/>
                </a:solidFill>
                <a:latin typeface="Arial"/>
                <a:cs typeface="Arial"/>
              </a:rPr>
              <a:t>STANDALONE LEDGER VERIFIER</a:t>
            </a:r>
          </a:p>
          <a:p>
            <a:pPr>
              <a:lnSpc>
                <a:spcPct val="107000"/>
              </a:lnSpc>
            </a:pPr>
            <a:r>
              <a:rPr lang="en-IN" sz="1100" dirty="0">
                <a:latin typeface="Arial"/>
                <a:cs typeface="Arial"/>
              </a:rPr>
              <a:t>A separate tool re-derives the hash chain without importing the application, and detects both record alteration and tail truncation. Evidence that depends on the accused system to validate it is not evidence, so the verifier does not trust the gateway, and says so in its output.</a:t>
            </a:r>
          </a:p>
        </p:txBody>
      </p:sp>
      <p:sp>
        <p:nvSpPr>
          <p:cNvPr id="106" name="comp"/>
          <p:cNvSpPr>
            <a:spLocks noGrp="1"/>
          </p:cNvSpPr>
          <p:nvPr/>
        </p:nvSpPr>
        <p:spPr>
          <a:xfrm>
            <a:off x="365760" y="3340303"/>
            <a:ext cx="3623249" cy="1438878"/>
          </a:xfrm>
          <a:prstGeom prst="roundRect">
            <a:avLst>
              <a:gd name="adj" fmla="val 7217"/>
            </a:avLst>
          </a:prstGeom>
          <a:solidFill>
            <a:srgbClr val="FFFFFF"/>
          </a:solidFill>
          <a:ln w="9525">
            <a:solidFill>
              <a:srgbClr val="E6DCFF"/>
            </a:solidFill>
          </a:ln>
        </p:spPr>
        <p:txBody>
          <a:bodyPr lIns="118872" tIns="91440" rIns="118872" bIns="64008" anchor="t">
            <a:normAutofit/>
          </a:bodyPr>
          <a:lstStyle/>
          <a:p>
            <a:pPr>
              <a:spcAft>
                <a:spcPts val="220"/>
              </a:spcAft>
            </a:pPr>
            <a:r>
              <a:rPr lang="en-IN" sz="1400" b="1">
                <a:solidFill>
                  <a:srgbClr val="A100FF"/>
                </a:solidFill>
                <a:latin typeface="Arial"/>
                <a:cs typeface="Arial"/>
              </a:rPr>
              <a:t>EVAL FRAMEWORKS</a:t>
            </a:r>
          </a:p>
          <a:p>
            <a:pPr>
              <a:spcAft>
                <a:spcPts val="300"/>
              </a:spcAft>
            </a:pPr>
            <a:r>
              <a:rPr lang="en-IN" sz="1200" b="1" i="1" err="1">
                <a:solidFill>
                  <a:srgbClr val="2B2B2B"/>
                </a:solidFill>
                <a:latin typeface="Arial"/>
                <a:cs typeface="Arial"/>
              </a:rPr>
              <a:t>promptfoo</a:t>
            </a:r>
            <a:r>
              <a:rPr lang="en-IN" sz="1200" b="1" i="1">
                <a:solidFill>
                  <a:srgbClr val="2B2B2B"/>
                </a:solidFill>
                <a:latin typeface="Arial"/>
                <a:cs typeface="Arial"/>
              </a:rPr>
              <a:t>, </a:t>
            </a:r>
            <a:r>
              <a:rPr lang="en-IN" sz="1200" b="1" i="1" err="1">
                <a:solidFill>
                  <a:srgbClr val="2B2B2B"/>
                </a:solidFill>
                <a:latin typeface="Arial"/>
                <a:cs typeface="Arial"/>
              </a:rPr>
              <a:t>DeepEval</a:t>
            </a:r>
            <a:endParaRPr lang="en-IN" sz="1200" b="1" i="1">
              <a:solidFill>
                <a:srgbClr val="2B2B2B"/>
              </a:solidFill>
              <a:latin typeface="Arial"/>
              <a:cs typeface="Arial"/>
            </a:endParaRPr>
          </a:p>
          <a:p>
            <a:pPr>
              <a:lnSpc>
                <a:spcPct val="107000"/>
              </a:lnSpc>
              <a:spcAft>
                <a:spcPts val="0"/>
              </a:spcAft>
            </a:pPr>
            <a:r>
              <a:rPr lang="en-IN" sz="1200">
                <a:solidFill>
                  <a:srgbClr val="2B2B2B"/>
                </a:solidFill>
                <a:latin typeface="Arial"/>
                <a:cs typeface="Arial"/>
              </a:rPr>
              <a:t>Test before launch. Nothing runs in the live path, so nothing catches the response that ships tomorrow against a context that changed today.</a:t>
            </a:r>
          </a:p>
        </p:txBody>
      </p:sp>
      <p:sp>
        <p:nvSpPr>
          <p:cNvPr id="107" name="comp"/>
          <p:cNvSpPr>
            <a:spLocks noGrp="1"/>
          </p:cNvSpPr>
          <p:nvPr/>
        </p:nvSpPr>
        <p:spPr>
          <a:xfrm>
            <a:off x="4251960" y="3340303"/>
            <a:ext cx="3623249" cy="1438878"/>
          </a:xfrm>
          <a:prstGeom prst="roundRect">
            <a:avLst>
              <a:gd name="adj" fmla="val 7217"/>
            </a:avLst>
          </a:prstGeom>
          <a:solidFill>
            <a:srgbClr val="FFFFFF"/>
          </a:solidFill>
          <a:ln w="9525">
            <a:solidFill>
              <a:srgbClr val="E6DCFF"/>
            </a:solidFill>
          </a:ln>
        </p:spPr>
        <p:txBody>
          <a:bodyPr lIns="118872" tIns="91440" rIns="118872" bIns="64008" anchor="t">
            <a:normAutofit lnSpcReduction="10000"/>
          </a:bodyPr>
          <a:lstStyle/>
          <a:p>
            <a:pPr>
              <a:spcAft>
                <a:spcPts val="220"/>
              </a:spcAft>
            </a:pPr>
            <a:r>
              <a:rPr lang="en-IN" sz="1400" b="1">
                <a:solidFill>
                  <a:srgbClr val="A100FF"/>
                </a:solidFill>
                <a:latin typeface="Arial"/>
                <a:cs typeface="Arial"/>
              </a:rPr>
              <a:t>RUNTIME GUARDRAILS</a:t>
            </a:r>
          </a:p>
          <a:p>
            <a:pPr>
              <a:spcAft>
                <a:spcPts val="300"/>
              </a:spcAft>
            </a:pPr>
            <a:r>
              <a:rPr lang="en-IN" sz="1200" b="1" i="1">
                <a:solidFill>
                  <a:srgbClr val="2B2B2B"/>
                </a:solidFill>
                <a:latin typeface="Arial"/>
                <a:cs typeface="Arial"/>
              </a:rPr>
              <a:t>Guardrails AI, </a:t>
            </a:r>
            <a:r>
              <a:rPr lang="en-IN" sz="1200" b="1" i="1" err="1">
                <a:solidFill>
                  <a:srgbClr val="2B2B2B"/>
                </a:solidFill>
                <a:latin typeface="Arial"/>
                <a:cs typeface="Arial"/>
              </a:rPr>
              <a:t>NeMo</a:t>
            </a:r>
            <a:r>
              <a:rPr lang="en-IN" sz="1200" b="1" i="1">
                <a:solidFill>
                  <a:srgbClr val="2B2B2B"/>
                </a:solidFill>
                <a:latin typeface="Arial"/>
                <a:cs typeface="Arial"/>
              </a:rPr>
              <a:t> Guardrails</a:t>
            </a:r>
          </a:p>
          <a:p>
            <a:pPr>
              <a:lnSpc>
                <a:spcPct val="107000"/>
              </a:lnSpc>
              <a:spcAft>
                <a:spcPts val="0"/>
              </a:spcAft>
            </a:pPr>
            <a:r>
              <a:rPr lang="en-IN" sz="1200">
                <a:solidFill>
                  <a:srgbClr val="2B2B2B"/>
                </a:solidFill>
                <a:latin typeface="Arial"/>
                <a:cs typeface="Arial"/>
              </a:rPr>
              <a:t>Run in the path, but apply the same static checks to every request: uniform cost on uniform suspicion, with no notion of what this particular response is worth.</a:t>
            </a:r>
          </a:p>
        </p:txBody>
      </p:sp>
      <p:sp>
        <p:nvSpPr>
          <p:cNvPr id="108" name="comp"/>
          <p:cNvSpPr>
            <a:spLocks noGrp="1"/>
          </p:cNvSpPr>
          <p:nvPr/>
        </p:nvSpPr>
        <p:spPr>
          <a:xfrm>
            <a:off x="8138160" y="3340303"/>
            <a:ext cx="3623249" cy="1438878"/>
          </a:xfrm>
          <a:prstGeom prst="roundRect">
            <a:avLst>
              <a:gd name="adj" fmla="val 7217"/>
            </a:avLst>
          </a:prstGeom>
          <a:solidFill>
            <a:srgbClr val="FFFFFF"/>
          </a:solidFill>
          <a:ln w="9525">
            <a:solidFill>
              <a:srgbClr val="E6DCFF"/>
            </a:solidFill>
          </a:ln>
        </p:spPr>
        <p:txBody>
          <a:bodyPr lIns="118872" tIns="91440" rIns="118872" bIns="64008" anchor="t">
            <a:normAutofit/>
          </a:bodyPr>
          <a:lstStyle/>
          <a:p>
            <a:pPr>
              <a:spcAft>
                <a:spcPts val="220"/>
              </a:spcAft>
            </a:pPr>
            <a:r>
              <a:rPr lang="en-IN" sz="1400" b="1">
                <a:solidFill>
                  <a:srgbClr val="A100FF"/>
                </a:solidFill>
                <a:latin typeface="Arial"/>
                <a:cs typeface="Arial"/>
              </a:rPr>
              <a:t>OBSERVABILITY</a:t>
            </a:r>
          </a:p>
          <a:p>
            <a:pPr>
              <a:spcAft>
                <a:spcPts val="300"/>
              </a:spcAft>
            </a:pPr>
            <a:r>
              <a:rPr lang="en-IN" sz="1200" b="1" i="1" err="1">
                <a:solidFill>
                  <a:srgbClr val="2B2B2B"/>
                </a:solidFill>
                <a:latin typeface="Arial"/>
                <a:cs typeface="Arial"/>
              </a:rPr>
              <a:t>Langfuse</a:t>
            </a:r>
            <a:r>
              <a:rPr lang="en-IN" sz="1200" b="1" i="1">
                <a:solidFill>
                  <a:srgbClr val="2B2B2B"/>
                </a:solidFill>
                <a:latin typeface="Arial"/>
                <a:cs typeface="Arial"/>
              </a:rPr>
              <a:t>, </a:t>
            </a:r>
            <a:r>
              <a:rPr lang="en-IN" sz="1200" b="1" i="1" err="1">
                <a:solidFill>
                  <a:srgbClr val="2B2B2B"/>
                </a:solidFill>
                <a:latin typeface="Arial"/>
                <a:cs typeface="Arial"/>
              </a:rPr>
              <a:t>Arize</a:t>
            </a:r>
            <a:endParaRPr lang="en-IN" sz="1200" b="1" i="1">
              <a:solidFill>
                <a:srgbClr val="2B2B2B"/>
              </a:solidFill>
              <a:latin typeface="Arial"/>
              <a:cs typeface="Arial"/>
            </a:endParaRPr>
          </a:p>
          <a:p>
            <a:pPr>
              <a:lnSpc>
                <a:spcPct val="107000"/>
              </a:lnSpc>
              <a:spcAft>
                <a:spcPts val="0"/>
              </a:spcAft>
            </a:pPr>
            <a:r>
              <a:rPr lang="en-IN" sz="1200">
                <a:solidFill>
                  <a:srgbClr val="2B2B2B"/>
                </a:solidFill>
                <a:latin typeface="Arial"/>
                <a:cs typeface="Arial"/>
              </a:rPr>
              <a:t>See everything, after delivery. Excellent for diagnosis, and structurally unable to hold a response back before a customer acts on it.</a:t>
            </a:r>
          </a:p>
        </p:txBody>
      </p:sp>
      <p:sp>
        <p:nvSpPr>
          <p:cNvPr id="109" name="card"/>
          <p:cNvSpPr>
            <a:spLocks noGrp="1"/>
          </p:cNvSpPr>
          <p:nvPr/>
        </p:nvSpPr>
        <p:spPr>
          <a:xfrm>
            <a:off x="365760" y="4886274"/>
            <a:ext cx="11447272" cy="1038444"/>
          </a:xfrm>
          <a:prstGeom prst="roundRect">
            <a:avLst>
              <a:gd name="adj" fmla="val 9202"/>
            </a:avLst>
          </a:prstGeom>
          <a:solidFill>
            <a:srgbClr val="FFFFFF"/>
          </a:solidFill>
          <a:ln w="9525">
            <a:solidFill>
              <a:srgbClr val="A100FF"/>
            </a:solidFill>
          </a:ln>
        </p:spPr>
        <p:txBody>
          <a:bodyPr lIns="118872" tIns="91440" rIns="118872" bIns="73152" anchor="ctr">
            <a:noAutofit/>
          </a:bodyPr>
          <a:lstStyle/>
          <a:p>
            <a:pPr>
              <a:spcAft>
                <a:spcPts val="400"/>
              </a:spcAft>
            </a:pPr>
            <a:r>
              <a:rPr lang="en-IN" sz="1400" b="1">
                <a:solidFill>
                  <a:srgbClr val="A100FF"/>
                </a:solidFill>
                <a:latin typeface="Arial"/>
                <a:cs typeface="Arial"/>
              </a:rPr>
              <a:t>THE GAP NONE OF THEM FILLS</a:t>
            </a:r>
          </a:p>
          <a:p>
            <a:pPr>
              <a:lnSpc>
                <a:spcPct val="107000"/>
              </a:lnSpc>
              <a:spcAft>
                <a:spcPts val="0"/>
              </a:spcAft>
            </a:pPr>
            <a:r>
              <a:rPr lang="en-IN" sz="1200">
                <a:latin typeface="Arial"/>
                <a:cs typeface="Arial"/>
              </a:rPr>
              <a:t>Each category is competent at its own job, and a serious platform team will run more than one of them. None decides, per response and inside the request path, how much scrutiny that specific response deserves, which is the only place a latency budget and a risk appetite can actually be traded against one another. AEGIS is a gateway: not a test suite, and not a dashboard.</a:t>
            </a:r>
          </a:p>
        </p:txBody>
      </p:sp>
      <p:sp>
        <p:nvSpPr>
          <p:cNvPr id="903"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11</a:t>
            </a:fld>
            <a:endParaRPr lang="en-IN"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Phased roadmap: from a verified prototype to enterprise rollout</a:t>
            </a:r>
          </a:p>
        </p:txBody>
      </p:sp>
      <p:sp>
        <p:nvSpPr>
          <p:cNvPr id="102" name="lede"/>
          <p:cNvSpPr>
            <a:spLocks noGrp="1"/>
          </p:cNvSpPr>
          <p:nvPr/>
        </p:nvSpPr>
        <p:spPr>
          <a:xfrm>
            <a:off x="365760" y="951992"/>
            <a:ext cx="11355832" cy="618744"/>
          </a:xfrm>
          <a:prstGeom prst="rect">
            <a:avLst/>
          </a:prstGeom>
          <a:noFill/>
          <a:ln>
            <a:noFill/>
          </a:ln>
        </p:spPr>
        <p:txBody>
          <a:bodyPr lIns="0" tIns="0" rIns="0" bIns="0" anchor="t">
            <a:normAutofit/>
          </a:bodyPr>
          <a:lstStyle/>
          <a:p>
            <a:pPr>
              <a:lnSpc>
                <a:spcPct val="112000"/>
              </a:lnSpc>
              <a:spcAft>
                <a:spcPts val="0"/>
              </a:spcAft>
            </a:pPr>
            <a:r>
              <a:rPr lang="en-IN" sz="1400" b="1">
                <a:latin typeface="Arial"/>
                <a:cs typeface="Arial"/>
              </a:rPr>
              <a:t>Phase 1 is not a mock or a storyboard. </a:t>
            </a:r>
            <a:r>
              <a:rPr lang="en-IN" sz="1400">
                <a:latin typeface="Arial"/>
                <a:cs typeface="Arial"/>
              </a:rPr>
              <a:t>It runs offline from a clean clone in one command, with 96 tests, an </a:t>
            </a:r>
            <a:r>
              <a:rPr lang="en-IN" sz="1200">
                <a:latin typeface="Arial"/>
                <a:cs typeface="Arial"/>
              </a:rPr>
              <a:t>independently </a:t>
            </a:r>
            <a:r>
              <a:rPr lang="en-IN" sz="1400">
                <a:latin typeface="Arial"/>
                <a:cs typeface="Arial"/>
              </a:rPr>
              <a:t>verifiable audit trail, and metrics that reproduced exactly on second hardware.</a:t>
            </a:r>
          </a:p>
        </p:txBody>
      </p:sp>
      <p:sp>
        <p:nvSpPr>
          <p:cNvPr id="103" name="phase"/>
          <p:cNvSpPr>
            <a:spLocks noGrp="1"/>
          </p:cNvSpPr>
          <p:nvPr/>
        </p:nvSpPr>
        <p:spPr>
          <a:xfrm>
            <a:off x="365760" y="1572768"/>
            <a:ext cx="3674735" cy="3306297"/>
          </a:xfrm>
          <a:prstGeom prst="roundRect">
            <a:avLst>
              <a:gd name="adj" fmla="val 3209"/>
            </a:avLst>
          </a:prstGeom>
          <a:solidFill>
            <a:srgbClr val="F5EBFF"/>
          </a:solidFill>
          <a:ln>
            <a:noFill/>
          </a:ln>
        </p:spPr>
        <p:txBody>
          <a:bodyPr lIns="128016" tIns="100584" rIns="118872" bIns="73152" anchor="t">
            <a:normAutofit/>
          </a:bodyPr>
          <a:lstStyle/>
          <a:p>
            <a:pPr>
              <a:spcAft>
                <a:spcPts val="380"/>
              </a:spcAft>
            </a:pPr>
            <a:r>
              <a:rPr lang="en-IN" sz="1400" b="1">
                <a:solidFill>
                  <a:srgbClr val="A100FF"/>
                </a:solidFill>
                <a:latin typeface="Arial"/>
                <a:cs typeface="Arial"/>
              </a:rPr>
              <a:t>PHASE 1 · POC : SHIPPED AND VERIFIED</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Working gateway; 4 use-case policies plus an EU/GDPR overlay</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3 lanes with calibrated models; adaptive gate holding 32% invocation</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Hash-chained ledger, standalone verifier, tamper proof for alteration and truncation</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96 tests; reproducible from a cold clone in a single command</a:t>
            </a:r>
          </a:p>
          <a:p>
            <a:pPr marL="132080" indent="-132080">
              <a:lnSpc>
                <a:spcPct val="106000"/>
              </a:lnSpc>
              <a:spcBef>
                <a:spcPts val="600"/>
              </a:spcBef>
              <a:spcAft>
                <a:spcPts val="0"/>
              </a:spcAft>
            </a:pPr>
            <a:r>
              <a:rPr lang="en-IN" sz="1200" b="1">
                <a:solidFill>
                  <a:srgbClr val="A100FF"/>
                </a:solidFill>
                <a:latin typeface="Arial"/>
                <a:cs typeface="Arial"/>
              </a:rPr>
              <a:t>—  </a:t>
            </a:r>
            <a:r>
              <a:rPr lang="en-IN" sz="1200">
                <a:solidFill>
                  <a:srgbClr val="2B2B2B"/>
                </a:solidFill>
                <a:latin typeface="Arial"/>
                <a:cs typeface="Arial"/>
              </a:rPr>
              <a:t>Deterministic metrics identical across two independent machines</a:t>
            </a:r>
          </a:p>
        </p:txBody>
      </p:sp>
      <p:sp>
        <p:nvSpPr>
          <p:cNvPr id="104" name="phase"/>
          <p:cNvSpPr>
            <a:spLocks noGrp="1"/>
          </p:cNvSpPr>
          <p:nvPr/>
        </p:nvSpPr>
        <p:spPr>
          <a:xfrm>
            <a:off x="4251960" y="1572768"/>
            <a:ext cx="3674735" cy="3306297"/>
          </a:xfrm>
          <a:prstGeom prst="roundRect">
            <a:avLst>
              <a:gd name="adj" fmla="val 3209"/>
            </a:avLst>
          </a:prstGeom>
          <a:solidFill>
            <a:srgbClr val="F5EBFF"/>
          </a:solidFill>
          <a:ln>
            <a:noFill/>
          </a:ln>
        </p:spPr>
        <p:txBody>
          <a:bodyPr lIns="128016" tIns="100584" rIns="118872" bIns="73152" anchor="t">
            <a:normAutofit/>
          </a:bodyPr>
          <a:lstStyle/>
          <a:p>
            <a:pPr>
              <a:spcAft>
                <a:spcPts val="380"/>
              </a:spcAft>
            </a:pPr>
            <a:r>
              <a:rPr lang="en-IN" sz="1400" b="1">
                <a:solidFill>
                  <a:srgbClr val="A100FF"/>
                </a:solidFill>
                <a:latin typeface="Arial"/>
                <a:cs typeface="Arial"/>
              </a:rPr>
              <a:t>PHASE 2 · PILOT : ONE TEAM, REAL TRAFFIC</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Point one production application at the gateway in shadow mode</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Embedding retrieval replacing lexical; a small NLI model behind the same interface</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Operator identity and API keys on the control endpoints</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Shared baseline store so cost baselines survive a restart</a:t>
            </a:r>
          </a:p>
          <a:p>
            <a:pPr marL="132080" indent="-132080">
              <a:lnSpc>
                <a:spcPct val="106000"/>
              </a:lnSpc>
              <a:spcBef>
                <a:spcPts val="600"/>
              </a:spcBef>
              <a:spcAft>
                <a:spcPts val="0"/>
              </a:spcAft>
            </a:pPr>
            <a:r>
              <a:rPr lang="en-IN" sz="1200" b="1">
                <a:solidFill>
                  <a:srgbClr val="A100FF"/>
                </a:solidFill>
                <a:latin typeface="Arial"/>
                <a:cs typeface="Arial"/>
              </a:rPr>
              <a:t>—  </a:t>
            </a:r>
            <a:r>
              <a:rPr lang="en-IN" sz="1200">
                <a:solidFill>
                  <a:srgbClr val="2B2B2B"/>
                </a:solidFill>
                <a:latin typeface="Arial"/>
                <a:cs typeface="Arial"/>
              </a:rPr>
              <a:t>Calibrate the cost-of-miss ratio against that team's real incident cost</a:t>
            </a:r>
          </a:p>
        </p:txBody>
      </p:sp>
      <p:sp>
        <p:nvSpPr>
          <p:cNvPr id="105" name="phase"/>
          <p:cNvSpPr>
            <a:spLocks noGrp="1"/>
          </p:cNvSpPr>
          <p:nvPr/>
        </p:nvSpPr>
        <p:spPr>
          <a:xfrm>
            <a:off x="8138160" y="1572768"/>
            <a:ext cx="3674735" cy="3306297"/>
          </a:xfrm>
          <a:prstGeom prst="roundRect">
            <a:avLst>
              <a:gd name="adj" fmla="val 3209"/>
            </a:avLst>
          </a:prstGeom>
          <a:solidFill>
            <a:srgbClr val="F5EBFF"/>
          </a:solidFill>
          <a:ln>
            <a:noFill/>
          </a:ln>
        </p:spPr>
        <p:txBody>
          <a:bodyPr lIns="128016" tIns="100584" rIns="118872" bIns="73152" anchor="t">
            <a:normAutofit/>
          </a:bodyPr>
          <a:lstStyle/>
          <a:p>
            <a:pPr>
              <a:spcAft>
                <a:spcPts val="380"/>
              </a:spcAft>
            </a:pPr>
            <a:r>
              <a:rPr lang="en-IN" sz="1400" b="1">
                <a:solidFill>
                  <a:srgbClr val="A100FF"/>
                </a:solidFill>
                <a:latin typeface="Arial"/>
                <a:cs typeface="Arial"/>
              </a:rPr>
              <a:t>PHASE 3 · ENTERPRISE : MANY TEAMS, ONE CONTROL PLANE</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Per-tenant policy binding, quotas and segmented baselines</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WORM or externally anchored ledger (head hash published outside operator control)</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Batched review with an approval quorum and per-operator trust weighting</a:t>
            </a:r>
          </a:p>
          <a:p>
            <a:pPr marL="132080" indent="-132080">
              <a:lnSpc>
                <a:spcPct val="106000"/>
              </a:lnSpc>
              <a:spcBef>
                <a:spcPts val="600"/>
              </a:spcBef>
              <a:spcAft>
                <a:spcPts val="260"/>
              </a:spcAft>
            </a:pPr>
            <a:r>
              <a:rPr lang="en-IN" sz="1200" b="1">
                <a:solidFill>
                  <a:srgbClr val="A100FF"/>
                </a:solidFill>
                <a:latin typeface="Arial"/>
                <a:cs typeface="Arial"/>
              </a:rPr>
              <a:t>—  </a:t>
            </a:r>
            <a:r>
              <a:rPr lang="en-IN" sz="1200">
                <a:solidFill>
                  <a:srgbClr val="2B2B2B"/>
                </a:solidFill>
                <a:latin typeface="Arial"/>
                <a:cs typeface="Arial"/>
              </a:rPr>
              <a:t>Sampled deep pass for high-volume tiers; the policy field already exists</a:t>
            </a:r>
          </a:p>
          <a:p>
            <a:pPr marL="132080" indent="-132080">
              <a:lnSpc>
                <a:spcPct val="106000"/>
              </a:lnSpc>
              <a:spcBef>
                <a:spcPts val="600"/>
              </a:spcBef>
              <a:spcAft>
                <a:spcPts val="0"/>
              </a:spcAft>
            </a:pPr>
            <a:r>
              <a:rPr lang="en-IN" sz="1200" b="1">
                <a:solidFill>
                  <a:srgbClr val="A100FF"/>
                </a:solidFill>
                <a:latin typeface="Arial"/>
                <a:cs typeface="Arial"/>
              </a:rPr>
              <a:t>—  </a:t>
            </a:r>
            <a:r>
              <a:rPr lang="en-IN" sz="1200">
                <a:solidFill>
                  <a:srgbClr val="2B2B2B"/>
                </a:solidFill>
                <a:latin typeface="Arial"/>
                <a:cs typeface="Arial"/>
              </a:rPr>
              <a:t>Fairness monitoring across cohorts rather than per individual response</a:t>
            </a:r>
          </a:p>
        </p:txBody>
      </p:sp>
      <p:sp>
        <p:nvSpPr>
          <p:cNvPr id="110" name="card"/>
          <p:cNvSpPr>
            <a:spLocks noGrp="1"/>
          </p:cNvSpPr>
          <p:nvPr/>
        </p:nvSpPr>
        <p:spPr>
          <a:xfrm>
            <a:off x="365760" y="5063346"/>
            <a:ext cx="11519215" cy="1038445"/>
          </a:xfrm>
          <a:prstGeom prst="roundRect">
            <a:avLst>
              <a:gd name="adj" fmla="val 9202"/>
            </a:avLst>
          </a:prstGeom>
          <a:solidFill>
            <a:srgbClr val="FFFFFF"/>
          </a:solidFill>
          <a:ln w="9525">
            <a:solidFill>
              <a:srgbClr val="A100FF"/>
            </a:solidFill>
          </a:ln>
        </p:spPr>
        <p:txBody>
          <a:bodyPr lIns="118872" tIns="91440" rIns="118872" bIns="73152" anchor="ctr">
            <a:normAutofit lnSpcReduction="10000"/>
          </a:bodyPr>
          <a:lstStyle/>
          <a:p>
            <a:pPr>
              <a:spcAft>
                <a:spcPts val="400"/>
              </a:spcAft>
            </a:pPr>
            <a:r>
              <a:rPr lang="en-IN" sz="1400" b="1">
                <a:solidFill>
                  <a:srgbClr val="A100FF"/>
                </a:solidFill>
                <a:latin typeface="Arial"/>
                <a:cs typeface="Arial"/>
              </a:rPr>
              <a:t>WHAT GATES EACH TRANSITION: NEITHER GATE IS A DATE</a:t>
            </a:r>
          </a:p>
          <a:p>
            <a:pPr>
              <a:lnSpc>
                <a:spcPct val="107000"/>
              </a:lnSpc>
              <a:spcAft>
                <a:spcPts val="0"/>
              </a:spcAft>
            </a:pPr>
            <a:r>
              <a:rPr lang="en-IN" sz="1200">
                <a:latin typeface="Arial"/>
                <a:cs typeface="Arial"/>
              </a:rPr>
              <a:t>Phase 1 → 2 requires a team willing to run shadow mode and able to state a cost of miss for their use case; without that number the thresholds cannot be derived, only guessed. Phase 2 → 3 requires the pilot's measured false-negative rate (which the exploration sampler is what makes observable) to be acceptable at that team's declared risk appetite.</a:t>
            </a:r>
          </a:p>
        </p:txBody>
      </p:sp>
      <p:sp>
        <p:nvSpPr>
          <p:cNvPr id="904"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12</a:t>
            </a:fld>
            <a:endParaRPr lang="en-IN"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5760" y="384048"/>
            <a:ext cx="11457432" cy="475488"/>
          </a:xfrm>
          <a:prstGeom prst="rect">
            <a:avLst/>
          </a:prstGeom>
          <a:solidFill>
            <a:srgbClr val="A100FF"/>
          </a:solidFill>
        </p:spPr>
        <p:txBody>
          <a:bodyPr lIns="91440" tIns="45720" rIns="91440" bIns="45720" anchor="ctr">
            <a:normAutofit/>
          </a:bodyPr>
          <a:lstStyle/>
          <a:p>
            <a:r>
              <a:rPr lang="en-IN" sz="2000" b="1">
                <a:solidFill>
                  <a:schemeClr val="bg1"/>
                </a:solidFill>
                <a:latin typeface="Graphik"/>
                <a:cs typeface="Arial"/>
              </a:rPr>
              <a:t>Key risks and mitigations, taken from the prototype's measured limits</a:t>
            </a:r>
          </a:p>
        </p:txBody>
      </p:sp>
      <p:sp>
        <p:nvSpPr>
          <p:cNvPr id="102" name="lede"/>
          <p:cNvSpPr>
            <a:spLocks noGrp="1"/>
          </p:cNvSpPr>
          <p:nvPr/>
        </p:nvSpPr>
        <p:spPr>
          <a:xfrm>
            <a:off x="365760" y="941832"/>
            <a:ext cx="11457432" cy="557784"/>
          </a:xfrm>
          <a:prstGeom prst="rect">
            <a:avLst/>
          </a:prstGeom>
          <a:noFill/>
          <a:ln>
            <a:noFill/>
          </a:ln>
        </p:spPr>
        <p:txBody>
          <a:bodyPr lIns="0" tIns="0" rIns="0" bIns="0" anchor="t">
            <a:normAutofit/>
          </a:bodyPr>
          <a:lstStyle/>
          <a:p>
            <a:pPr>
              <a:lnSpc>
                <a:spcPct val="112000"/>
              </a:lnSpc>
              <a:spcAft>
                <a:spcPts val="0"/>
              </a:spcAft>
            </a:pPr>
            <a:r>
              <a:rPr lang="en-IN" sz="1200" b="1">
                <a:latin typeface="Arial"/>
                <a:cs typeface="Arial"/>
              </a:rPr>
              <a:t>These are the repository's own documented limitations, not a generic risk list. </a:t>
            </a:r>
            <a:r>
              <a:rPr lang="en-IN" sz="1200">
                <a:latin typeface="Arial"/>
                <a:cs typeface="Arial"/>
              </a:rPr>
              <a:t>A judge who reads the code will find every one of them written down there, with the measurement that established it, including one that only became true today.</a:t>
            </a:r>
          </a:p>
        </p:txBody>
      </p:sp>
      <p:sp>
        <p:nvSpPr>
          <p:cNvPr id="905" name="riskrow"/>
          <p:cNvSpPr/>
          <p:nvPr/>
        </p:nvSpPr>
        <p:spPr>
          <a:xfrm>
            <a:off x="365760" y="1572768"/>
            <a:ext cx="11457432" cy="667512"/>
          </a:xfrm>
          <a:prstGeom prst="roundRect">
            <a:avLst>
              <a:gd name="adj" fmla="val 12329"/>
            </a:avLst>
          </a:prstGeom>
          <a:solidFill>
            <a:srgbClr val="F5EBFF"/>
          </a:solidFill>
          <a:ln w="9525">
            <a:solidFill>
              <a:srgbClr val="E6DCFF"/>
            </a:solidFill>
          </a:ln>
        </p:spPr>
        <p:txBody>
          <a:bodyPr lIns="0" tIns="0" rIns="0" bIns="0"/>
          <a:lstStyle/>
          <a:p>
            <a:endParaRPr lang="en-IN"/>
          </a:p>
        </p:txBody>
      </p:sp>
      <p:sp>
        <p:nvSpPr>
          <p:cNvPr id="103" name="riskcol"/>
          <p:cNvSpPr>
            <a:spLocks noGrp="1"/>
          </p:cNvSpPr>
          <p:nvPr/>
        </p:nvSpPr>
        <p:spPr>
          <a:xfrm>
            <a:off x="530352" y="1572768"/>
            <a:ext cx="3675888" cy="667512"/>
          </a:xfrm>
          <a:prstGeom prst="rect">
            <a:avLst/>
          </a:prstGeom>
          <a:noFill/>
          <a:ln>
            <a:noFill/>
          </a:ln>
        </p:spPr>
        <p:txBody>
          <a:bodyPr lIns="0" tIns="0" rIns="0" bIns="0" anchor="ctr">
            <a:normAutofit/>
          </a:bodyPr>
          <a:lstStyle/>
          <a:p>
            <a:pPr>
              <a:spcAft>
                <a:spcPts val="250"/>
              </a:spcAft>
            </a:pPr>
            <a:r>
              <a:rPr lang="en-IN" sz="1200" b="1">
                <a:solidFill>
                  <a:srgbClr val="D69500"/>
                </a:solidFill>
                <a:latin typeface="Arial"/>
                <a:cs typeface="Arial"/>
              </a:rPr>
              <a:t>RISK  </a:t>
            </a:r>
            <a:r>
              <a:rPr lang="en-IN" sz="1200" b="1">
                <a:solidFill>
                  <a:srgbClr val="2B2B2B"/>
                </a:solidFill>
                <a:latin typeface="Arial"/>
                <a:cs typeface="Arial"/>
              </a:rPr>
              <a:t>Retrieval is lexical (IDF cosine), so a correct answer that shares no vocabulary with its source under-scores</a:t>
            </a:r>
          </a:p>
        </p:txBody>
      </p:sp>
      <p:sp>
        <p:nvSpPr>
          <p:cNvPr id="940" name="mitigation"/>
          <p:cNvSpPr>
            <a:spLocks noGrp="1"/>
          </p:cNvSpPr>
          <p:nvPr/>
        </p:nvSpPr>
        <p:spPr>
          <a:xfrm>
            <a:off x="4425696" y="1572768"/>
            <a:ext cx="7232904" cy="667512"/>
          </a:xfrm>
          <a:prstGeom prst="rect">
            <a:avLst/>
          </a:prstGeom>
          <a:noFill/>
          <a:ln>
            <a:noFill/>
          </a:ln>
        </p:spPr>
        <p:txBody>
          <a:bodyPr lIns="0" tIns="0" rIns="0" bIns="0" anchor="ctr">
            <a:normAutofit/>
          </a:bodyPr>
          <a:lstStyle/>
          <a:p>
            <a:pPr>
              <a:lnSpc>
                <a:spcPct val="105000"/>
              </a:lnSpc>
              <a:spcAft>
                <a:spcPts val="0"/>
              </a:spcAft>
            </a:pPr>
            <a:r>
              <a:rPr lang="en-IN" sz="1200" b="1">
                <a:solidFill>
                  <a:srgbClr val="1E9E4A"/>
                </a:solidFill>
                <a:latin typeface="Arial"/>
                <a:cs typeface="Arial"/>
              </a:rPr>
              <a:t>MITIGATION </a:t>
            </a:r>
            <a:r>
              <a:rPr lang="en-IN" sz="1200" b="1">
                <a:solidFill>
                  <a:srgbClr val="1E9E4A"/>
                </a:solidFill>
                <a:latin typeface="Graphik-Semibold"/>
                <a:cs typeface="Arial"/>
              </a:rPr>
              <a:t> </a:t>
            </a:r>
            <a:r>
              <a:rPr lang="en-IN" sz="1200">
                <a:solidFill>
                  <a:srgbClr val="2B2B2B"/>
                </a:solidFill>
                <a:latin typeface="Arial"/>
                <a:ea typeface="Calibri"/>
                <a:cs typeface="Arial"/>
              </a:rPr>
              <a:t>This is exactly what fin_overflag_01 demonstrates: the deliberate false positive on the results slide. Production adds embedding retrieval, keeping the lexical score as a cheap prefilter rather than replacing it.</a:t>
            </a:r>
          </a:p>
        </p:txBody>
      </p:sp>
      <p:sp>
        <p:nvSpPr>
          <p:cNvPr id="906" name="riskrow"/>
          <p:cNvSpPr/>
          <p:nvPr/>
        </p:nvSpPr>
        <p:spPr>
          <a:xfrm>
            <a:off x="365760" y="2359152"/>
            <a:ext cx="11457432" cy="667512"/>
          </a:xfrm>
          <a:prstGeom prst="roundRect">
            <a:avLst>
              <a:gd name="adj" fmla="val 12329"/>
            </a:avLst>
          </a:prstGeom>
          <a:solidFill>
            <a:srgbClr val="FFFFFF"/>
          </a:solidFill>
          <a:ln w="9525">
            <a:solidFill>
              <a:srgbClr val="E6DCFF"/>
            </a:solidFill>
          </a:ln>
        </p:spPr>
        <p:txBody>
          <a:bodyPr lIns="0" tIns="0" rIns="0" bIns="0"/>
          <a:lstStyle/>
          <a:p>
            <a:endParaRPr lang="en-IN"/>
          </a:p>
        </p:txBody>
      </p:sp>
      <p:sp>
        <p:nvSpPr>
          <p:cNvPr id="104" name="riskcol"/>
          <p:cNvSpPr>
            <a:spLocks noGrp="1"/>
          </p:cNvSpPr>
          <p:nvPr/>
        </p:nvSpPr>
        <p:spPr>
          <a:xfrm>
            <a:off x="530352" y="2359152"/>
            <a:ext cx="3675888" cy="667512"/>
          </a:xfrm>
          <a:prstGeom prst="rect">
            <a:avLst/>
          </a:prstGeom>
          <a:noFill/>
          <a:ln>
            <a:noFill/>
          </a:ln>
        </p:spPr>
        <p:txBody>
          <a:bodyPr lIns="0" tIns="0" rIns="0" bIns="0" anchor="ctr">
            <a:normAutofit/>
          </a:bodyPr>
          <a:lstStyle/>
          <a:p>
            <a:pPr>
              <a:spcAft>
                <a:spcPts val="250"/>
              </a:spcAft>
            </a:pPr>
            <a:r>
              <a:rPr lang="en-IN" sz="1200" b="1">
                <a:solidFill>
                  <a:srgbClr val="D69500"/>
                </a:solidFill>
                <a:latin typeface="Arial"/>
                <a:cs typeface="Arial"/>
              </a:rPr>
              <a:t>RISK  </a:t>
            </a:r>
            <a:r>
              <a:rPr lang="en-IN" sz="1200" b="1">
                <a:solidFill>
                  <a:srgbClr val="2B2B2B"/>
                </a:solidFill>
                <a:latin typeface="Arial"/>
                <a:cs typeface="Arial"/>
              </a:rPr>
              <a:t>Negation handling is a parity count over a cue set, not entailment</a:t>
            </a:r>
          </a:p>
        </p:txBody>
      </p:sp>
      <p:sp>
        <p:nvSpPr>
          <p:cNvPr id="941" name="mitigation"/>
          <p:cNvSpPr>
            <a:spLocks noGrp="1"/>
          </p:cNvSpPr>
          <p:nvPr/>
        </p:nvSpPr>
        <p:spPr>
          <a:xfrm>
            <a:off x="4425696" y="2359152"/>
            <a:ext cx="7232904" cy="667512"/>
          </a:xfrm>
          <a:prstGeom prst="rect">
            <a:avLst/>
          </a:prstGeom>
          <a:noFill/>
          <a:ln>
            <a:noFill/>
          </a:ln>
        </p:spPr>
        <p:txBody>
          <a:bodyPr lIns="0" tIns="0" rIns="0" bIns="0" anchor="ctr">
            <a:normAutofit/>
          </a:bodyPr>
          <a:lstStyle/>
          <a:p>
            <a:pPr>
              <a:lnSpc>
                <a:spcPct val="105000"/>
              </a:lnSpc>
            </a:pPr>
            <a:r>
              <a:rPr lang="en-IN" sz="1200" b="1">
                <a:solidFill>
                  <a:srgbClr val="1E9E4A"/>
                </a:solidFill>
                <a:latin typeface="Arial"/>
                <a:cs typeface="Arial"/>
              </a:rPr>
              <a:t>MITIGATION  </a:t>
            </a:r>
            <a:r>
              <a:rPr lang="en-IN" sz="1200">
                <a:solidFill>
                  <a:srgbClr val="2B2B2B"/>
                </a:solidFill>
                <a:latin typeface="Arial"/>
                <a:cs typeface="Arial"/>
              </a:rPr>
              <a:t>Measured, not assumed: it catches plain flips and double negatives, and misses litotes outside the cue set and qualifiers silently dropped from the context. Production puts a small NLI model behind the same Claim Trace interface the dashboard already renders.</a:t>
            </a:r>
          </a:p>
        </p:txBody>
      </p:sp>
      <p:sp>
        <p:nvSpPr>
          <p:cNvPr id="907" name="riskrow"/>
          <p:cNvSpPr/>
          <p:nvPr/>
        </p:nvSpPr>
        <p:spPr>
          <a:xfrm>
            <a:off x="365760" y="3145536"/>
            <a:ext cx="11457432" cy="667512"/>
          </a:xfrm>
          <a:prstGeom prst="roundRect">
            <a:avLst>
              <a:gd name="adj" fmla="val 12329"/>
            </a:avLst>
          </a:prstGeom>
          <a:solidFill>
            <a:srgbClr val="F5EBFF"/>
          </a:solidFill>
          <a:ln w="9525">
            <a:solidFill>
              <a:srgbClr val="E6DCFF"/>
            </a:solidFill>
          </a:ln>
        </p:spPr>
        <p:txBody>
          <a:bodyPr lIns="0" tIns="0" rIns="0" bIns="0"/>
          <a:lstStyle/>
          <a:p>
            <a:endParaRPr lang="en-IN"/>
          </a:p>
        </p:txBody>
      </p:sp>
      <p:sp>
        <p:nvSpPr>
          <p:cNvPr id="105" name="riskcol"/>
          <p:cNvSpPr>
            <a:spLocks noGrp="1"/>
          </p:cNvSpPr>
          <p:nvPr/>
        </p:nvSpPr>
        <p:spPr>
          <a:xfrm>
            <a:off x="530352" y="3145536"/>
            <a:ext cx="3675888" cy="667512"/>
          </a:xfrm>
          <a:prstGeom prst="rect">
            <a:avLst/>
          </a:prstGeom>
          <a:noFill/>
          <a:ln>
            <a:noFill/>
          </a:ln>
        </p:spPr>
        <p:txBody>
          <a:bodyPr lIns="0" tIns="0" rIns="0" bIns="0" anchor="ctr">
            <a:normAutofit/>
          </a:bodyPr>
          <a:lstStyle/>
          <a:p>
            <a:pPr>
              <a:spcAft>
                <a:spcPts val="250"/>
              </a:spcAft>
            </a:pPr>
            <a:r>
              <a:rPr lang="en-IN" sz="1200" b="1">
                <a:solidFill>
                  <a:srgbClr val="D69500"/>
                </a:solidFill>
                <a:latin typeface="Arial"/>
                <a:cs typeface="Arial"/>
              </a:rPr>
              <a:t>RISK  </a:t>
            </a:r>
            <a:r>
              <a:rPr lang="en-IN" sz="1200" b="1">
                <a:solidFill>
                  <a:srgbClr val="2B2B2B"/>
                </a:solidFill>
                <a:latin typeface="Arial"/>
                <a:cs typeface="Arial"/>
              </a:rPr>
              <a:t>PII detection is regex plus checksum, tuned for English and US formats</a:t>
            </a:r>
          </a:p>
        </p:txBody>
      </p:sp>
      <p:sp>
        <p:nvSpPr>
          <p:cNvPr id="942" name="mitigation"/>
          <p:cNvSpPr>
            <a:spLocks noGrp="1"/>
          </p:cNvSpPr>
          <p:nvPr/>
        </p:nvSpPr>
        <p:spPr>
          <a:xfrm>
            <a:off x="4425696" y="3145536"/>
            <a:ext cx="7232904" cy="667512"/>
          </a:xfrm>
          <a:prstGeom prst="rect">
            <a:avLst/>
          </a:prstGeom>
          <a:noFill/>
          <a:ln>
            <a:noFill/>
          </a:ln>
        </p:spPr>
        <p:txBody>
          <a:bodyPr lIns="0" tIns="0" rIns="0" bIns="0" anchor="ctr">
            <a:normAutofit/>
          </a:bodyPr>
          <a:lstStyle/>
          <a:p>
            <a:pPr>
              <a:lnSpc>
                <a:spcPct val="105000"/>
              </a:lnSpc>
              <a:spcAft>
                <a:spcPts val="0"/>
              </a:spcAft>
            </a:pPr>
            <a:r>
              <a:rPr lang="en-IN" sz="1200" b="1">
                <a:solidFill>
                  <a:srgbClr val="1E9E4A"/>
                </a:solidFill>
                <a:latin typeface="Arial"/>
                <a:cs typeface="Arial"/>
              </a:rPr>
              <a:t>MITIGATION  </a:t>
            </a:r>
            <a:r>
              <a:rPr lang="en-IN" sz="1200">
                <a:solidFill>
                  <a:srgbClr val="2B2B2B"/>
                </a:solidFill>
                <a:latin typeface="Arial"/>
                <a:cs typeface="Arial"/>
              </a:rPr>
              <a:t>The Luhn check generalises; the address pattern does not. Production adds an NER model and locale-specific detectors, and until then, the policy layer compensates by never streaming PHI tiers at all.</a:t>
            </a:r>
          </a:p>
        </p:txBody>
      </p:sp>
      <p:sp>
        <p:nvSpPr>
          <p:cNvPr id="908" name="riskrow"/>
          <p:cNvSpPr/>
          <p:nvPr/>
        </p:nvSpPr>
        <p:spPr>
          <a:xfrm>
            <a:off x="365760" y="3921760"/>
            <a:ext cx="11457432" cy="667512"/>
          </a:xfrm>
          <a:prstGeom prst="roundRect">
            <a:avLst>
              <a:gd name="adj" fmla="val 12329"/>
            </a:avLst>
          </a:prstGeom>
          <a:solidFill>
            <a:srgbClr val="FFFFFF"/>
          </a:solidFill>
          <a:ln w="9525">
            <a:solidFill>
              <a:srgbClr val="E6DCFF"/>
            </a:solidFill>
          </a:ln>
        </p:spPr>
        <p:txBody>
          <a:bodyPr lIns="0" tIns="0" rIns="0" bIns="0"/>
          <a:lstStyle/>
          <a:p>
            <a:endParaRPr lang="en-IN"/>
          </a:p>
        </p:txBody>
      </p:sp>
      <p:sp>
        <p:nvSpPr>
          <p:cNvPr id="106" name="riskcol"/>
          <p:cNvSpPr>
            <a:spLocks noGrp="1"/>
          </p:cNvSpPr>
          <p:nvPr/>
        </p:nvSpPr>
        <p:spPr>
          <a:xfrm>
            <a:off x="530352" y="3931920"/>
            <a:ext cx="3675888" cy="667512"/>
          </a:xfrm>
          <a:prstGeom prst="rect">
            <a:avLst/>
          </a:prstGeom>
          <a:noFill/>
          <a:ln>
            <a:noFill/>
          </a:ln>
        </p:spPr>
        <p:txBody>
          <a:bodyPr lIns="0" tIns="0" rIns="0" bIns="0" anchor="ctr">
            <a:normAutofit/>
          </a:bodyPr>
          <a:lstStyle/>
          <a:p>
            <a:pPr>
              <a:spcAft>
                <a:spcPts val="250"/>
              </a:spcAft>
            </a:pPr>
            <a:r>
              <a:rPr lang="en-IN" sz="1200" b="1">
                <a:solidFill>
                  <a:srgbClr val="D69500"/>
                </a:solidFill>
                <a:latin typeface="Arial"/>
                <a:cs typeface="Arial"/>
              </a:rPr>
              <a:t>RISK  </a:t>
            </a:r>
            <a:r>
              <a:rPr lang="en-IN" sz="1200" b="1">
                <a:solidFill>
                  <a:srgbClr val="2B2B2B"/>
                </a:solidFill>
                <a:latin typeface="Arial"/>
                <a:cs typeface="Arial"/>
              </a:rPr>
              <a:t>The control endpoints have no authentication</a:t>
            </a:r>
          </a:p>
        </p:txBody>
      </p:sp>
      <p:sp>
        <p:nvSpPr>
          <p:cNvPr id="943" name="mitigation"/>
          <p:cNvSpPr>
            <a:spLocks noGrp="1"/>
          </p:cNvSpPr>
          <p:nvPr/>
        </p:nvSpPr>
        <p:spPr>
          <a:xfrm>
            <a:off x="4425696" y="3931920"/>
            <a:ext cx="7232904" cy="667512"/>
          </a:xfrm>
          <a:prstGeom prst="rect">
            <a:avLst/>
          </a:prstGeom>
          <a:noFill/>
          <a:ln>
            <a:noFill/>
          </a:ln>
        </p:spPr>
        <p:txBody>
          <a:bodyPr lIns="0" tIns="0" rIns="0" bIns="0" anchor="ctr">
            <a:normAutofit/>
          </a:bodyPr>
          <a:lstStyle/>
          <a:p>
            <a:pPr>
              <a:lnSpc>
                <a:spcPct val="105000"/>
              </a:lnSpc>
              <a:spcAft>
                <a:spcPts val="0"/>
              </a:spcAft>
            </a:pPr>
            <a:r>
              <a:rPr lang="en-IN" sz="1200" b="1">
                <a:solidFill>
                  <a:srgbClr val="1E9E4A"/>
                </a:solidFill>
                <a:latin typeface="Arial"/>
                <a:cs typeface="Arial"/>
              </a:rPr>
              <a:t>MITIGATION  </a:t>
            </a:r>
            <a:r>
              <a:rPr lang="en-IN" sz="1200">
                <a:solidFill>
                  <a:srgbClr val="2B2B2B"/>
                </a:solidFill>
                <a:latin typeface="Arial"/>
                <a:cs typeface="Arial"/>
              </a:rPr>
              <a:t>Overrides are rate-limited and guarded against contradicting checksum-grade detections, but anyone who can reach the port can submit feedback under any operator name. Production adds operator identity, API keys and per-tenant policy binding.</a:t>
            </a:r>
          </a:p>
        </p:txBody>
      </p:sp>
      <p:sp>
        <p:nvSpPr>
          <p:cNvPr id="909" name="riskrow"/>
          <p:cNvSpPr/>
          <p:nvPr/>
        </p:nvSpPr>
        <p:spPr>
          <a:xfrm>
            <a:off x="365760" y="4703927"/>
            <a:ext cx="11457432" cy="667512"/>
          </a:xfrm>
          <a:prstGeom prst="roundRect">
            <a:avLst>
              <a:gd name="adj" fmla="val 12329"/>
            </a:avLst>
          </a:prstGeom>
          <a:solidFill>
            <a:srgbClr val="F5EBFF"/>
          </a:solidFill>
          <a:ln w="9525">
            <a:solidFill>
              <a:srgbClr val="E6DCFF"/>
            </a:solidFill>
          </a:ln>
        </p:spPr>
        <p:txBody>
          <a:bodyPr lIns="0" tIns="0" rIns="0" bIns="0"/>
          <a:lstStyle/>
          <a:p>
            <a:endParaRPr lang="en-IN"/>
          </a:p>
        </p:txBody>
      </p:sp>
      <p:sp>
        <p:nvSpPr>
          <p:cNvPr id="107" name="riskcol"/>
          <p:cNvSpPr>
            <a:spLocks noGrp="1"/>
          </p:cNvSpPr>
          <p:nvPr/>
        </p:nvSpPr>
        <p:spPr>
          <a:xfrm>
            <a:off x="530352" y="4699490"/>
            <a:ext cx="3798184" cy="667512"/>
          </a:xfrm>
          <a:prstGeom prst="rect">
            <a:avLst/>
          </a:prstGeom>
          <a:noFill/>
          <a:ln>
            <a:noFill/>
          </a:ln>
        </p:spPr>
        <p:txBody>
          <a:bodyPr lIns="0" tIns="0" rIns="0" bIns="0" anchor="ctr">
            <a:normAutofit/>
          </a:bodyPr>
          <a:lstStyle/>
          <a:p>
            <a:pPr>
              <a:spcAft>
                <a:spcPts val="250"/>
              </a:spcAft>
            </a:pPr>
            <a:r>
              <a:rPr lang="en-IN" sz="1200" b="1">
                <a:solidFill>
                  <a:srgbClr val="D69500"/>
                </a:solidFill>
                <a:latin typeface="Arial"/>
                <a:cs typeface="Arial"/>
              </a:rPr>
              <a:t>RISK  </a:t>
            </a:r>
            <a:r>
              <a:rPr lang="en-IN" sz="1200" b="1">
                <a:solidFill>
                  <a:srgbClr val="2B2B2B"/>
                </a:solidFill>
                <a:latin typeface="Arial"/>
                <a:cs typeface="Arial"/>
              </a:rPr>
              <a:t>Cost baselines are per-process and in memory, and a simultaneous burst partly masks itself</a:t>
            </a:r>
          </a:p>
        </p:txBody>
      </p:sp>
      <p:sp>
        <p:nvSpPr>
          <p:cNvPr id="944" name="mitigation"/>
          <p:cNvSpPr>
            <a:spLocks noGrp="1"/>
          </p:cNvSpPr>
          <p:nvPr/>
        </p:nvSpPr>
        <p:spPr>
          <a:xfrm>
            <a:off x="4425696" y="4718304"/>
            <a:ext cx="7232904" cy="667512"/>
          </a:xfrm>
          <a:prstGeom prst="rect">
            <a:avLst/>
          </a:prstGeom>
          <a:noFill/>
          <a:ln>
            <a:noFill/>
          </a:ln>
        </p:spPr>
        <p:txBody>
          <a:bodyPr lIns="0" tIns="0" rIns="0" bIns="0" anchor="ctr">
            <a:normAutofit/>
          </a:bodyPr>
          <a:lstStyle/>
          <a:p>
            <a:pPr>
              <a:lnSpc>
                <a:spcPct val="105000"/>
              </a:lnSpc>
              <a:spcAft>
                <a:spcPts val="0"/>
              </a:spcAft>
            </a:pPr>
            <a:r>
              <a:rPr lang="en-IN" sz="1200" b="1">
                <a:solidFill>
                  <a:srgbClr val="1E9E4A"/>
                </a:solidFill>
                <a:latin typeface="Arial"/>
                <a:cs typeface="Arial"/>
              </a:rPr>
              <a:t>MITIGATION  </a:t>
            </a:r>
            <a:r>
              <a:rPr lang="en-IN" sz="1200">
                <a:solidFill>
                  <a:srgbClr val="2B2B2B"/>
                </a:solidFill>
                <a:latin typeface="Arial"/>
                <a:cs typeface="Arial"/>
              </a:rPr>
              <a:t>Measured: five identical anomalies against a warm baseline score 1.0 then near zero; the first is caught and the rest are absorbed by the EWMA they are moving. Production scores against a window-open snapshot or a windowed quantile.</a:t>
            </a:r>
          </a:p>
        </p:txBody>
      </p:sp>
      <p:sp>
        <p:nvSpPr>
          <p:cNvPr id="910" name="riskrow"/>
          <p:cNvSpPr/>
          <p:nvPr/>
        </p:nvSpPr>
        <p:spPr>
          <a:xfrm>
            <a:off x="365760" y="5504688"/>
            <a:ext cx="11457432" cy="667512"/>
          </a:xfrm>
          <a:prstGeom prst="roundRect">
            <a:avLst>
              <a:gd name="adj" fmla="val 12329"/>
            </a:avLst>
          </a:prstGeom>
          <a:solidFill>
            <a:srgbClr val="FFFFFF"/>
          </a:solidFill>
          <a:ln w="9525">
            <a:solidFill>
              <a:srgbClr val="E6DCFF"/>
            </a:solidFill>
          </a:ln>
        </p:spPr>
        <p:txBody>
          <a:bodyPr lIns="0" tIns="0" rIns="0" bIns="0"/>
          <a:lstStyle/>
          <a:p>
            <a:endParaRPr lang="en-IN"/>
          </a:p>
        </p:txBody>
      </p:sp>
      <p:sp>
        <p:nvSpPr>
          <p:cNvPr id="108" name="riskcol"/>
          <p:cNvSpPr>
            <a:spLocks noGrp="1"/>
          </p:cNvSpPr>
          <p:nvPr/>
        </p:nvSpPr>
        <p:spPr>
          <a:xfrm>
            <a:off x="530352" y="5504688"/>
            <a:ext cx="3675888" cy="667512"/>
          </a:xfrm>
          <a:prstGeom prst="rect">
            <a:avLst/>
          </a:prstGeom>
          <a:noFill/>
          <a:ln>
            <a:noFill/>
          </a:ln>
        </p:spPr>
        <p:txBody>
          <a:bodyPr lIns="0" tIns="0" rIns="0" bIns="0" anchor="ctr">
            <a:normAutofit/>
          </a:bodyPr>
          <a:lstStyle/>
          <a:p>
            <a:pPr>
              <a:spcAft>
                <a:spcPts val="250"/>
              </a:spcAft>
            </a:pPr>
            <a:r>
              <a:rPr lang="en-IN" sz="1200" b="1">
                <a:solidFill>
                  <a:srgbClr val="D69500"/>
                </a:solidFill>
                <a:latin typeface="Arial"/>
                <a:cs typeface="Arial"/>
              </a:rPr>
              <a:t>RISK  </a:t>
            </a:r>
            <a:r>
              <a:rPr lang="en-IN" sz="1200" b="1">
                <a:solidFill>
                  <a:srgbClr val="2B2B2B"/>
                </a:solidFill>
                <a:latin typeface="Arial"/>
                <a:cs typeface="Arial"/>
              </a:rPr>
              <a:t>Inline metrics and wall-clock latency vary by hardware</a:t>
            </a:r>
          </a:p>
        </p:txBody>
      </p:sp>
      <p:sp>
        <p:nvSpPr>
          <p:cNvPr id="945" name="mitigation"/>
          <p:cNvSpPr>
            <a:spLocks noGrp="1"/>
          </p:cNvSpPr>
          <p:nvPr/>
        </p:nvSpPr>
        <p:spPr>
          <a:xfrm>
            <a:off x="4425696" y="5504688"/>
            <a:ext cx="7232904" cy="667512"/>
          </a:xfrm>
          <a:prstGeom prst="rect">
            <a:avLst/>
          </a:prstGeom>
          <a:noFill/>
          <a:ln>
            <a:noFill/>
          </a:ln>
        </p:spPr>
        <p:txBody>
          <a:bodyPr lIns="0" tIns="0" rIns="0" bIns="0" anchor="ctr">
            <a:noAutofit/>
          </a:bodyPr>
          <a:lstStyle/>
          <a:p>
            <a:pPr>
              <a:lnSpc>
                <a:spcPct val="105000"/>
              </a:lnSpc>
              <a:spcAft>
                <a:spcPts val="0"/>
              </a:spcAft>
            </a:pPr>
            <a:r>
              <a:rPr lang="en-IN" sz="1150" b="1">
                <a:solidFill>
                  <a:srgbClr val="1E9E4A"/>
                </a:solidFill>
                <a:latin typeface="Arial"/>
                <a:cs typeface="Arial"/>
              </a:rPr>
              <a:t>MITIGATION  </a:t>
            </a:r>
            <a:r>
              <a:rPr lang="en-IN" sz="1150">
                <a:solidFill>
                  <a:srgbClr val="2B2B2B"/>
                </a:solidFill>
                <a:latin typeface="Arial"/>
                <a:cs typeface="Arial"/>
              </a:rPr>
              <a:t>Established this session: an independent cold-clone run reproduced every deterministic figure exactly and differed on inline accuracy and latency. Now handled as two documented tiers (deterministic figures enforced by the build, machine-dependent ones labelled and reported) rather than presented as one.</a:t>
            </a:r>
          </a:p>
        </p:txBody>
      </p:sp>
      <p:sp>
        <p:nvSpPr>
          <p:cNvPr id="911" name="Slide Number Placeholder"/>
          <p:cNvSpPr>
            <a:spLocks noGrp="1"/>
          </p:cNvSpPr>
          <p:nvPr>
            <p:ph type="sldNum" sz="quarter" idx="4"/>
          </p:nvPr>
        </p:nvSpPr>
        <p:spPr>
          <a:xfrm>
            <a:off x="9079992" y="6355080"/>
            <a:ext cx="2743200" cy="365760"/>
          </a:xfrm>
          <a:prstGeom prst="rect">
            <a:avLst/>
          </a:prstGeom>
        </p:spPr>
        <p:txBody>
          <a:bodyPr vert="horz" lIns="91440" tIns="45720" rIns="91440" bIns="45720" rtlCol="0" anchor="ctr"/>
          <a:lstStyle>
            <a:lvl1pPr algn="r">
              <a:defRPr sz="1000"/>
            </a:lvl1pPr>
          </a:lstStyle>
          <a:p>
            <a:fld id="{EFDA3DAB-CBFF-463B-9AA2-9E36431F8A67}" type="slidenum">
              <a:rPr lang="en-IN" sz="1000" smtClean="0"/>
              <a:t>13</a:t>
            </a:fld>
            <a:endParaRPr lang="en-IN"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mj-lt"/>
              </a:rPr>
              <a:t>Thank you</a:t>
            </a:r>
          </a:p>
        </p:txBody>
      </p:sp>
    </p:spTree>
    <p:extLst>
      <p:ext uri="{BB962C8B-B14F-4D97-AF65-F5344CB8AC3E}">
        <p14:creationId xmlns:p14="http://schemas.microsoft.com/office/powerpoint/2010/main" val="1583931614"/>
      </p:ext>
    </p:extLst>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4.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Notes>
  <HiddenSlides>0</HiddenSlides>
  <ScaleCrop>false</ScaleCrop>
  <HeadingPairs>
    <vt:vector size="4" baseType="variant">
      <vt:variant>
        <vt:lpstr>Theme</vt:lpstr>
      </vt:variant>
      <vt:variant>
        <vt:i4>4</vt:i4>
      </vt:variant>
      <vt:variant>
        <vt:lpstr>Slide Titles</vt:lpstr>
      </vt:variant>
      <vt:variant>
        <vt:i4>14</vt:i4>
      </vt:variant>
    </vt:vector>
  </HeadingPairs>
  <TitlesOfParts>
    <vt:vector size="18" baseType="lpstr">
      <vt:lpstr>Accenture 2025</vt:lpstr>
      <vt:lpstr>Titles</vt:lpstr>
      <vt:lpstr>1_Office Theme</vt:lpstr>
      <vt:lpstr>1_Accenture 2025</vt:lpstr>
      <vt:lpstr>PowerPoint Presentation</vt:lpstr>
      <vt:lpstr>Team details</vt:lpstr>
      <vt:lpstr>Problem: AI failures are found out, not caught first</vt:lpstr>
      <vt:lpstr>Solution design: three stages, and why their order is the design</vt:lpstr>
      <vt:lpstr>Solution architecture: five stages, one decision per response</vt:lpstr>
      <vt:lpstr>Who runs it: the platform team owns the gateway, each use case owns its policy</vt:lpstr>
      <vt:lpstr>Prototype results: detection quality against a seeded, labelled scenario set</vt:lpstr>
      <vt:lpstr>Prototype results: what makes a 300 ms budget survivable at scale</vt:lpstr>
      <vt:lpstr>Evidence of rigor: a defect an adversarial review found, and how it was closed</vt:lpstr>
      <vt:lpstr>Business case: what per-response scrutiny costs, and what it is worth</vt:lpstr>
      <vt:lpstr>Differentiation: what is hard to replicate, argued against named alternatives</vt:lpstr>
      <vt:lpstr>Phased roadmap: from a verified prototype to enterprise rollout</vt:lpstr>
      <vt:lpstr>Key risks and mitigations, taken from the prototype's measured limits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revision>410</cp:revision>
  <dcterms:created xsi:type="dcterms:W3CDTF">2026-07-24T04:09:52Z</dcterms:created>
  <dcterms:modified xsi:type="dcterms:W3CDTF">2026-08-30T18:13:14Z</dcterms:modified>
</cp:coreProperties>
</file>